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7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82352A-AF1A-44E8-9E8A-BBF323E7C0F3}">
  <a:tblStyle styleId="{B882352A-AF1A-44E8-9E8A-BBF323E7C0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54" autoAdjust="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g5bRE3WF2PgkCm9LhKn2hdOmTxhk9aX_U06TMYcu0A/edit?usp=sharing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oogle.com/spreadsheets/d/1Ey_E4W1LsHYp2MPWMqv8Q8IFNDcoAth_hUQNx3j3uV8/edit?usp=sharing" TargetMode="External"/><Relationship Id="rId4" Type="http://schemas.openxmlformats.org/officeDocument/2006/relationships/hyperlink" Target="https://docs.google.com/spreadsheets/d/1tETwE0k0tERu1p1aOt8Rfitot1k3f77ywS8kicBPqdg/edit?usp=sharing" TargetMode="Externa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CmUv48DLvxd/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327/" TargetMode="External"/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26aa6700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26aa6700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56b02730f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56b02730f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3e0bd9f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3e0bd9f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favorites{0,1,2,3,4}.py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4ab6f896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94ab6f896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favorites{5,6,7,8}.py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3e0bd9f2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3e0bd9f2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56b02730f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56b02730f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56b02730f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56b02730f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56b02730f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56b02730f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b4e9944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b4e9944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56b02730f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56b02730f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b4e9944f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b4e9944f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b4e9944f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b4e9944f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3e0bd9f2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3e0bd9f2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82da9ab1cbbaab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82da9ab1cbbaab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750c39d97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750c39d97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4ab6f896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4ab6f896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3e0bd9f2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3e0bd9f2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7562e1027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7562e1027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language FROM favorites;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7562e1027_1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7562e1027_1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DISTINCT language FROM favorites;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/>
              <a:t>SELECT COUNT(DISTINCT language) FROM favorites;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7562e1027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7562e1027_1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= 'Hello, World';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(problem = 'Hello, World' OR problem = 'Hello, It''s Me');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LIKE 'Hello, %';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b4e9944f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b4e9944f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language, COUNT(*) FROM favorites GROUP BY language;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b4e9944f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b4e9944f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b4e9944f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b4e9944f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b4e9944f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b4e9944f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b4e9944f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b4e9944f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b4e9944f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b4e9944f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FROM favorites GROUP BY language ORDER BY COUNT(*) DESC;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 LIMIT 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3e0bd9f2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a3e0bd9f2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INSERT INTO favorites (language, problem) VALUES('SQL', 'Fiftyville');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94ab6f896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94ab6f8964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750c39d9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f750c39d97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DELETE FROM favorites WHERE Timestamp IS NULL;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f750c39d9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f750c39d9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 favorites SET language = 'SQL', problem = 'Fiftyville';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DELETE FROM favorites;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726aa6700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726aa6700f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https://docs.google.com/spreadsheets/d/15g5bRE3WF2PgkCm9LhKn2hdOmTxhk9aX_U06TMYcu0A/edit?usp=sharing</a:t>
            </a:r>
            <a:r>
              <a:rPr lang="en"/>
              <a:t>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https://docs.google.com/spreadsheets/d/1tETwE0k0tERu1p1aOt8Rfitot1k3f77ywS8kicBPqdg/edit?usp=sharing</a:t>
            </a:r>
            <a:r>
              <a:rPr lang="en"/>
              <a:t>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https://docs.google.com/spreadsheets/d/1Ey_E4W1LsHYp2MPWMqv8Q8IFNDcoAth_hUQNx3j3uV8/edit?usp=sharing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4ab6f8964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4ab6f8964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4ab6f8964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4ab6f8964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ratings LIMIT 10;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4ab6f8964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94ab6f8964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94ab6f8964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94ab6f8964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shows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ratings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4ab6f8964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4ab6f8964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94ab6f8964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94ab6f8964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4ab6f8964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94ab6f8964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ratings WHERE rating &gt;= 6.0 LIMIT 10;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show_id FROM ratings WHERE rating &gt;= 6.0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shows WHERE id IN (SELECT show_id FROM ratings WHERE rating &gt;= 6.0) LIMIT 10;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title FROM shows WHERE id IN (SELECT show_id FROM ratings WHERE rating &gt;= 6.0) LIMIT 10;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94ab6f8964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94ab6f8964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4ab6f8964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4ab6f8964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94ab6f8964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94ab6f8964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94ab6f8964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94ab6f8964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 FROM shows JOIN ratings ON shows.id = ratings.show_id WHERE rating &gt;= 6.0 LIMIT 10;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94ab6f8964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94ab6f8964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94ab6f8964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94ab6f8964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94ab6f8964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94ab6f8964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rating FROM shows JOIN ratings ON shows.id = ratings.show_id WHERE rating &gt;= 6.0 LIMIT 10;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4ab6f8964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94ab6f8964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94ab6f8964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94ab6f8964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genres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id = 63881;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94ab6f8964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94ab6f8964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genres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63881;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(SELECT id FROM shows WHERE title = 'Catweazle');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94ab6f8964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94ab6f8964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94ab6f8964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94ab6f8964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4ab6f8964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4ab6f8964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FROM shows JOIN genres ON shows.id = genres.show_id WHERE id = 63881;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4ab6f8964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94ab6f8964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94ab6f8964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94ab6f8964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4ab6f8964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4ab6f8964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94ab6f8964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94ab6f8964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94ab6f8964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94ab6f8964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94ab6f8964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94ab6f8964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94ab6f8964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94ab6f8964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94ab6f8964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94ab6f8964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 AND year = 2005;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name FROM people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person_id FROM stars WHERE show_id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shows WHERE title = 'The Office' AND year = 2005));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stars ON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people ON stars.person_id = people.id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name = 'Steve Carell';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94ab6f8964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94ab6f8964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.schema writers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56b02730f_1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56b02730f_1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.timer ON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a3e0bd9f2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a3e0bd9f2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 INDEX title_index ON shows (title);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656b02730f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656b02730f_1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656b02730f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656b02730f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name_index ON people (name);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person_index ON stars (person_id);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726aa6700f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726aa6700f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726aa6700f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726aa6700f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favorites8.py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6aa91968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6aa91968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MILK STORY (lock or note)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0b4e9944f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0b4e9944f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https://www.instagram.com/p/CmUv48DLvxd/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656b02730f_1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656b02730f_1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6aa91968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6aa91968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a3e0bd9f2b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a3e0bd9f2b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726aa6700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726aa6700f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726aa6700f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726aa6700f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726aa6700f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726aa6700f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726aa6700f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726aa6700f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26aa6700f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26aa6700f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726aa6700f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726aa6700f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726aa6700f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726aa6700f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0b4e9944f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0b4e9944f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4ab6f8964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4ab6f8964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726aa6700f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726aa6700f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726aa6700f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726aa6700f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726aa6700f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726aa6700f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726aa6700f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726aa6700f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https://xkcd.com/327/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726aa6700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726aa6700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cs50.readthedocs.io/libraries/cs50/python/#cs50.SQL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57470-869F-3131-BECA-F5A378ABE6C9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flat-file database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2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TABLE table (column type,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sqlite3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sqlite3 FILE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.schema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 columns FROM table;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DISTINCT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UPPER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9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0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C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1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42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rgbClr val="21212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43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COUNT(*)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INSERT INTO table (column, ...) VALUES(value,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 FROM table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 table SET column = value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1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1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51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51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one-to-one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3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53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53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53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BLOB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NUMERIC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NOT 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FOREIGN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5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9" name="Google Shape;289;p58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5" name="Google Shape;295;p59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60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1" name="Google Shape;301;p60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6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7" name="Google Shape;307;p61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" name="Google Shape;312;p6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3" name="Google Shape;313;p62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6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9" name="Google Shape;319;p63"/>
          <p:cNvGraphicFramePr/>
          <p:nvPr/>
        </p:nvGraphicFramePr>
        <p:xfrm>
          <a:off x="32618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5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65"/>
          <p:cNvSpPr/>
          <p:nvPr/>
        </p:nvSpPr>
        <p:spPr>
          <a:xfrm>
            <a:off x="6012346" y="157594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65"/>
          <p:cNvSpPr/>
          <p:nvPr/>
        </p:nvSpPr>
        <p:spPr>
          <a:xfrm>
            <a:off x="5940543" y="160289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65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one-to-many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67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4" name="Google Shape;344;p67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6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0" name="Google Shape;350;p68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6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6" name="Google Shape;356;p69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" name="Google Shape;361;p70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2" name="Google Shape;362;p70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7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8" name="Google Shape;368;p71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Google Shape;373;p7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4" name="Google Shape;374;p72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7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0" name="Google Shape;380;p73"/>
          <p:cNvGraphicFramePr/>
          <p:nvPr/>
        </p:nvGraphicFramePr>
        <p:xfrm>
          <a:off x="3243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74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6"/>
          <p:cNvSpPr/>
          <p:nvPr/>
        </p:nvSpPr>
        <p:spPr>
          <a:xfrm>
            <a:off x="5671034" y="0"/>
            <a:ext cx="34542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76"/>
          <p:cNvSpPr/>
          <p:nvPr/>
        </p:nvSpPr>
        <p:spPr>
          <a:xfrm>
            <a:off x="3179884" y="2884300"/>
            <a:ext cx="2975100" cy="20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76"/>
          <p:cNvSpPr/>
          <p:nvPr/>
        </p:nvSpPr>
        <p:spPr>
          <a:xfrm>
            <a:off x="2465619" y="1435234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76"/>
          <p:cNvSpPr/>
          <p:nvPr/>
        </p:nvSpPr>
        <p:spPr>
          <a:xfrm>
            <a:off x="2787585" y="1549953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many-to-many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INDEX name ON table (column,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SQL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cs50.readthedocs.io/libraries/cs50/python/#cs50.SQL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12" y="0"/>
            <a:ext cx="3621163" cy="51435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BEGIN TRANSACTION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ROLLBACK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db.execute("BEGIN TRANSACTION")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db.execute("COMMIT")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attacks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f"SELECT * FROM users WHERE username = '{username}' AND password = '{password}'")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'malan@harvard.edu'--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'{password}'")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'malan@harvard.edu''--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3538"/>
            <a:ext cx="9144000" cy="35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13" y="1277975"/>
            <a:ext cx="8406375" cy="2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02F78-2816-2D3E-4FAD-2336EF671F00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1625</Words>
  <Application>Microsoft Office PowerPoint</Application>
  <PresentationFormat>On-screen Show (16:9)</PresentationFormat>
  <Paragraphs>396</Paragraphs>
  <Slides>85</Slides>
  <Notes>85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Consolas</vt:lpstr>
      <vt:lpstr>Simple Dark</vt:lpstr>
      <vt:lpstr>PowerPoint Presentation</vt:lpstr>
      <vt:lpstr>flat-file database</vt:lpstr>
      <vt:lpstr>CSV</vt:lpstr>
      <vt:lpstr>PowerPoint Presentation</vt:lpstr>
      <vt:lpstr>relational database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sqlite3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IMDb</vt:lpstr>
      <vt:lpstr>PowerPoint Presentation</vt:lpstr>
      <vt:lpstr>PowerPoint Presentation</vt:lpstr>
      <vt:lpstr>one-to-one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one-to-many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many-to-many</vt:lpstr>
      <vt:lpstr>PowerPoint Presentation</vt:lpstr>
      <vt:lpstr>indexes</vt:lpstr>
      <vt:lpstr>PowerPoint Presentation</vt:lpstr>
      <vt:lpstr>B-trees</vt:lpstr>
      <vt:lpstr>PowerPoint Presentation</vt:lpstr>
      <vt:lpstr>PowerPoint Presentation</vt:lpstr>
      <vt:lpstr>cs50.readthedocs.io/libraries/cs50/python/#cs50.SQL </vt:lpstr>
      <vt:lpstr>race conditions</vt:lpstr>
      <vt:lpstr>PowerPoint Presentation</vt:lpstr>
      <vt:lpstr>PowerPoint Presentation</vt:lpstr>
      <vt:lpstr>PowerPoint Presentation</vt:lpstr>
      <vt:lpstr>PowerPoint Presentation</vt:lpstr>
      <vt:lpstr>SQL injection attacks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2025-11-09T12:02:12Z</dcterms:modified>
</cp:coreProperties>
</file>