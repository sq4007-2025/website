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17"/>
  </p:notesMasterIdLst>
  <p:sldIdLst>
    <p:sldId id="258" r:id="rId2"/>
    <p:sldId id="259" r:id="rId3"/>
    <p:sldId id="372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81" r:id="rId26"/>
    <p:sldId id="282" r:id="rId27"/>
    <p:sldId id="283" r:id="rId28"/>
    <p:sldId id="284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7" r:id="rId42"/>
    <p:sldId id="298" r:id="rId43"/>
    <p:sldId id="299" r:id="rId44"/>
    <p:sldId id="300" r:id="rId45"/>
    <p:sldId id="301" r:id="rId46"/>
    <p:sldId id="302" r:id="rId47"/>
    <p:sldId id="303" r:id="rId48"/>
    <p:sldId id="304" r:id="rId49"/>
    <p:sldId id="305" r:id="rId50"/>
    <p:sldId id="306" r:id="rId51"/>
    <p:sldId id="307" r:id="rId52"/>
    <p:sldId id="308" r:id="rId53"/>
    <p:sldId id="309" r:id="rId54"/>
    <p:sldId id="310" r:id="rId55"/>
    <p:sldId id="311" r:id="rId56"/>
    <p:sldId id="312" r:id="rId57"/>
    <p:sldId id="313" r:id="rId58"/>
    <p:sldId id="314" r:id="rId59"/>
    <p:sldId id="315" r:id="rId60"/>
    <p:sldId id="316" r:id="rId61"/>
    <p:sldId id="317" r:id="rId62"/>
    <p:sldId id="318" r:id="rId63"/>
    <p:sldId id="319" r:id="rId64"/>
    <p:sldId id="320" r:id="rId65"/>
    <p:sldId id="321" r:id="rId66"/>
    <p:sldId id="322" r:id="rId67"/>
    <p:sldId id="323" r:id="rId68"/>
    <p:sldId id="324" r:id="rId69"/>
    <p:sldId id="325" r:id="rId70"/>
    <p:sldId id="326" r:id="rId71"/>
    <p:sldId id="327" r:id="rId72"/>
    <p:sldId id="328" r:id="rId73"/>
    <p:sldId id="329" r:id="rId74"/>
    <p:sldId id="330" r:id="rId75"/>
    <p:sldId id="331" r:id="rId76"/>
    <p:sldId id="332" r:id="rId77"/>
    <p:sldId id="333" r:id="rId78"/>
    <p:sldId id="334" r:id="rId79"/>
    <p:sldId id="335" r:id="rId80"/>
    <p:sldId id="336" r:id="rId81"/>
    <p:sldId id="337" r:id="rId82"/>
    <p:sldId id="338" r:id="rId83"/>
    <p:sldId id="339" r:id="rId84"/>
    <p:sldId id="340" r:id="rId85"/>
    <p:sldId id="341" r:id="rId86"/>
    <p:sldId id="342" r:id="rId87"/>
    <p:sldId id="343" r:id="rId88"/>
    <p:sldId id="344" r:id="rId89"/>
    <p:sldId id="345" r:id="rId90"/>
    <p:sldId id="346" r:id="rId91"/>
    <p:sldId id="347" r:id="rId92"/>
    <p:sldId id="348" r:id="rId93"/>
    <p:sldId id="349" r:id="rId94"/>
    <p:sldId id="350" r:id="rId95"/>
    <p:sldId id="351" r:id="rId96"/>
    <p:sldId id="352" r:id="rId97"/>
    <p:sldId id="353" r:id="rId98"/>
    <p:sldId id="354" r:id="rId99"/>
    <p:sldId id="355" r:id="rId100"/>
    <p:sldId id="356" r:id="rId101"/>
    <p:sldId id="357" r:id="rId102"/>
    <p:sldId id="358" r:id="rId103"/>
    <p:sldId id="359" r:id="rId104"/>
    <p:sldId id="360" r:id="rId105"/>
    <p:sldId id="361" r:id="rId106"/>
    <p:sldId id="362" r:id="rId107"/>
    <p:sldId id="363" r:id="rId108"/>
    <p:sldId id="364" r:id="rId109"/>
    <p:sldId id="365" r:id="rId110"/>
    <p:sldId id="366" r:id="rId111"/>
    <p:sldId id="367" r:id="rId112"/>
    <p:sldId id="368" r:id="rId113"/>
    <p:sldId id="369" r:id="rId114"/>
    <p:sldId id="370" r:id="rId115"/>
    <p:sldId id="371" r:id="rId116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A4BCCF-0DE0-4FDB-AC61-5763732B5E8D}">
  <a:tblStyle styleId="{06A4BCCF-0DE0-4FDB-AC61-5763732B5E8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594" y="11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117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presProps" Target="presProps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viewProps" Target="viewProps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tableStyles" Target="tableStyles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3" Type="http://schemas.openxmlformats.org/officeDocument/2006/relationships/hyperlink" Target="http://mercury.lcs.mit.edu/~jnc/tech/arpageo.html" TargetMode="External"/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3" Type="http://schemas.openxmlformats.org/officeDocument/2006/relationships/hyperlink" Target="http://mercury.lcs.mit.edu/~jnc/tech/arpageo.html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cUJlRNRguAM" TargetMode="External"/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791" TargetMode="External"/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etf.org/rfc/rfc793.txt" TargetMode="External"/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oogle.com/search?q=cats" TargetMode="External"/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JavaScript/Guide/Regular_expressions" TargetMode="External"/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JavaScript/Guide/Regular_expressions" TargetMode="External"/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3" Type="http://schemas.openxmlformats.org/officeDocument/2006/relationships/hyperlink" Target="https://html.spec.whatwg.org/multipage/input.html#valid-e-mail-address" TargetMode="External"/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CSS/CSS_Selectors" TargetMode="External"/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" TargetMode="External"/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" TargetMode="External"/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%0Aelse" TargetMode="External"/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if%20%3C(x)%20%3C%20(y)%3E%20then%0A%0Aelse%0A%0Aif%20%3C(x)%20%3E%20(y)%3E%20then%0A%0Aelse" TargetMode="External"/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set%20%5Bcounter%20v%5D%20to%20%5B0%5D" TargetMode="External"/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change%20%5Bcounter%20v%5D%20by%20%5B1%5D" TargetMode="External"/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repeat%20%5B3%5D" TargetMode="External"/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3" Type="http://schemas.openxmlformats.org/officeDocument/2006/relationships/hyperlink" Target="https://scratchblocks.github.io/#?style=scratch3&amp;script=forever" TargetMode="External"/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17a119bb45c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17a119bb45c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9eb84db9b3_0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9eb84db9b3_0_2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9eb84db9b3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" name="Google Shape;72;g9eb84db9b3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http://mercury.lcs.mit.edu/~jnc/tech/arpageo.html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fca93dc87d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fca93dc87d_0_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http://mercury.lcs.mit.edu/~jnc/tech/arpageo.html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9eb84db9b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9eb84db9b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17a119bb45c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17a119bb45c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https://www.youtube.com/watch?v=cUJlRNRguAM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fca93dc87d_0_6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" name="Google Shape;92;gfca93dc87d_0_6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9eb84db9b3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9eb84db9b3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fca93dc87d_0_8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fca93dc87d_0_8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2978f55a5a1_0_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2978f55a5a1_0_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https://datatracker.ietf.org/doc/html/rfc791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9eb84db9b3_0_1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9eb84db9b3_0_1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2978f55a5a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2978f55a5a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9eb84db9b3_0_1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9eb84db9b3_0_1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2978f55a5a1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7" name="Google Shape;127;g2978f55a5a1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https://www.ietf.org/rfc/rfc793.txt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9eb84db9b3_0_2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9eb84db9b3_0_2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fca93dc87d_0_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fca93dc87d_0_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fca93dc87d_0_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fca93dc87d_0_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2978f55a5a1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2978f55a5a1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g9eb84db9b3_0_2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2" name="Google Shape;152;g9eb84db9b3_0_24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fca93dc87d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7" name="Google Shape;157;gfca93dc87d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44d1f6b8b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44d1f6b8b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fca93dc87d_0_1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fca93dc87d_0_1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fca93dc87d_0_1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fca93dc87d_0_1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gfca93dc87d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7" name="Google Shape;177;gfca93dc87d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fca93dc87d_0_1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2" name="Google Shape;182;gfca93dc87d_0_1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gfca93dc87d_0_1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gfca93dc87d_0_1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44d1f6b8b4_1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44d1f6b8b4_1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44d1f6b8b4_1_1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" name="Google Shape;197;g44d1f6b8b4_1_1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44d1f6b8b4_1_1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44d1f6b8b4_1_1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gfca93dc87d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7" name="Google Shape;207;gfca93dc87d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fca93dc87d_0_1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fca93dc87d_0_1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fca93dc87d_0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gfca93dc87d_0_1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g2978f55a5a1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2" name="Google Shape;222;g2978f55a5a1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curl -I https://www.harvard.edu/</a:t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44d1f6b8b4_1_1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7" name="Google Shape;227;g44d1f6b8b4_1_1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297b89a00ba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297b89a00ba_1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44d1f6b8b4_1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7" name="Google Shape;237;g44d1f6b8b4_1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44d1f6b8b4_1_1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2" name="Google Shape;242;g44d1f6b8b4_1_1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curl -I https://harvard.edu/</a:t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44d1f6b8b4_1_1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44d1f6b8b4_1_1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44d1f6b8b4_1_1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2" name="Google Shape;252;g44d1f6b8b4_1_1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44d1f6b8b4_1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44d1f6b8b4_1_2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curl -I http://safetyschool.org/</a:t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44d1f6b8b4_1_2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g44d1f6b8b4_1_2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a4efe25bcf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7" name="Google Shape;267;ga4efe25bcf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44d1f6b8b4_1_2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44d1f6b8b4_1_2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hello0.html</a:t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fca93dc87d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fca93dc87d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fca93dc87d_0_1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2" name="Google Shape;282;gfca93dc87d_0_1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a4586099a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a4586099a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2a4586099a4_0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2a4586099a4_0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2a4586099a4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2a4586099a4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2a4586099a4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2a4586099a4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2a4586099a4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2a4586099a4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2a4586099a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2a4586099a4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2a4586099a4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2a4586099a4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2a4586099a4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2a4586099a4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g2a4586099a4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7" name="Google Shape;327;g2a4586099a4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g2a4586099a4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2" name="Google Shape;332;g2a4586099a4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2a4586099a4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2a4586099a4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g2a4586099a4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2" name="Google Shape;342;g2a4586099a4_0_4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2a4586099a4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2a4586099a4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2a4586099a4_0_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2a4586099a4_0_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9eb84db9b3_0_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7" name="Google Shape;357;g9eb84db9b3_0_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hello0.html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paragraphs.html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headings.html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list{0,1}.html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table.html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image.html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video.html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link0.html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meta{0,1}.html</a:t>
            </a: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17ab48dd5cd_2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6" name="Google Shape;366;g17ab48dd5cd_2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17ab48dd5cd_2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17ab48dd5cd_2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17ab48dd5cd_22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6" name="Google Shape;376;g17ab48dd5cd_22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https://www.google.com/search?q=cats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search{0,1}.html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register0.html</a:t>
            </a:r>
            <a:endParaRPr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2978f55a5a1_0_9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2978f55a5a1_0_9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2978f55a5a1_0_10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6" name="Google Shape;386;g2978f55a5a1_0_10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2978f55a5a1_0_1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1" name="Google Shape;391;g2978f55a5a1_0_1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2978f55a5a1_0_1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6" name="Google Shape;396;g2978f55a5a1_0_1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https://developer.mozilla.org/en-US/docs/Web/JavaScript/Guide/Regular_expressions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g2978f55a5a1_0_1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1" name="Google Shape;401;g2978f55a5a1_0_1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https://developer.mozilla.org/en-US/docs/Web/JavaScript/Guide/Regular_expressions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register1.html</a:t>
            </a:r>
            <a:endParaRPr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2978f55a5a1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6" name="Google Shape;406;g2978f55a5a1_0_1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https://html.spec.whatwg.org/multipage/input.html#valid-e-mail-address</a:t>
            </a:r>
            <a:r>
              <a:rPr lang="en"/>
              <a:t>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register2.html</a:t>
            </a:r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fca93dc87d_0_1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1" name="Google Shape;411;gfca93dc87d_0_1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2978f55a5a1_0_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6" name="Google Shape;416;g2978f55a5a1_0_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44d1f6b8b4_1_2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44d1f6b8b4_1_2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a4efe25bcf_2_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6" name="Google Shape;426;ga4efe25bcf_2_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Google Shape;430;ga4a8fca661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1" name="Google Shape;431;ga4a8fca661_2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https://developer.mozilla.org/en-US/docs/Web/CSS/CSS_Selectors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44d1f6b8b4_1_28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44d1f6b8b4_1_28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Google Shape;440;g44d1f6b8b4_1_2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1" name="Google Shape;441;g44d1f6b8b4_1_2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g2a4586099a4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6" name="Google Shape;446;g2a4586099a4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2a4586099a4_0_7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1" name="Google Shape;451;g2a4586099a4_0_7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44d1f6b8b4_1_2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44d1f6b8b4_1_2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2a4586099a4_0_7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1" name="Google Shape;461;g2a4586099a4_0_7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home{0,1,2,3,4,5,6}.html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home7.{html,css}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link{2,3,4}.html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phonebook{0,1}.html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search2.html</a:t>
            </a:r>
            <a:endParaRPr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fca93dc87d_0_19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6" name="Google Shape;466;gfca93dc87d_0_19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https://getbootstrap.com/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g12b9aec6efa_0_1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1" name="Google Shape;471;g12b9aec6efa_0_1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12b9aec6efa_0_1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12b9aec6efa_0_1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g2978f55a5a1_0_9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1" name="Google Shape;481;g2978f55a5a1_0_9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44d1f6b8b4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6" name="Google Shape;486;g44d1f6b8b4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2a4586099a4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1" name="Google Shape;491;g2a4586099a4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g12b9aec6efa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0" name="Google Shape;500;g12b9aec6efa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12b9aec6efa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12b9aec6efa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Google Shape;512;g12b9aec6efa_0_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3" name="Google Shape;513;g12b9aec6efa_0_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Google Shape;520;g12b9aec6efa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1" name="Google Shape;521;g12b9aec6efa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https://scratchblocks.github.io/#?style=scratch3&amp;script=if%20%3C(x)%20%3C%20(y)%3E%20then%0A%0Aelse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12b9aec6efa_0_10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9" name="Google Shape;529;g12b9aec6efa_0_10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g12b9aec6efa_0_10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7" name="Google Shape;537;g12b9aec6efa_0_10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https://scratchblocks.github.io/#?style=scratch3&amp;script=if%20%3C(x)%20%3C%20(y)%3E%20then%0A%0Aelse%0A%0Aif%20%3C(x)%20%3E%20(y)%3E%20then%0A%0Aelse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g12b9aec6efa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5" name="Google Shape;545;g12b9aec6efa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2" name="Google Shape;552;g12b9aec6efa_0_7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3" name="Google Shape;553;g12b9aec6efa_0_7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g44d1f6b8b4_1_4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8" name="Google Shape;558;g44d1f6b8b4_1_4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https://scratchblocks.github.io/#?style=scratch3&amp;script=set%20%5Bcounter%20v%5D%20to%20%5B0%5D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Google Shape;565;g9eb84db9b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6" name="Google Shape;566;g9eb84db9b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Google Shape;573;g44d1f6b8b4_1_5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4" name="Google Shape;574;g44d1f6b8b4_1_5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https://scratchblocks.github.io/#?style=scratch3&amp;script=change%20%5Bcounter%20v%5D%20by%20%5B1%5D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Google Shape;581;g9eb84db9b3_0_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2" name="Google Shape;582;g9eb84db9b3_0_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g44d1f6b8b4_1_5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0" name="Google Shape;590;g44d1f6b8b4_1_5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44d1f6b8b4_1_5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8" name="Google Shape;598;g44d1f6b8b4_1_5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12b9aec6efa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12b9aec6efa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Google Shape;610;g12b9aec6efa_0_1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1" name="Google Shape;611;g12b9aec6efa_0_1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https://scratchblocks.github.io/#?style=scratch3&amp;script=repeat%20%5B3%5D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44d1f6b8b4_1_9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44d1f6b8b4_1_9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6" name="Google Shape;626;g44d1f6b8b4_1_7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7" name="Google Shape;627;g44d1f6b8b4_1_7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https://scratchblocks.github.io/#?style=scratch3&amp;script=forever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g9eb84db9b3_0_6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5" name="Google Shape;635;g9eb84db9b3_0_6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g9eb84db9b3_0_1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3" name="Google Shape;643;g9eb84db9b3_0_1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Google Shape;647;g44d1f6b8b4_1_33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8" name="Google Shape;648;g44d1f6b8b4_1_33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gfca93dc87d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3" name="Google Shape;653;gfca93dc87d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7" name="Google Shape;657;g44d1f6b8b4_1_33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8" name="Google Shape;658;g44d1f6b8b4_1_33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g44d1f6b8b4_1_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3" name="Google Shape;663;g44d1f6b8b4_1_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g44d1f6b8b4_1_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8" name="Google Shape;668;g44d1f6b8b4_1_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hello{1,2,3}.html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hello4.{html,js}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hello{5,6}.html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favorites{0,1,2}.html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background.html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blink.html</a:t>
            </a:r>
            <a:endParaRPr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autocomplete.html</a:t>
            </a:r>
            <a:endParaRPr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12b9aec6efa_0_19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3" name="Google Shape;673;g12b9aec6efa_0_19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12b9aec6efa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12b9aec6efa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g12b9aec6ef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3" name="Google Shape;683;g12b9aec6efa_0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dark-2">
    <p:bg>
      <p:bgPr>
        <a:solidFill>
          <a:srgbClr val="000000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bc.co.uk/programmes/m002m96c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://www.youtube.com/watch?v=cUJlRNRguAM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4.jp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3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3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3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3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3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3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3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3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mozilla.org/en-US/docs/Web/JavaScript/Guide/Regular_expressions" TargetMode="External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3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3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hyperlink" Target="https://validator.w3.org/" TargetMode="External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3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3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3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3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3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" TargetMode="External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3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1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1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1.xml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1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1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1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1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1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1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1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3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3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3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3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3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3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bootstrap-table.com/" TargetMode="External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internet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085BAE8-8578-CCFA-50B0-BA8C311F3C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481" y="299179"/>
            <a:ext cx="4101037" cy="332155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24BAEAD-9CDF-C3F5-13A4-E106556178B0}"/>
              </a:ext>
            </a:extLst>
          </p:cNvPr>
          <p:cNvSpPr txBox="1"/>
          <p:nvPr/>
        </p:nvSpPr>
        <p:spPr>
          <a:xfrm>
            <a:off x="1674046" y="3931921"/>
            <a:ext cx="660148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400" dirty="0">
                <a:solidFill>
                  <a:schemeClr val="tx1"/>
                </a:solidFill>
                <a:hlinkClick r:id="rId3"/>
              </a:rPr>
              <a:t>https://www.bbc.co.uk/programmes/m002m96c</a:t>
            </a:r>
            <a:endParaRPr lang="en-GB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14281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4" name="Google Shape;7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68275" y="0"/>
            <a:ext cx="7207460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84263" y="0"/>
            <a:ext cx="8175472" cy="5143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routers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9" name="Google Shape;89;p20" descr="Music by: http://www.orangefreesounds.com/la-traviata-opera/&#10;&#10;*** &#10; &#10;This is CS50, Harvard University's introduction to the intellectual enterprises of computer science and the art of programming. &#10; &#10;*** &#10; &#10;HOW TO SUBSCRIBE &#10; &#10;http://www.youtube.com/subscription_center?add_user=cs50tv &#10; &#10;HOW TO TAKE CS50 &#10; &#10;edX: https://cs50.edx.org/ &#10;Harvard Extension School: https://cs50.harvard.edu/extension &#10;Harvard Summer School: https://cs50.harvard.edu/summer &#10;OpenCourseWare: https://cs50.harvard.edu/x &#10; &#10;HOW TO JOIN CS50 COMMUNITIES &#10; &#10;Discord: https://discord.gg/T8QZqRx &#10;Ed: https://cs50.harvard.edu/x/ed &#10;Facebook Group: https://www.facebook.com/groups/cs50/ &#10;Faceboook Page: https://www.facebook.com/cs50/ &#10;GitHub: https://github.com/cs50 &#10;Gitter: https://gitter.im/cs50/x &#10;Instagram: https://instagram.com/cs50 &#10;LinkedIn Group: https://www.linkedin.com/groups/7437240/ &#10;LinkedIn Page: https://www.linkedin.com/school/cs50/ &#10;Quora: https://www.quora.com/topic/CS50 &#10;Slack: https://cs50.edx.org/slack &#10;Snapchat: https://www.snapchat.com/add/cs50 &#10;Twitter: https://twitter.com/cs50 &#10;YouTube: http://www.youtube.com/cs50 &#10; &#10;HOW TO FOLLOW DAVID J. MALAN &#10; &#10;Facebook: https://www.facebook.com/dmalan &#10;GitHub: https://github.com/dmalan &#10;Instagram: https://www.instagram.com/davidjmalan/ &#10;LinkedIn: https://www.linkedin.com/in/malan/ &#10;Quora: https://www.quora.com/profile/David-J-Malan &#10;Twitter: https://twitter.com/davidjmalan &#10; &#10;*** &#10; &#10;CS50 SHOP &#10; &#10;https://cs50.harvardshop.com/ &#10; &#10;*** &#10; &#10;LICENSE &#10; &#10;CC BY-NC-SA 4.0 &#10;Creative Commons Attribution-NonCommercial-ShareAlike 4.0 International Public License &#10;https://creativecommons.org/licenses/by-nc-sa/4.0/ &#10; &#10;David J. Malan &#10;https://cs.harvard.edu/malan &#10;malan@harvard.edu" title="Passing TCP/IP Packet 2 of 2 - CS50 2020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857250"/>
            <a:ext cx="914400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TCP/IP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IP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#.#.#.#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4"/>
          <p:cNvSpPr txBox="1"/>
          <p:nvPr/>
        </p:nvSpPr>
        <p:spPr>
          <a:xfrm>
            <a:off x="722850" y="478650"/>
            <a:ext cx="7698300" cy="3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0                   1                   2                   3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0 1 2 3 4 5 6 7 8 9 0 1 2 3 4 5 6 7 8 9 0 1 2 3 4 5 6 7 8 9 0 1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|Version|  IHL  |Type of Service|          Total Length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Identification        |Flags|      Fragment Offset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Time to Live |    Protocol   |         Header Checksum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   Source Address  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Destination Address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Options                    |    Padding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Example Internet Datagram Header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TCP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ports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80                 </a:t>
            </a:r>
            <a:r>
              <a:rPr lang="en">
                <a:solidFill>
                  <a:srgbClr val="666666"/>
                </a:solidFill>
              </a:rPr>
              <a:t>HTTP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443</a:t>
            </a:r>
            <a:r>
              <a:rPr lang="en" i="1">
                <a:solidFill>
                  <a:srgbClr val="FFFFFF"/>
                </a:solidFill>
              </a:rPr>
              <a:t>               </a:t>
            </a:r>
            <a:r>
              <a:rPr lang="en">
                <a:solidFill>
                  <a:srgbClr val="666666"/>
                </a:solidFill>
              </a:rPr>
              <a:t>HTTPS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</a:rPr>
              <a:t>...</a:t>
            </a:r>
            <a:endParaRPr>
              <a:solidFill>
                <a:srgbClr val="666666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>
              <a:solidFill>
                <a:srgbClr val="666666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28"/>
          <p:cNvSpPr txBox="1"/>
          <p:nvPr/>
        </p:nvSpPr>
        <p:spPr>
          <a:xfrm>
            <a:off x="722850" y="32211"/>
            <a:ext cx="7698300" cy="327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0                   1                   2                   3   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0 1 2 3 4 5 6 7 8 9 0 1 2 3 4 5 6 7 8 9 0 1 2 3 4 5 6 7 8 9 0 1 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Source Port          |       Destination Port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    Sequence Number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Acknowledgment Number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Data |           |U|A|P|R|S|F|       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Offset| Reserved  |R|C|S|S|Y|I|            Window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|           |G|K|H|T|N|N|       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Checksum            |         Urgent Pointer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Options                    |    Padding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|                             data                              |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+-+-+-+-+-+-+-+-+-+-+-+-+-+-+-+-+-+-+-+-+-+-+-+-+-+-+-+-+-+-+-+-+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                      TCP Header Format</a:t>
            </a:r>
            <a:endParaRPr sz="1500"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DNS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9" name="Google Shape;139;p30"/>
          <p:cNvGraphicFramePr/>
          <p:nvPr/>
        </p:nvGraphicFramePr>
        <p:xfrm>
          <a:off x="952500" y="788800"/>
          <a:ext cx="7239000" cy="3565890"/>
        </p:xfrm>
        <a:graphic>
          <a:graphicData uri="http://schemas.openxmlformats.org/drawingml/2006/table">
            <a:tbl>
              <a:tblPr>
                <a:noFill/>
                <a:tableStyleId>{06A4BCCF-0DE0-4FDB-AC61-5763732B5E8D}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/>
                        <a:t>Fully Qualified</a:t>
                      </a:r>
                      <a:r>
                        <a:rPr lang="en" b="1">
                          <a:solidFill>
                            <a:schemeClr val="dk1"/>
                          </a:solidFill>
                        </a:rPr>
                        <a:t> Domain Name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</a:rPr>
                        <a:t>IP Address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4" name="Google Shape;144;p31"/>
          <p:cNvGraphicFramePr/>
          <p:nvPr/>
        </p:nvGraphicFramePr>
        <p:xfrm>
          <a:off x="952500" y="788800"/>
          <a:ext cx="7239000" cy="3565890"/>
        </p:xfrm>
        <a:graphic>
          <a:graphicData uri="http://schemas.openxmlformats.org/drawingml/2006/table">
            <a:tbl>
              <a:tblPr>
                <a:noFill/>
                <a:tableStyleId>{06A4BCCF-0DE0-4FDB-AC61-5763732B5E8D}</a:tableStyleId>
              </a:tblPr>
              <a:tblGrid>
                <a:gridCol w="36195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</a:rPr>
                        <a:t>Fully Qualified Domain Name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b="1">
                          <a:solidFill>
                            <a:schemeClr val="dk1"/>
                          </a:solidFill>
                        </a:rPr>
                        <a:t>IP Address</a:t>
                      </a:r>
                      <a:endParaRPr b="1"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>
                        <a:solidFill>
                          <a:schemeClr val="dk1"/>
                        </a:solidFill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DHCP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HTTPS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3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https://www.example.com</a:t>
            </a:r>
            <a:endParaRPr sz="3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3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https://www.example.com</a:t>
            </a:r>
            <a:r>
              <a:rPr lang="en" sz="3500">
                <a:solidFill>
                  <a:srgbClr val="FFFF00"/>
                </a:solidFill>
              </a:rPr>
              <a:t>/</a:t>
            </a:r>
            <a:endParaRPr sz="35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/>
              <a:t>https://www.example.com</a:t>
            </a:r>
            <a:r>
              <a:rPr lang="en" sz="3500">
                <a:solidFill>
                  <a:srgbClr val="FFFF00"/>
                </a:solidFill>
              </a:rPr>
              <a:t>/path</a:t>
            </a:r>
            <a:endParaRPr sz="35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3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/>
              <a:t>https://www.example.com</a:t>
            </a:r>
            <a:r>
              <a:rPr lang="en" sz="3500">
                <a:solidFill>
                  <a:srgbClr val="FFFF00"/>
                </a:solidFill>
              </a:rPr>
              <a:t>/file.html</a:t>
            </a:r>
            <a:endParaRPr sz="35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/>
              <a:t>https://www.example.com</a:t>
            </a:r>
            <a:r>
              <a:rPr lang="en" sz="3500">
                <a:solidFill>
                  <a:srgbClr val="FFFF00"/>
                </a:solidFill>
              </a:rPr>
              <a:t>/folder/</a:t>
            </a:r>
            <a:endParaRPr sz="35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https://www.example.com</a:t>
            </a:r>
            <a:r>
              <a:rPr lang="en" sz="3500">
                <a:solidFill>
                  <a:srgbClr val="FFFF00"/>
                </a:solidFill>
              </a:rPr>
              <a:t>/folder/file.html</a:t>
            </a:r>
            <a:endParaRPr sz="35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4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</a:t>
            </a:r>
            <a:r>
              <a:rPr lang="en" sz="3500">
                <a:solidFill>
                  <a:srgbClr val="FFFF00"/>
                </a:solidFill>
              </a:rPr>
              <a:t>www.example.com</a:t>
            </a:r>
            <a:r>
              <a:rPr lang="en" sz="3500">
                <a:solidFill>
                  <a:srgbClr val="FFFFFF"/>
                </a:solidFill>
              </a:rPr>
              <a:t>/folder/file.html</a:t>
            </a:r>
            <a:endParaRPr sz="3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42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https://www.</a:t>
            </a:r>
            <a:r>
              <a:rPr lang="en" sz="3500">
                <a:solidFill>
                  <a:srgbClr val="FFFF00"/>
                </a:solidFill>
              </a:rPr>
              <a:t>example.com</a:t>
            </a:r>
            <a:r>
              <a:rPr lang="en" sz="3500">
                <a:solidFill>
                  <a:srgbClr val="FFFFFF"/>
                </a:solidFill>
              </a:rPr>
              <a:t>/folder/file.html</a:t>
            </a:r>
            <a:endParaRPr sz="3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https://www.example.</a:t>
            </a:r>
            <a:r>
              <a:rPr lang="en" sz="3500">
                <a:solidFill>
                  <a:srgbClr val="FFFF00"/>
                </a:solidFill>
              </a:rPr>
              <a:t>com</a:t>
            </a:r>
            <a:r>
              <a:rPr lang="en" sz="3500">
                <a:solidFill>
                  <a:srgbClr val="FFFFFF"/>
                </a:solidFill>
              </a:rPr>
              <a:t>/folder/file.html</a:t>
            </a:r>
            <a:endParaRPr sz="3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4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FF"/>
                </a:solidFill>
              </a:rPr>
              <a:t>https://</a:t>
            </a:r>
            <a:r>
              <a:rPr lang="en" sz="3500">
                <a:solidFill>
                  <a:srgbClr val="FFFF00"/>
                </a:solidFill>
              </a:rPr>
              <a:t>www</a:t>
            </a:r>
            <a:r>
              <a:rPr lang="en" sz="3500">
                <a:solidFill>
                  <a:srgbClr val="FFFFFF"/>
                </a:solidFill>
              </a:rPr>
              <a:t>.example.com/folder/file.html</a:t>
            </a:r>
            <a:endParaRPr sz="3500"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500">
                <a:solidFill>
                  <a:srgbClr val="FFFF00"/>
                </a:solidFill>
              </a:rPr>
              <a:t>https</a:t>
            </a:r>
            <a:r>
              <a:rPr lang="en" sz="3500">
                <a:solidFill>
                  <a:srgbClr val="FFFFFF"/>
                </a:solidFill>
              </a:rPr>
              <a:t>://www.example.com/folder/file.html</a:t>
            </a:r>
            <a:endParaRPr sz="3500"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POST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www.harvard.edu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HTTP/2 200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Content-Type: text/html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4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developer tools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50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HTTP/2 301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Location: https://www.harvard.edu/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…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5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 HTTP/2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harvard.edu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HTTP/2 404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Content-Type: text/html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53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200 OK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301 Moved Permanently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302 Found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304 Not Modified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307 Temporary Redirect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401 Unauthorized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403 Forbidden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404 Not Found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418 I'm a Teapot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500 Internal Server Error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503 Service Unavailable</a:t>
            </a:r>
            <a:b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5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GET / HTTP/1.1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Host: safetyschool.org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5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HTML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5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tags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attributes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57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5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http-server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59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60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61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62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html</a:t>
            </a: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63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lang</a:t>
            </a: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64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en</a:t>
            </a: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65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&lt;head&gt;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66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&lt;title&gt;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67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hello, title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68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&lt;/title&gt;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69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&lt;/head&gt;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70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chemeClr val="lt1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&lt;body&gt;</a:t>
            </a:r>
            <a:endParaRPr>
              <a:solidFill>
                <a:schemeClr val="lt1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Google Shape;344;p71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hello, body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72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&lt;/body&gt;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73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74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360" name="Google Shape;360;p74"/>
          <p:cNvGrpSpPr/>
          <p:nvPr/>
        </p:nvGrpSpPr>
        <p:grpSpPr>
          <a:xfrm>
            <a:off x="4621560" y="412800"/>
            <a:ext cx="3986160" cy="4317875"/>
            <a:chOff x="4621560" y="412800"/>
            <a:chExt cx="3986160" cy="4317875"/>
          </a:xfrm>
        </p:grpSpPr>
        <p:pic>
          <p:nvPicPr>
            <p:cNvPr id="361" name="Google Shape;361;p7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55325" y="412800"/>
              <a:ext cx="3723725" cy="43178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362" name="Google Shape;362;p74"/>
            <p:cNvSpPr txBox="1"/>
            <p:nvPr/>
          </p:nvSpPr>
          <p:spPr>
            <a:xfrm>
              <a:off x="4621560" y="4203995"/>
              <a:ext cx="17460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D9D9D9"/>
                  </a:solidFill>
                  <a:highlight>
                    <a:srgbClr val="000000"/>
                  </a:highlight>
                  <a:latin typeface="Consolas"/>
                  <a:ea typeface="Consolas"/>
                  <a:cs typeface="Consolas"/>
                  <a:sym typeface="Consolas"/>
                </a:rPr>
                <a:t>hello, title</a:t>
              </a:r>
              <a:endParaRPr sz="1100">
                <a:solidFill>
                  <a:srgbClr val="D9D9D9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363" name="Google Shape;363;p74"/>
            <p:cNvSpPr txBox="1"/>
            <p:nvPr/>
          </p:nvSpPr>
          <p:spPr>
            <a:xfrm>
              <a:off x="6861720" y="3350480"/>
              <a:ext cx="17460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D9D9D9"/>
                  </a:solidFill>
                  <a:highlight>
                    <a:srgbClr val="000000"/>
                  </a:highlight>
                  <a:latin typeface="Consolas"/>
                  <a:ea typeface="Consolas"/>
                  <a:cs typeface="Consolas"/>
                  <a:sym typeface="Consolas"/>
                </a:rPr>
                <a:t> hello, body </a:t>
              </a:r>
              <a:endParaRPr sz="1100">
                <a:solidFill>
                  <a:srgbClr val="D9D9D9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p7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7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/path?key=value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p7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https://www.example.com</a:t>
            </a:r>
            <a:r>
              <a:rPr lang="en" sz="2700">
                <a:solidFill>
                  <a:srgbClr val="FFFF00"/>
                </a:solidFill>
              </a:rPr>
              <a:t>/path?key=value&amp;key=value</a:t>
            </a:r>
            <a:endParaRPr sz="2700">
              <a:solidFill>
                <a:srgbClr val="FFFF00"/>
              </a:solidFill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7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 expressions</a:t>
            </a:r>
            <a:endParaRPr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7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regexes</a:t>
            </a:r>
            <a:endParaRPr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80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uFill>
                  <a:noFill/>
                </a:uFill>
                <a:hlinkClick r:id="rId3"/>
              </a:rPr>
              <a:t>developer.mozilla.org/en-US/docs/Web/JavaScript/Guide/Regular_expressions</a:t>
            </a:r>
            <a:r>
              <a:rPr lang="en" sz="1800"/>
              <a:t> </a:t>
            </a:r>
            <a:endParaRPr sz="180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8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        any single character (except line terminators)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*        zero or more times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+        one or more times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?        0 or 1 time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{n}      n occurrences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{n,m}    at least n occurrences, at most m occurrences 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82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[0123456789]    any one of the enclosed characters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[0-9]           any one of the range of characters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\d              any digit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\D              any character that is not a digit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 sz="16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…</a:t>
            </a:r>
            <a:endParaRPr sz="16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83"/>
          <p:cNvSpPr txBox="1">
            <a:spLocks noGrp="1"/>
          </p:cNvSpPr>
          <p:nvPr>
            <p:ph type="title"/>
          </p:nvPr>
        </p:nvSpPr>
        <p:spPr>
          <a:xfrm>
            <a:off x="0" y="2150850"/>
            <a:ext cx="91440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latin typeface="Consolas"/>
                <a:ea typeface="Consolas"/>
                <a:cs typeface="Consolas"/>
                <a:sym typeface="Consolas"/>
              </a:rPr>
              <a:t>^[a-zA-Z0-9.!#$%&amp;'*+\/=?^_`{|}~-]+@[a-zA-Z0-9](?:[a-zA-Z0-9-]{0,61}[a-zA-Z0-9])?(?:\.[a-zA-Z0-9](?:[a-zA-Z0-9-]{0,61}[a-zA-Z0-9])?)*$</a:t>
            </a:r>
            <a:endParaRPr sz="900"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8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developer tools</a:t>
            </a:r>
            <a:endParaRPr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8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validator.w3.org</a:t>
            </a:r>
            <a:endParaRPr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8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CSS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p87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properties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88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type selector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class selector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ID selector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attribute selector</a:t>
            </a:r>
            <a:endParaRPr>
              <a:solidFill>
                <a:srgbClr val="FFFFFF"/>
              </a:solidFill>
            </a:endParaRPr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>
                <a:solidFill>
                  <a:srgbClr val="FFFFFF"/>
                </a:solidFill>
              </a:rPr>
              <a:t>...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89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Google Shape;443;p90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8" name="Google Shape;448;p91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&lt;style&gt;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&lt;/style&gt;</a:t>
            </a:r>
            <a:endParaRPr>
              <a:solidFill>
                <a:schemeClr val="dk1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92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&lt;style&gt;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&lt;/style&gt;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93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p94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&lt;link href="styles.css" rel="stylesheet"&gt;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Google Shape;468;p9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frameworks</a:t>
            </a:r>
            <a:endParaRPr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p9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Bootstrap</a:t>
            </a:r>
            <a:endParaRPr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9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getbootstrap.com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3" name="Google Shape;483;p9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developer tools</a:t>
            </a:r>
            <a:endParaRPr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p99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</a:rPr>
              <a:t>JavaScript</a:t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100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grpSp>
        <p:nvGrpSpPr>
          <p:cNvPr id="494" name="Google Shape;494;p100"/>
          <p:cNvGrpSpPr/>
          <p:nvPr/>
        </p:nvGrpSpPr>
        <p:grpSpPr>
          <a:xfrm>
            <a:off x="4621560" y="412800"/>
            <a:ext cx="3986160" cy="4317875"/>
            <a:chOff x="4621560" y="412800"/>
            <a:chExt cx="3986160" cy="4317875"/>
          </a:xfrm>
        </p:grpSpPr>
        <p:pic>
          <p:nvPicPr>
            <p:cNvPr id="495" name="Google Shape;495;p10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55325" y="412800"/>
              <a:ext cx="3723725" cy="4317875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496" name="Google Shape;496;p100"/>
            <p:cNvSpPr txBox="1"/>
            <p:nvPr/>
          </p:nvSpPr>
          <p:spPr>
            <a:xfrm>
              <a:off x="4621560" y="4203995"/>
              <a:ext cx="17460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D9D9D9"/>
                  </a:solidFill>
                  <a:highlight>
                    <a:srgbClr val="000000"/>
                  </a:highlight>
                  <a:latin typeface="Consolas"/>
                  <a:ea typeface="Consolas"/>
                  <a:cs typeface="Consolas"/>
                  <a:sym typeface="Consolas"/>
                </a:rPr>
                <a:t>hello, title</a:t>
              </a:r>
              <a:endParaRPr sz="1100">
                <a:solidFill>
                  <a:srgbClr val="D9D9D9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  <p:sp>
          <p:nvSpPr>
            <p:cNvPr id="497" name="Google Shape;497;p100"/>
            <p:cNvSpPr txBox="1"/>
            <p:nvPr/>
          </p:nvSpPr>
          <p:spPr>
            <a:xfrm>
              <a:off x="6861720" y="3350480"/>
              <a:ext cx="1746000" cy="37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rgbClr val="D9D9D9"/>
                  </a:solidFill>
                  <a:highlight>
                    <a:srgbClr val="000000"/>
                  </a:highlight>
                  <a:latin typeface="Consolas"/>
                  <a:ea typeface="Consolas"/>
                  <a:cs typeface="Consolas"/>
                  <a:sym typeface="Consolas"/>
                </a:rPr>
                <a:t> hello, body </a:t>
              </a:r>
              <a:endParaRPr sz="1100">
                <a:solidFill>
                  <a:srgbClr val="D9D9D9"/>
                </a:solidFill>
                <a:highlight>
                  <a:srgbClr val="000000"/>
                </a:highlight>
                <a:latin typeface="Consolas"/>
                <a:ea typeface="Consolas"/>
                <a:cs typeface="Consolas"/>
                <a:sym typeface="Consolas"/>
              </a:endParaRPr>
            </a:p>
          </p:txBody>
        </p:sp>
      </p:grp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p101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conditionals</a:t>
            </a:r>
            <a:endParaRPr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Google Shape;507;p10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8" name="Google Shape;508;p10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9" name="Google Shape;509;p102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0" name="Google Shape;510;p10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125" y="1933432"/>
            <a:ext cx="2801350" cy="1276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5" name="Google Shape;515;p10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6" name="Google Shape;516;p10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7" name="Google Shape;517;p103"/>
          <p:cNvSpPr txBox="1"/>
          <p:nvPr/>
        </p:nvSpPr>
        <p:spPr>
          <a:xfrm>
            <a:off x="4477650" y="1692300"/>
            <a:ext cx="43767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18" name="Google Shape;518;p10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125" y="1933432"/>
            <a:ext cx="2801350" cy="12766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10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10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5" name="Google Shape;525;p104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26" name="Google Shape;526;p1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675" y="1639638"/>
            <a:ext cx="2806225" cy="18639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1" name="Google Shape;531;p105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2" name="Google Shape;532;p105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3" name="Google Shape;533;p105"/>
          <p:cNvSpPr txBox="1"/>
          <p:nvPr/>
        </p:nvSpPr>
        <p:spPr>
          <a:xfrm>
            <a:off x="3972750" y="1384950"/>
            <a:ext cx="4856100" cy="23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34" name="Google Shape;534;p10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5675" y="1639638"/>
            <a:ext cx="2806225" cy="186391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p10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0" name="Google Shape;540;p10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1" name="Google Shape;541;p106"/>
          <p:cNvSpPr txBox="1"/>
          <p:nvPr/>
        </p:nvSpPr>
        <p:spPr>
          <a:xfrm>
            <a:off x="4029600" y="918450"/>
            <a:ext cx="47424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42" name="Google Shape;542;p10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950" y="918600"/>
            <a:ext cx="2905704" cy="330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p10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10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9" name="Google Shape;549;p107"/>
          <p:cNvSpPr txBox="1"/>
          <p:nvPr/>
        </p:nvSpPr>
        <p:spPr>
          <a:xfrm>
            <a:off x="4029600" y="918450"/>
            <a:ext cx="4742400" cy="330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if (x &lt; y)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 if (x &gt; y)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else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b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50" name="Google Shape;550;p10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5950" y="918600"/>
            <a:ext cx="2905704" cy="3306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108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variables</a:t>
            </a:r>
            <a:endParaRPr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p10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10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109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let counter = 0;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63" name="Google Shape;563;p10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p110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110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110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let counter = 0;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71" name="Google Shape;571;p1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15125"/>
            <a:ext cx="2743200" cy="71323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111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111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8" name="Google Shape;578;p111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79" name="Google Shape;579;p1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4" name="Google Shape;584;p112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5" name="Google Shape;585;p112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6" name="Google Shape;586;p112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= counter + 1;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87" name="Google Shape;587;p1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p113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3" name="Google Shape;593;p113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4" name="Google Shape;594;p113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 += 1;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595" name="Google Shape;595;p1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7200" y="2247900"/>
            <a:ext cx="2743200" cy="64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p114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1" name="Google Shape;601;p114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2" name="Google Shape;602;p114"/>
          <p:cNvSpPr txBox="1"/>
          <p:nvPr/>
        </p:nvSpPr>
        <p:spPr>
          <a:xfrm>
            <a:off x="4747500" y="1959300"/>
            <a:ext cx="3306600" cy="122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counter++;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03" name="Google Shape;603;p1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4713" y="2172425"/>
            <a:ext cx="2968165" cy="7983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115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loops</a:t>
            </a:r>
            <a:endParaRPr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p116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4" name="Google Shape;614;p116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5" name="Google Shape;615;p116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for (let i = 0; i &lt; 3; i++)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16" name="Google Shape;616;p1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863" y="1806975"/>
            <a:ext cx="2207875" cy="152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17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2" name="Google Shape;622;p117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3" name="Google Shape;623;p117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for (let i = 0; i &lt; 3; i++)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24" name="Google Shape;624;p1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4863" y="1806975"/>
            <a:ext cx="2207875" cy="15295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p118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0" name="Google Shape;630;p118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1" name="Google Shape;631;p118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32" name="Google Shape;632;p1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100" y="1887900"/>
            <a:ext cx="2121400" cy="13674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FF00"/>
        </a:solidFill>
        <a:effectLst/>
      </p:bgPr>
    </p:bg>
    <p:spTree>
      <p:nvGrpSpPr>
        <p:cNvPr id="1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p119"/>
          <p:cNvSpPr/>
          <p:nvPr/>
        </p:nvSpPr>
        <p:spPr>
          <a:xfrm>
            <a:off x="3657600" y="-150"/>
            <a:ext cx="5486400" cy="5143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8" name="Google Shape;638;p119"/>
          <p:cNvSpPr/>
          <p:nvPr/>
        </p:nvSpPr>
        <p:spPr>
          <a:xfrm>
            <a:off x="0" y="-150"/>
            <a:ext cx="36576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9" name="Google Shape;639;p119"/>
          <p:cNvSpPr txBox="1"/>
          <p:nvPr/>
        </p:nvSpPr>
        <p:spPr>
          <a:xfrm>
            <a:off x="4477650" y="1692300"/>
            <a:ext cx="3846300" cy="175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while (true)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8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pic>
        <p:nvPicPr>
          <p:cNvPr id="640" name="Google Shape;640;p1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100" y="1887900"/>
            <a:ext cx="2121400" cy="136740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p120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p121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Google Shape;655;p122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&lt;script src="scripts.js"&gt;&lt;/script&gt;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Google Shape;660;p123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&lt;/script&gt;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124"/>
          <p:cNvSpPr txBox="1">
            <a:spLocks noGrp="1"/>
          </p:cNvSpPr>
          <p:nvPr>
            <p:ph type="body" idx="1"/>
          </p:nvPr>
        </p:nvSpPr>
        <p:spPr>
          <a:xfrm>
            <a:off x="311700" y="694800"/>
            <a:ext cx="8520600" cy="37539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&lt;!DOCTYPE 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&lt;html lang="en"&gt;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&lt;head&gt;</a:t>
            </a:r>
            <a:endParaRPr>
              <a:solidFill>
                <a:srgbClr val="FFFF00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    hello, title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&lt;/title&gt;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&lt;/head&gt;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    hello, body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dk1"/>
                </a:solidFill>
                <a:latin typeface="Consolas"/>
                <a:ea typeface="Consolas"/>
                <a:cs typeface="Consolas"/>
                <a:sym typeface="Consolas"/>
              </a:rPr>
              <a:t>      </a:t>
            </a:r>
            <a:r>
              <a:rPr lang="en">
                <a:solidFill>
                  <a:srgbClr val="FFFF00"/>
                </a:solidFill>
                <a:latin typeface="Consolas"/>
                <a:ea typeface="Consolas"/>
                <a:cs typeface="Consolas"/>
                <a:sym typeface="Consolas"/>
              </a:rPr>
              <a:t>  </a:t>
            </a:r>
            <a:r>
              <a:rPr lang="en">
                <a:solidFill>
                  <a:srgbClr val="000000"/>
                </a:solidFill>
                <a:highlight>
                  <a:schemeClr val="dk1"/>
                </a:highlight>
                <a:latin typeface="Consolas"/>
                <a:ea typeface="Consolas"/>
                <a:cs typeface="Consolas"/>
                <a:sym typeface="Consolas"/>
              </a:rPr>
              <a:t>&lt;script src="scripts.js"&gt;&lt;/script&gt;</a:t>
            </a:r>
            <a:endParaRPr>
              <a:solidFill>
                <a:srgbClr val="000000"/>
              </a:solidFill>
              <a:highlight>
                <a:schemeClr val="dk1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    &lt;/body&gt;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&lt;/html&gt;</a:t>
            </a: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Google Shape;670;p125"/>
          <p:cNvSpPr txBox="1">
            <a:spLocks noGrp="1"/>
          </p:cNvSpPr>
          <p:nvPr>
            <p:ph type="body" idx="1"/>
          </p:nvPr>
        </p:nvSpPr>
        <p:spPr>
          <a:xfrm>
            <a:off x="311700" y="310500"/>
            <a:ext cx="8520600" cy="452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blur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change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click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drag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focus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keyup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load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mousedown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mouseover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mouseup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submit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touchmove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unload</a:t>
            </a:r>
            <a:b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lang="en" sz="1700">
                <a:solidFill>
                  <a:srgbClr val="FFFFFF"/>
                </a:solidFill>
                <a:latin typeface="Consolas"/>
                <a:ea typeface="Consolas"/>
                <a:cs typeface="Consolas"/>
                <a:sym typeface="Consolas"/>
              </a:rPr>
              <a:t>...</a:t>
            </a:r>
            <a:endParaRPr sz="1700">
              <a:solidFill>
                <a:srgbClr val="FFFFFF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26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Bootstrap Table</a:t>
            </a:r>
            <a:endParaRPr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127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uFill>
                  <a:noFill/>
                </a:uFill>
                <a:hlinkClick r:id="rId3"/>
              </a:rPr>
              <a:t>bootstrap-table.com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0457470-869F-3131-BECA-F5A378ABE6C9}"/>
              </a:ext>
            </a:extLst>
          </p:cNvPr>
          <p:cNvSpPr txBox="1"/>
          <p:nvPr/>
        </p:nvSpPr>
        <p:spPr>
          <a:xfrm>
            <a:off x="921001" y="2110085"/>
            <a:ext cx="730199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/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GB" sz="5400" dirty="0">
                <a:solidFill>
                  <a:schemeClr val="tx1"/>
                </a:solidFill>
              </a:rPr>
              <a:t>Computing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263</TotalTime>
  <Words>2830</Words>
  <Application>Microsoft Office PowerPoint</Application>
  <PresentationFormat>On-screen Show (16:9)</PresentationFormat>
  <Paragraphs>618</Paragraphs>
  <Slides>115</Slides>
  <Notes>114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115</vt:i4>
      </vt:variant>
    </vt:vector>
  </HeadingPairs>
  <TitlesOfParts>
    <vt:vector size="118" baseType="lpstr">
      <vt:lpstr>Arial</vt:lpstr>
      <vt:lpstr>Consolas</vt:lpstr>
      <vt:lpstr>Simple Dark</vt:lpstr>
      <vt:lpstr>PowerPoint Presentation</vt:lpstr>
      <vt:lpstr>internet</vt:lpstr>
      <vt:lpstr>PowerPoint Presentation</vt:lpstr>
      <vt:lpstr>PowerPoint Presentation</vt:lpstr>
      <vt:lpstr>PowerPoint Presentation</vt:lpstr>
      <vt:lpstr>routers</vt:lpstr>
      <vt:lpstr>PowerPoint Presentation</vt:lpstr>
      <vt:lpstr>TCP/IP</vt:lpstr>
      <vt:lpstr>IP</vt:lpstr>
      <vt:lpstr>#.#.#.#</vt:lpstr>
      <vt:lpstr>PowerPoint Presentation</vt:lpstr>
      <vt:lpstr>TCP</vt:lpstr>
      <vt:lpstr>ports</vt:lpstr>
      <vt:lpstr>PowerPoint Presentation</vt:lpstr>
      <vt:lpstr>PowerPoint Presentation</vt:lpstr>
      <vt:lpstr>DNS</vt:lpstr>
      <vt:lpstr>PowerPoint Presentation</vt:lpstr>
      <vt:lpstr>PowerPoint Presentation</vt:lpstr>
      <vt:lpstr>DHCP</vt:lpstr>
      <vt:lpstr>HTTP</vt:lpstr>
      <vt:lpstr>HTTPS</vt:lpstr>
      <vt:lpstr>https://www.example.com</vt:lpstr>
      <vt:lpstr>https://www.example.com/</vt:lpstr>
      <vt:lpstr>https://www.example.com/path</vt:lpstr>
      <vt:lpstr>https://www.example.com/file.html</vt:lpstr>
      <vt:lpstr>https://www.example.com/folder/</vt:lpstr>
      <vt:lpstr>https://www.example.com/folder/file.html</vt:lpstr>
      <vt:lpstr>https://www.example.com/folder/file.html</vt:lpstr>
      <vt:lpstr>https://www.example.com/folder/file.html</vt:lpstr>
      <vt:lpstr>https://www.example.com/folder/file.html</vt:lpstr>
      <vt:lpstr>https://www.example.com/folder/file.html</vt:lpstr>
      <vt:lpstr>https://www.example.com/folder/file.html</vt:lpstr>
      <vt:lpstr>PowerPoint Presentation</vt:lpstr>
      <vt:lpstr>PowerPoint Presentation</vt:lpstr>
      <vt:lpstr>PowerPoint Presentation</vt:lpstr>
      <vt:lpstr>developer tools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HTML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https://www.example.com</vt:lpstr>
      <vt:lpstr>https://www.example.com/path?key=value</vt:lpstr>
      <vt:lpstr>https://www.example.com/path?key=value&amp;key=value</vt:lpstr>
      <vt:lpstr>regular expressions</vt:lpstr>
      <vt:lpstr>regexes</vt:lpstr>
      <vt:lpstr>developer.mozilla.org/en-US/docs/Web/JavaScript/Guide/Regular_expressions </vt:lpstr>
      <vt:lpstr>PowerPoint Presentation</vt:lpstr>
      <vt:lpstr>PowerPoint Presentation</vt:lpstr>
      <vt:lpstr>^[a-zA-Z0-9.!#$%&amp;'*+\/=?^_`{|}~-]+@[a-zA-Z0-9](?:[a-zA-Z0-9-]{0,61}[a-zA-Z0-9])?(?:\.[a-zA-Z0-9](?:[a-zA-Z0-9-]{0,61}[a-zA-Z0-9])?)*$</vt:lpstr>
      <vt:lpstr>developer tools</vt:lpstr>
      <vt:lpstr>validator.w3.org</vt:lpstr>
      <vt:lpstr>CSS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frameworks</vt:lpstr>
      <vt:lpstr>Bootstrap</vt:lpstr>
      <vt:lpstr>getbootstrap.com </vt:lpstr>
      <vt:lpstr>developer tools</vt:lpstr>
      <vt:lpstr>JavaScript</vt:lpstr>
      <vt:lpstr>PowerPoint Presentation</vt:lpstr>
      <vt:lpstr>conditionals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loops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Bootstrap Table</vt:lpstr>
      <vt:lpstr>bootstrap-table.com 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Ed Harris</cp:lastModifiedBy>
  <cp:revision>4</cp:revision>
  <dcterms:modified xsi:type="dcterms:W3CDTF">2025-11-25T13:31:34Z</dcterms:modified>
</cp:coreProperties>
</file>