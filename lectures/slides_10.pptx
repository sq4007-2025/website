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3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92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6289" autoAdjust="0"/>
  </p:normalViewPr>
  <p:slideViewPr>
    <p:cSldViewPr snapToGrid="0">
      <p:cViewPr varScale="1">
        <p:scale>
          <a:sx n="118" d="100"/>
          <a:sy n="118" d="100"/>
        </p:scale>
        <p:origin x="1404" y="9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search?q=cats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18401b6c26c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18401b6c26c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</a:rPr>
              <a:t>Point of this week – combine a web server with </a:t>
            </a:r>
            <a:r>
              <a:rPr lang="en-GB" dirty="0" err="1">
                <a:solidFill>
                  <a:schemeClr val="dk1"/>
                </a:solidFill>
              </a:rPr>
              <a:t>css</a:t>
            </a:r>
            <a:r>
              <a:rPr lang="en-GB" dirty="0">
                <a:solidFill>
                  <a:schemeClr val="dk1"/>
                </a:solidFill>
              </a:rPr>
              <a:t>, html maybe even </a:t>
            </a:r>
            <a:r>
              <a:rPr lang="en-GB" dirty="0" err="1">
                <a:solidFill>
                  <a:schemeClr val="dk1"/>
                </a:solidFill>
              </a:rPr>
              <a:t>javascript</a:t>
            </a:r>
            <a:r>
              <a:rPr lang="en-GB" dirty="0">
                <a:solidFill>
                  <a:schemeClr val="dk1"/>
                </a:solidFill>
              </a:rPr>
              <a:t>.</a:t>
            </a:r>
            <a:endParaRPr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9f210aecbc_0_1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9f210aecbc_0_1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Command to serve local web pages (used last week) – NB STATIC pages we load in browser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err="1"/>
              <a:t>Javascript</a:t>
            </a:r>
            <a:r>
              <a:rPr lang="en-GB" dirty="0"/>
              <a:t> allows dynamic actions (e.g. autocomplete)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This all done locally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 we move things to server side!</a:t>
            </a: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18401b6c2f9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18401b6c2f9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Slash at end indicates we want to “default page” for the website (typically index.html)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18401b6c2f9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18401b6c2f9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Specify a specific file</a:t>
            </a: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18401b6c2f9_0_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18401b6c2f9_0_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Specific folder</a:t>
            </a: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18401b6c2f9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18401b6c2f9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File in a folder</a:t>
            </a: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18401b6c2f9_0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18401b6c2f9_0_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“the path” specifying a folder/file etc</a:t>
            </a: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8401b6c2f9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8401b6c2f9_0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Specify a “route” – what path do you select on the server?</a:t>
            </a:r>
            <a:endParaRPr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18401b6c2f9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18401b6c2f9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Introducing a key values – implement the “back end” for specifying inputs</a:t>
            </a:r>
            <a:endParaRPr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18401b6c2f9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18401b6c2f9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https://www.google.com/search?q=cats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10096cd1cda_0_1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10096cd1cda_0_1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This is what happens on the server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Could write code to do this...</a:t>
            </a:r>
            <a:endParaRPr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f8c7742b5_3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f8c7742b5_3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Framework (library) that handles routes and key/values</a:t>
            </a:r>
            <a:endParaRPr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14f8c7742b5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14f8c7742b5_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Launch flask</a:t>
            </a:r>
            <a:endParaRPr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12d605125f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12d605125f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Convention for files in flask - defaults</a:t>
            </a:r>
            <a:endParaRPr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9f210aecbc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9f210aecbc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</a:t>
            </a:r>
            <a:r>
              <a:rPr lang="en" dirty="0"/>
              <a:t>implest of web apps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“@” is a Python “decorator”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Defines index for web app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hello0/</a:t>
            </a:r>
            <a:endParaRPr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12d605125f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12d605125f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hello1/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12d605125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12d605125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hello2/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This creates and returns an html template to the browser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NB this associates the route (“/”) with an actual file on the server</a:t>
            </a:r>
            <a:endParaRPr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18401b6c2f9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18401b6c2f9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Request variable in Flask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Stores key value pairs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Just an example because URL is hard coded and not dynamic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>
          <a:extLst>
            <a:ext uri="{FF2B5EF4-FFF2-40B4-BE49-F238E27FC236}">
              <a16:creationId xmlns:a16="http://schemas.microsoft.com/office/drawing/2014/main" id="{612992D7-8DE0-905D-95B1-7A93C5213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18401b6c2f9_0_89:notes">
            <a:extLst>
              <a:ext uri="{FF2B5EF4-FFF2-40B4-BE49-F238E27FC236}">
                <a16:creationId xmlns:a16="http://schemas.microsoft.com/office/drawing/2014/main" id="{64702092-BF80-7E60-48E4-D99567763E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18401b6c2f9_0_89:notes">
            <a:extLst>
              <a:ext uri="{FF2B5EF4-FFF2-40B4-BE49-F238E27FC236}">
                <a16:creationId xmlns:a16="http://schemas.microsoft.com/office/drawing/2014/main" id="{22FA58D3-70E7-B31C-E0B0-0EC369098A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Request variable in Flask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Stores key value pairs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Just an example because URL is hard coded and not dynamic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1783209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29a924ac89a_3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29a924ac89a_3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hello{3,4,5,6,7}/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Jinja == Templating library that Flask uses – e.g. looks for variables in {{ variable }} syntax</a:t>
            </a:r>
            <a:endParaRPr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9f210aecbc_0_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9f210aecbc_0_1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hello{8,9}/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12d605125f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12d605125f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hello10/</a:t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9f210aecbc_0_2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9f210aecbc_0_2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froshims{0,1,2,3,4,5}/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Examine a web app that allows students to register for sports</a:t>
            </a:r>
            <a:endParaRPr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1850e900ea2_1_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1850e900ea2_1_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1850e900ea2_1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1850e900ea2_1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10096cd1cda_0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10096cd1cda_0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Login / authentication</a:t>
            </a:r>
            <a:endParaRPr dirty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9f210aecbc_0_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9f210aecbc_0_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9f210aecbc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9f210aecbc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9f210aecbc_0_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9f210aecbc_0_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9f210aecbc_0_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9f210aecbc_0_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9f210aecbc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9f210aecbc_0_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hand stamp</a:t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9f210aecbc_0_2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" name="Google Shape;215;g9f210aecbc_0_2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login/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store/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Session keeps track of whether the page has “seen” someone before</a:t>
            </a:r>
            <a:endParaRPr dirty="0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29a924ac89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Google Shape;220;g29a924ac89a_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shows{0,1}/</a:t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18401b6c2f9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" name="Google Shape;225;g18401b6c2f9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shows2/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Protocol to send back snippets, e.g. from a search</a:t>
            </a:r>
            <a:endParaRPr dirty="0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12d605125f_1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312d605125f_1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JSON </a:t>
            </a:r>
            <a:r>
              <a:rPr lang="en-GB" dirty="0" err="1"/>
              <a:t>Javascript</a:t>
            </a:r>
            <a:r>
              <a:rPr lang="en-GB" dirty="0"/>
              <a:t> Object Notation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Kind of like a code dictionary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Import “</a:t>
            </a:r>
            <a:r>
              <a:rPr lang="en-GB" dirty="0" err="1"/>
              <a:t>jasonify</a:t>
            </a:r>
            <a:r>
              <a:rPr lang="en-GB" dirty="0"/>
              <a:t>”</a:t>
            </a:r>
            <a:endParaRPr dirty="0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29a92345b97_0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5" name="Google Shape;235;g29a92345b97_0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shows3/</a:t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18401b6c2f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18401b6c2f9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dark-2">
    <p:bg>
      <p:bgPr>
        <a:solidFill>
          <a:srgbClr val="000000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lt2"/>
                </a:solidFill>
              </a:defRPr>
            </a:lvl1pPr>
            <a:lvl2pPr lvl="1" algn="r">
              <a:buNone/>
              <a:defRPr sz="1000">
                <a:solidFill>
                  <a:schemeClr val="lt2"/>
                </a:solidFill>
              </a:defRPr>
            </a:lvl2pPr>
            <a:lvl3pPr lvl="2" algn="r">
              <a:buNone/>
              <a:defRPr sz="1000">
                <a:solidFill>
                  <a:schemeClr val="lt2"/>
                </a:solidFill>
              </a:defRPr>
            </a:lvl3pPr>
            <a:lvl4pPr lvl="3" algn="r">
              <a:buNone/>
              <a:defRPr sz="1000">
                <a:solidFill>
                  <a:schemeClr val="lt2"/>
                </a:solidFill>
              </a:defRPr>
            </a:lvl4pPr>
            <a:lvl5pPr lvl="4" algn="r">
              <a:buNone/>
              <a:defRPr sz="1000">
                <a:solidFill>
                  <a:schemeClr val="lt2"/>
                </a:solidFill>
              </a:defRPr>
            </a:lvl5pPr>
            <a:lvl6pPr lvl="5" algn="r">
              <a:buNone/>
              <a:defRPr sz="1000">
                <a:solidFill>
                  <a:schemeClr val="lt2"/>
                </a:solidFill>
              </a:defRPr>
            </a:lvl6pPr>
            <a:lvl7pPr lvl="6" algn="r">
              <a:buNone/>
              <a:defRPr sz="1000">
                <a:solidFill>
                  <a:schemeClr val="lt2"/>
                </a:solidFill>
              </a:defRPr>
            </a:lvl7pPr>
            <a:lvl8pPr lvl="7" algn="r">
              <a:buNone/>
              <a:defRPr sz="1000">
                <a:solidFill>
                  <a:schemeClr val="lt2"/>
                </a:solidFill>
              </a:defRPr>
            </a:lvl8pPr>
            <a:lvl9pPr lvl="8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jinja.palletsprojects.com/templates/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0457470-869F-3131-BECA-F5A378ABE6C9}"/>
              </a:ext>
            </a:extLst>
          </p:cNvPr>
          <p:cNvSpPr txBox="1"/>
          <p:nvPr/>
        </p:nvSpPr>
        <p:spPr>
          <a:xfrm>
            <a:off x="921001" y="2110085"/>
            <a:ext cx="73019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5400" dirty="0">
                <a:solidFill>
                  <a:schemeClr val="tx1"/>
                </a:solidFill>
              </a:rPr>
              <a:t>Computing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http-server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/>
              <a:t>https://www.example.com</a:t>
            </a:r>
            <a:r>
              <a:rPr lang="en" sz="2700">
                <a:solidFill>
                  <a:srgbClr val="FFFF00"/>
                </a:solidFill>
              </a:rPr>
              <a:t>/</a:t>
            </a:r>
            <a:endParaRPr sz="2700">
              <a:solidFill>
                <a:srgbClr val="FFFF00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/>
              <a:t>https://www.example.com</a:t>
            </a:r>
            <a:r>
              <a:rPr lang="en" sz="2700">
                <a:solidFill>
                  <a:srgbClr val="FFFF00"/>
                </a:solidFill>
              </a:rPr>
              <a:t>/file.html</a:t>
            </a:r>
            <a:endParaRPr sz="2700">
              <a:solidFill>
                <a:srgbClr val="FFFF00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/>
              <a:t>https://www.example.com</a:t>
            </a:r>
            <a:r>
              <a:rPr lang="en" sz="2700">
                <a:solidFill>
                  <a:srgbClr val="FFFF00"/>
                </a:solidFill>
              </a:rPr>
              <a:t>/folder/</a:t>
            </a:r>
            <a:endParaRPr sz="2700">
              <a:solidFill>
                <a:srgbClr val="FFFF00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/>
              <a:t>https://www.example.com</a:t>
            </a:r>
            <a:r>
              <a:rPr lang="en" sz="2700">
                <a:solidFill>
                  <a:srgbClr val="FFFF00"/>
                </a:solidFill>
              </a:rPr>
              <a:t>/folder/file.html</a:t>
            </a:r>
            <a:endParaRPr sz="2700">
              <a:solidFill>
                <a:srgbClr val="FFFF00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/>
              <a:t>https://www.example.com</a:t>
            </a:r>
            <a:r>
              <a:rPr lang="en" sz="2700">
                <a:solidFill>
                  <a:srgbClr val="FFFF00"/>
                </a:solidFill>
              </a:rPr>
              <a:t>/path</a:t>
            </a:r>
            <a:endParaRPr sz="2700">
              <a:solidFill>
                <a:srgbClr val="FFFF0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/>
              <a:t>https://www.example.com</a:t>
            </a:r>
            <a:r>
              <a:rPr lang="en" sz="2700">
                <a:solidFill>
                  <a:srgbClr val="FFFF00"/>
                </a:solidFill>
              </a:rPr>
              <a:t>/route</a:t>
            </a:r>
            <a:endParaRPr sz="2700">
              <a:solidFill>
                <a:srgbClr val="FFFF00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/>
              <a:t>https://www.example.com</a:t>
            </a:r>
            <a:r>
              <a:rPr lang="en" sz="2700">
                <a:solidFill>
                  <a:srgbClr val="FFFF00"/>
                </a:solidFill>
              </a:rPr>
              <a:t>/route?key=value</a:t>
            </a:r>
            <a:endParaRPr sz="2700">
              <a:solidFill>
                <a:srgbClr val="FFFF00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/>
              <a:t>https://www.example.com</a:t>
            </a:r>
            <a:r>
              <a:rPr lang="en" sz="2700">
                <a:solidFill>
                  <a:srgbClr val="FFFF00"/>
                </a:solidFill>
              </a:rPr>
              <a:t>/route?key=value&amp;key=value</a:t>
            </a:r>
            <a:endParaRPr sz="2700">
              <a:solidFill>
                <a:srgbClr val="FFFF00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GET /search?q=cats HTTP/2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Host: www.google.com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...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Flask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flask run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app.py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requirements.txt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from flask import Flask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app = Flask(__name__)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@app.route("/")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def index():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"hello, world"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app.py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requirements.txt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static/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templates/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from flask import Flask, render_template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app = Flask(__name__)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@app.route("/")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def index():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render_template("index.html")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request.args</a:t>
            </a:r>
            <a:endParaRPr dirty="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DED859-173E-D30B-7ECC-94B3868AFF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5450" y="938834"/>
            <a:ext cx="6756850" cy="314801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>
          <a:extLst>
            <a:ext uri="{FF2B5EF4-FFF2-40B4-BE49-F238E27FC236}">
              <a16:creationId xmlns:a16="http://schemas.microsoft.com/office/drawing/2014/main" id="{F71B661E-4385-3917-DB44-71E1AB118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39;p30">
            <a:extLst>
              <a:ext uri="{FF2B5EF4-FFF2-40B4-BE49-F238E27FC236}">
                <a16:creationId xmlns:a16="http://schemas.microsoft.com/office/drawing/2014/main" id="{7F731989-7FCD-4A49-DC76-51A4FAC68E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forms</a:t>
            </a:r>
            <a:endParaRPr dirty="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77391EB-8B66-54EE-DC14-3069D68D8E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432" y="231320"/>
            <a:ext cx="3656204" cy="226102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A3433C0-01A4-0D3B-3BE4-B520D05B84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98471" y="2129638"/>
            <a:ext cx="6643561" cy="2801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7600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Jinja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request.form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3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uFill>
                  <a:noFill/>
                </a:uFill>
                <a:hlinkClick r:id="rId3"/>
              </a:rPr>
              <a:t>jinja.palletsprojects.com/templates/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Google Shape;159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8600" y="124700"/>
            <a:ext cx="9401201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34"/>
          <p:cNvSpPr/>
          <p:nvPr/>
        </p:nvSpPr>
        <p:spPr>
          <a:xfrm>
            <a:off x="3138600" y="516975"/>
            <a:ext cx="1233300" cy="341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5"/>
          <p:cNvSpPr/>
          <p:nvPr/>
        </p:nvSpPr>
        <p:spPr>
          <a:xfrm>
            <a:off x="2842599" y="1200187"/>
            <a:ext cx="1828800" cy="2788200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</a:rPr>
              <a:t>Controller</a:t>
            </a:r>
            <a:endParaRPr sz="2400">
              <a:solidFill>
                <a:schemeClr val="dk1"/>
              </a:solidFill>
            </a:endParaRPr>
          </a:p>
        </p:txBody>
      </p:sp>
      <p:sp>
        <p:nvSpPr>
          <p:cNvPr id="166" name="Google Shape;166;p35"/>
          <p:cNvSpPr/>
          <p:nvPr/>
        </p:nvSpPr>
        <p:spPr>
          <a:xfrm>
            <a:off x="5426025" y="1200188"/>
            <a:ext cx="1828800" cy="2743200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</a:rPr>
              <a:t>View</a:t>
            </a:r>
            <a:endParaRPr sz="2400">
              <a:solidFill>
                <a:schemeClr val="dk1"/>
              </a:solidFill>
            </a:endParaRPr>
          </a:p>
        </p:txBody>
      </p:sp>
      <p:sp>
        <p:nvSpPr>
          <p:cNvPr id="167" name="Google Shape;167;p35"/>
          <p:cNvSpPr/>
          <p:nvPr/>
        </p:nvSpPr>
        <p:spPr>
          <a:xfrm>
            <a:off x="8048683" y="2485871"/>
            <a:ext cx="836100" cy="836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9D9D9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35"/>
          <p:cNvSpPr/>
          <p:nvPr/>
        </p:nvSpPr>
        <p:spPr>
          <a:xfrm>
            <a:off x="8048724" y="1821612"/>
            <a:ext cx="836100" cy="836100"/>
          </a:xfrm>
          <a:prstGeom prst="ellipse">
            <a:avLst/>
          </a:prstGeom>
          <a:solidFill>
            <a:srgbClr val="B7B7B7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69" name="Google Shape;169;p35"/>
          <p:cNvCxnSpPr/>
          <p:nvPr/>
        </p:nvCxnSpPr>
        <p:spPr>
          <a:xfrm rot="10800000">
            <a:off x="7315300" y="2571775"/>
            <a:ext cx="4443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170" name="Google Shape;170;p35"/>
          <p:cNvCxnSpPr/>
          <p:nvPr/>
        </p:nvCxnSpPr>
        <p:spPr>
          <a:xfrm rot="10800000">
            <a:off x="4713869" y="2571775"/>
            <a:ext cx="4443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triangle" w="med" len="med"/>
            <a:tailEnd type="triangle" w="med" len="med"/>
          </a:ln>
        </p:spPr>
      </p:cxn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36"/>
          <p:cNvSpPr/>
          <p:nvPr/>
        </p:nvSpPr>
        <p:spPr>
          <a:xfrm>
            <a:off x="2842599" y="1200187"/>
            <a:ext cx="1828800" cy="2788200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</a:rPr>
              <a:t>Controller</a:t>
            </a:r>
            <a:endParaRPr sz="2400">
              <a:solidFill>
                <a:schemeClr val="dk1"/>
              </a:solidFill>
            </a:endParaRPr>
          </a:p>
        </p:txBody>
      </p:sp>
      <p:sp>
        <p:nvSpPr>
          <p:cNvPr id="176" name="Google Shape;176;p36"/>
          <p:cNvSpPr/>
          <p:nvPr/>
        </p:nvSpPr>
        <p:spPr>
          <a:xfrm>
            <a:off x="5426025" y="1200188"/>
            <a:ext cx="1828800" cy="2743200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</a:rPr>
              <a:t>View</a:t>
            </a:r>
            <a:endParaRPr sz="2400">
              <a:solidFill>
                <a:schemeClr val="dk1"/>
              </a:solidFill>
            </a:endParaRPr>
          </a:p>
        </p:txBody>
      </p:sp>
      <p:sp>
        <p:nvSpPr>
          <p:cNvPr id="177" name="Google Shape;177;p36"/>
          <p:cNvSpPr/>
          <p:nvPr/>
        </p:nvSpPr>
        <p:spPr>
          <a:xfrm>
            <a:off x="248746" y="1155113"/>
            <a:ext cx="1828800" cy="2788200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</a:rPr>
              <a:t>Model</a:t>
            </a:r>
            <a:endParaRPr sz="2400">
              <a:solidFill>
                <a:schemeClr val="dk1"/>
              </a:solidFill>
            </a:endParaRPr>
          </a:p>
        </p:txBody>
      </p:sp>
      <p:sp>
        <p:nvSpPr>
          <p:cNvPr id="178" name="Google Shape;178;p36"/>
          <p:cNvSpPr/>
          <p:nvPr/>
        </p:nvSpPr>
        <p:spPr>
          <a:xfrm>
            <a:off x="8048683" y="2485871"/>
            <a:ext cx="836100" cy="8361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9D9D9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36"/>
          <p:cNvSpPr/>
          <p:nvPr/>
        </p:nvSpPr>
        <p:spPr>
          <a:xfrm>
            <a:off x="8048724" y="1821612"/>
            <a:ext cx="836100" cy="836100"/>
          </a:xfrm>
          <a:prstGeom prst="ellipse">
            <a:avLst/>
          </a:prstGeom>
          <a:solidFill>
            <a:srgbClr val="B7B7B7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80" name="Google Shape;180;p36"/>
          <p:cNvCxnSpPr/>
          <p:nvPr/>
        </p:nvCxnSpPr>
        <p:spPr>
          <a:xfrm rot="10800000">
            <a:off x="7315300" y="2571750"/>
            <a:ext cx="4443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181" name="Google Shape;181;p36"/>
          <p:cNvCxnSpPr/>
          <p:nvPr/>
        </p:nvCxnSpPr>
        <p:spPr>
          <a:xfrm rot="10800000">
            <a:off x="4713869" y="2571750"/>
            <a:ext cx="4443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182" name="Google Shape;182;p36"/>
          <p:cNvCxnSpPr/>
          <p:nvPr/>
        </p:nvCxnSpPr>
        <p:spPr>
          <a:xfrm rot="10800000">
            <a:off x="2124570" y="2571738"/>
            <a:ext cx="4443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triangle" w="med" len="med"/>
            <a:tailEnd type="triangle" w="med" len="med"/>
          </a:ln>
        </p:spPr>
      </p:cxn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59500" y="152400"/>
            <a:ext cx="4424982" cy="4838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POST / HTTP/2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Host: accounts.google.com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...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HTTP/2 200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Content-Type: text/html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...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4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HTTP/2 200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Content-Type: text/html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Set-Cookie: session=value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...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4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GET / HTTP/2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Host: accounts.google.com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...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GET / HTTP/2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Host: accounts.google.com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Cookie: session=value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...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4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session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4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from cs50 import SQL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4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API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4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JSON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4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[</a:t>
            </a:r>
            <a:endParaRPr sz="16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{"id": 112108, "title": "The Office", "year": 1995, "episodes": 6},</a:t>
            </a:r>
            <a:endParaRPr sz="16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{"id": 290978, "title": "The Office", "year": 2001, "episodes": 14},</a:t>
            </a:r>
            <a:endParaRPr sz="16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{"id": 386676, "title": "The Office", "year": 2005, "episodes": 188},</a:t>
            </a:r>
            <a:endParaRPr sz="16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{"id": 1791001, "title": "The Office", "year": 2010, "episodes": 30},</a:t>
            </a:r>
            <a:endParaRPr sz="16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{"id": 2186395, "title": "The Office", "year": 2012, "episodes": 8},</a:t>
            </a:r>
            <a:endParaRPr sz="16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{"id": 8305218, "title": "The Office", "year": 2019, "episodes": 28},</a:t>
            </a:r>
            <a:endParaRPr sz="16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{"id": 20877972, "title": "The Office", "year": 2022, "episodes": 20}</a:t>
            </a:r>
            <a:endParaRPr sz="16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]</a:t>
            </a:r>
            <a:endParaRPr sz="16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0457470-869F-3131-BECA-F5A378ABE6C9}"/>
              </a:ext>
            </a:extLst>
          </p:cNvPr>
          <p:cNvSpPr txBox="1"/>
          <p:nvPr/>
        </p:nvSpPr>
        <p:spPr>
          <a:xfrm>
            <a:off x="921001" y="2110085"/>
            <a:ext cx="73019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5400" dirty="0">
                <a:solidFill>
                  <a:schemeClr val="tx1"/>
                </a:solidFill>
              </a:rPr>
              <a:t>Computing Technology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810</Words>
  <Application>Microsoft Office PowerPoint</Application>
  <PresentationFormat>On-screen Show (16:9)</PresentationFormat>
  <Paragraphs>150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Consolas</vt:lpstr>
      <vt:lpstr>Simple Dark</vt:lpstr>
      <vt:lpstr>PowerPoint Presentation</vt:lpstr>
      <vt:lpstr>PowerPoint Presentation</vt:lpstr>
      <vt:lpstr>https://www.example.com/</vt:lpstr>
      <vt:lpstr>https://www.example.com/file.html</vt:lpstr>
      <vt:lpstr>https://www.example.com/folder/</vt:lpstr>
      <vt:lpstr>https://www.example.com/folder/file.html</vt:lpstr>
      <vt:lpstr>https://www.example.com/path</vt:lpstr>
      <vt:lpstr>https://www.example.com/route</vt:lpstr>
      <vt:lpstr>https://www.example.com/route?key=value</vt:lpstr>
      <vt:lpstr>https://www.example.com/route?key=value&amp;key=value</vt:lpstr>
      <vt:lpstr>PowerPoint Presentation</vt:lpstr>
      <vt:lpstr>Flask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Jinja</vt:lpstr>
      <vt:lpstr>PowerPoint Presentation</vt:lpstr>
      <vt:lpstr>jinja.palletsprojects.com/templates/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API</vt:lpstr>
      <vt:lpstr>JSON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Ed Harris</cp:lastModifiedBy>
  <cp:revision>3</cp:revision>
  <dcterms:modified xsi:type="dcterms:W3CDTF">2025-12-03T07:54:18Z</dcterms:modified>
</cp:coreProperties>
</file>