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2" r:id="rId74"/>
    <p:sldId id="333" r:id="rId75"/>
    <p:sldId id="334" r:id="rId76"/>
    <p:sldId id="335" r:id="rId77"/>
    <p:sldId id="336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99FDDA-3427-4A96-9282-C388DB153586}">
  <a:tblStyle styleId="{2399FDDA-3427-4A96-9282-C388DB1535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443" autoAdjust="0"/>
  </p:normalViewPr>
  <p:slideViewPr>
    <p:cSldViewPr snapToGrid="0">
      <p:cViewPr varScale="1">
        <p:scale>
          <a:sx n="126" d="100"/>
          <a:sy n="126" d="100"/>
        </p:scale>
        <p:origin x="119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say%20%5Bhello%2C%20world%5D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ask%20%5BWhat's%20your%20name%3F%20%5D%20and%20wait%0Asay%20(join%5Bhello%2C%20%5D%20(answer)%0A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set%20%5Bcounter%20v%5D%20to%20(0)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change%20%5Bcounter%20v%5D%20by%20(1)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if%20%3C(x)%20%3C%20(y)%3E%20then%0Asay%20%5Bx%20is%20less%20than%20y%5D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if%20%3C(x)%20%3C%20(y)%3E%20then%0Asay%20%5Bx%20is%20less%20than%20y%5D%0Aelse%0Asay%20%5Bx%20is%20not%20less%20than%20y%5D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if%20%3C(x)%20%3C%20(y)%3E%20then%0Asay%20%5Bx%20is%20less%20than%20y%5D%0Aelse%0Aif%20%3C(x)%20%3E%20(y)%3E%20then%0Asay%20%5Bx%20is%20greater%20than%20y%5D%0Aelse%0Asay%20%5Bx%20is%20equal%20to%20y%5D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repeat%20%5B3%5D%0Asay%5Bmeow%5D" TargetMode="External"/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forever%0Asay%5Bmeow%5D" TargetMode="External"/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4119545db0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4119545db0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OMG Python!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-new language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-low level high level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-Ecosystem of packages and popularity...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-continual learning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4077ea4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4077ea4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Scratch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64077ea43c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64077ea43c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 low level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4077ea43c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4077ea43c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Python high level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4119545db0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4119545db0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Running C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4119545db0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4119545db0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Compile, run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4119545db0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4119545db0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Interpreted versus compiled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 command!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</a:t>
            </a:r>
            <a:r>
              <a:rPr lang="en" dirty="0"/>
              <a:t>ossibly compare dictionary.c to dictionary.py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Check out blur.py in notes as well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1/hello0.py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6/speller/dictionary.py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6/filter/{blur,edges}.py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d19c1f350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d19c1f350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22c153d14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922c153d14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4077ea43c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4077ea43c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4077ea43c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4077ea43c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https://scratchblocks.github.io/#?style=scratch3&amp;script=say%20%5Bhello%2C%20world%5D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4077ea43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4077ea43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64077ea43c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64077ea43c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Better language!!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 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 \n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 </a:t>
            </a:r>
            <a:r>
              <a:rPr lang="en-GB" dirty="0" err="1"/>
              <a:t>printf</a:t>
            </a:r>
            <a:r>
              <a:rPr lang="en-GB" dirty="0"/>
              <a:t>()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22c153d14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22c153d14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MOOAR powerful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48d6721ca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48d6721ca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119545db0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4119545db0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119545db0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4119545db0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Brief library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119545db0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4119545db0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4077ea43c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64077ea43c_0_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https://scratchblocks.github.io/#?style=scratch3&amp;script=ask%20%5BWhat's%20your%20name%3F%20%5D%20and%20wait%0Asay%20(join%5Bhello%2C%20%5D%20(answer)%0A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4077ea43c_0_6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64077ea43c_0_6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4077ea43c_0_6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4077ea43c_0_6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119545db0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4119545db0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4077ea43c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64077ea43c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Format string, “</a:t>
            </a:r>
            <a:r>
              <a:rPr lang="en-GB" dirty="0" err="1"/>
              <a:t>fstring</a:t>
            </a:r>
            <a:r>
              <a:rPr lang="en-GB" dirty="0"/>
              <a:t>”</a:t>
            </a: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119545db0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4119545db0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hello{1,2,3}.py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922c153d14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22c153d14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“ordered” parameters</a:t>
            </a: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48d6721ca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48d6721ca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hello4.py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</a:t>
            </a:r>
            <a:r>
              <a:rPr lang="en" dirty="0"/>
              <a:t>rovide the name of a parameter in the function, and its value</a:t>
            </a: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48d6721ca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d48d6721ca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48d6721ca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d48d6721ca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48d6721ca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d48d6721ca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48d6721ca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d48d6721ca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48d6721ca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48d6721ca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48d6721ca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d48d6721ca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48d6721ca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d48d6721ca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Mention single quotes and double quotes (they are the same in Python)</a:t>
            </a: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d48d6721ca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d48d6721ca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922c153d14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922c153d14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https://scratchblocks.github.io/#?style=scratch3&amp;script=set%20%5Bcounter%20v%5D%20to%20(0)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22c153d14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22c153d14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922c153d14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922c153d14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922c153d14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922c153d14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https://scratchblocks.github.io/#?style=scratch3&amp;script=change%20%5Bcounter%20v%5D%20by%20(1)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922c153d14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922c153d14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922c153d14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922c153d14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922c153d14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922c153d14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4119545db0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4119545db0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119545db0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4119545db0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4119545db0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4119545db0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calculator{0,1}.py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4119545db0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4119545db0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4119545db0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4119545db0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Cs50 c library</a:t>
            </a:r>
            <a:endParaRPr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4119545db0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4119545db0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Cs50 python library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4119545db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4119545db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119545db0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4119545db0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 import cs50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4119545db0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4119545db0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4119545db0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4119545db0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https://scratchblocks.github.io/#?style=scratch3&amp;script=if%20%3C(x)%20%3C%20(y)%3E%20then%0Asay%20%5Bx%20is%20less%20than%20y%5D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4119545db0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4119545db0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4119545db0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4119545db0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Simpler, but colon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NB indentation matters! (4 spaces)</a:t>
            </a:r>
            <a:endParaRPr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4119545db0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4119545db0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https://scratchblocks.github.io/#?style=scratch3&amp;script=if%20%3C(x)%20%3C%20(y)%3E%20then%0Asay%20%5Bx%20is%20less%20than%20y%5D%0Aelse%0Asay%20%5Bx%20is%20not%20less%20than%20y%5D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4119545db0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4119545db0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4119545db0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4119545db0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python</a:t>
            </a:r>
            <a:endParaRPr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4119545db0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4119545db0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https://scratchblocks.github.io/#?style=scratch3&amp;script=if%20%3C(x)%20%3C%20(y)%3E%20then%0Asay%20%5Bx%20is%20less%20than%20y%5D%0Aelse%0Aif%20%3C(x)%20%3E%20(y)%3E%20then%0Asay%20%5Bx%20is%20greater%20than%20y%5D%0Aelse%0Asay%20%5Bx%20is%20equal%20to%20y%5D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4119545db0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4119545db0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4119545db0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4119545db0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1/compare3.py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922c153d14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922c153d14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4/compare.py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1/agree{0,1}.py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N</a:t>
            </a:r>
            <a:r>
              <a:rPr lang="en" dirty="0">
                <a:solidFill>
                  <a:schemeClr val="dk1"/>
                </a:solidFill>
              </a:rPr>
              <a:t>otes and examples</a:t>
            </a:r>
            <a:endParaRPr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922c153d14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922c153d14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“OOP”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Instead of structs in c you have objects of a particular class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Implements structs with functionality as an element of good style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If functions in python are associated with particular data, they are called “methods”, like </a:t>
            </a:r>
            <a:r>
              <a:rPr lang="en-GB" dirty="0" err="1">
                <a:solidFill>
                  <a:schemeClr val="dk1"/>
                </a:solidFill>
              </a:rPr>
              <a:t>s.lower</a:t>
            </a:r>
            <a:r>
              <a:rPr lang="en-GB" dirty="0">
                <a:solidFill>
                  <a:schemeClr val="dk1"/>
                </a:solidFill>
              </a:rPr>
              <a:t>()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922c153d14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922c153d14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922c153d14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922c153d14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1/agree2.py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4/copy.py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2/uppercase{0,1}.py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4119545db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4119545db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f8035616f9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f8035616f9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https://scratchblocks.github.io/#?style=scratch3&amp;script=repeat%20%5B3%5D%0Asay%5Bmeow%5D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f8035616f9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f8035616f9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f8035616f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f8035616f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f8035616f9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f8035616f9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f8035616f9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f8035616f9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f8035616f9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f8035616f9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Problem with lots of iterations!</a:t>
            </a:r>
            <a:endParaRPr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f8035616f9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f8035616f9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9255e19e45_15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9255e19e45_15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Underscore style if not actually using loop var</a:t>
            </a:r>
            <a:endParaRPr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4119545db0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4119545db0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https://scratchblocks.github.io/#?style=scratch3&amp;script=forever%0Asay%5Bmeow%5D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4119545db0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4119545db0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4119545db0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4119545db0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meow{0,1,2,3,4,5,6}.py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9255e19e45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9255e19e45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calculator2.py, with 1/3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not an issue with 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D</a:t>
            </a:r>
            <a:r>
              <a:rPr lang="en" dirty="0">
                <a:solidFill>
                  <a:schemeClr val="dk1"/>
                </a:solidFill>
              </a:rPr>
              <a:t>ivision with ints and floats mathematical outcomes – no truncation!!!</a:t>
            </a:r>
            <a:endParaRPr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4119545db0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4119545db0_0_400:notes"/>
          <p:cNvSpPr txBox="1">
            <a:spLocks noGrp="1"/>
          </p:cNvSpPr>
          <p:nvPr>
            <p:ph type="body" idx="1"/>
          </p:nvPr>
        </p:nvSpPr>
        <p:spPr>
          <a:xfrm>
            <a:off x="685800" y="44958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calculator3.py, with 1/3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922c153d14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922c153d14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integer{0,1,2,3,4}.py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</a:t>
            </a:r>
            <a:r>
              <a:rPr lang="en" dirty="0"/>
              <a:t>ry: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</a:t>
            </a:r>
            <a:r>
              <a:rPr lang="en" dirty="0"/>
              <a:t>xcept ValueError:</a:t>
            </a:r>
            <a:endParaRPr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449b298dd1_2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449b298dd1_2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mario{0,1}.py</a:t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449b298dd1_2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449b298dd1_2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mario{2,3}.py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449b298dd1_2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449b298dd1_2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mario{4,5}.py</a:t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4119545db0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4119545db0_0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Automatic linked lists!</a:t>
            </a:r>
            <a:endParaRPr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4119545db0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4119545db0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4119545db0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4119545db0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4119545db0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4119545db0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2/scores{0,1,2}.py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3/phonebook{0,1}.py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922c153d1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922c153d14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922c153d14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922c153d14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922c153d1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922c153d1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phonebook{2,3,4}.py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4119545db0_0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4119545db0_0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4119545db0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14119545db0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2/greet{0,1,2}.py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2/exit.py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4119545db0_0_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4119545db0_0_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4119545db0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4119545db0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4/phonebook{0,1,2}.py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922c153d14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922c153d14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cowsay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moo{0,1}.py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qrcode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qr.py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4119545db0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4119545db0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print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string-methods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sequence-types-list-tuple-range" TargetMode="Externa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len" TargetMode="Externa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mapping-types-dict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ys.html" TargetMode="Externa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csv.html" TargetMode="Externa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73A6F-4EC9-0550-300D-49127A29314F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475" y="1743075"/>
            <a:ext cx="23050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2608950" y="1456200"/>
            <a:ext cx="3926100" cy="22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printf("hello, world\n");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608950" y="1456200"/>
            <a:ext cx="3926100" cy="22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world")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 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./hello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clang -o hello hello.c -lcs50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./hello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 hello.py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compiled, interpreted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5"/>
          <p:cNvSpPr txBox="1"/>
          <p:nvPr/>
        </p:nvSpPr>
        <p:spPr>
          <a:xfrm>
            <a:off x="4724100" y="1959300"/>
            <a:ext cx="33534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printf("hello, world");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9" name="Google Shape;1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6"/>
          <p:cNvSpPr txBox="1"/>
          <p:nvPr/>
        </p:nvSpPr>
        <p:spPr>
          <a:xfrm>
            <a:off x="3657600" y="1959300"/>
            <a:ext cx="54864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printf("hello, world\n");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7"/>
          <p:cNvSpPr txBox="1"/>
          <p:nvPr/>
        </p:nvSpPr>
        <p:spPr>
          <a:xfrm>
            <a:off x="4724100" y="1959300"/>
            <a:ext cx="33534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world")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5" name="Google Shape;1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modules, packages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&lt;cs50.h&gt;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 cs50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3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answer = get_string("What's your name?\n");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printf("hello, %s\n", answer);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8" name="Google Shape;1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4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answer = get_string("What's your name? ");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printf("hello, %s\n", answer);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6" name="Google Shape;1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5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" + answer)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4" name="Google Shape;1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6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print("hello,", answer)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7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print(f"hello, {answer}")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0" name="Google Shape;2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8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 = input("What's your name? 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print(f"hello, {answer}")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8" name="Google Shape;2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parameters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named parameters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docs.python.org/3/library/functions.html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uFill>
                  <a:noFill/>
                </a:uFill>
                <a:hlinkClick r:id="rId3"/>
              </a:rPr>
              <a:t>https://docs.python.org/3/library/functions.html#print</a:t>
            </a:r>
            <a:r>
              <a:rPr lang="en" sz="2800"/>
              <a:t> </a:t>
            </a:r>
            <a:endParaRPr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sep=' ',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*objects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sep=' ',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</a:t>
            </a:r>
            <a:r>
              <a:rPr lang="en" sz="20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sep=' '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sep=' ', </a:t>
            </a:r>
            <a:r>
              <a:rPr lang="en" sz="20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end='\n'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9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 counter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6" name="Google Shape;26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5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50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counter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74" name="Google Shape;27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5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51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0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82" name="Google Shape;28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5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52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0" name="Google Shape;29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5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53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8" name="Google Shape;29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5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54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6" name="Google Shape;30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5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55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+=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14" name="Google Shape;31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range      </a:t>
            </a:r>
            <a:r>
              <a:rPr lang="en">
                <a:solidFill>
                  <a:srgbClr val="000000"/>
                </a:solidFill>
              </a:rPr>
              <a:t>sequence of numbers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       </a:t>
            </a:r>
            <a:r>
              <a:rPr lang="en">
                <a:solidFill>
                  <a:srgbClr val="000000"/>
                </a:solidFill>
              </a:rPr>
              <a:t>sequence of mutable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tuple      </a:t>
            </a:r>
            <a:r>
              <a:rPr lang="en">
                <a:solidFill>
                  <a:srgbClr val="000000"/>
                </a:solidFill>
              </a:rPr>
              <a:t>sequence of immutable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dict       </a:t>
            </a:r>
            <a:r>
              <a:rPr lang="en">
                <a:solidFill>
                  <a:srgbClr val="000000"/>
                </a:solidFill>
              </a:rPr>
              <a:t>collection of key-value pairs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</a:rPr>
              <a:t>collection of unique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get_char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get_double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get_long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get_float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get_int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get_float, get_int,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6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66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2" name="Google Shape;37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6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67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0" name="Google Shape;3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6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68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8" name="Google Shape;3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6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69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not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6" name="Google Shape;39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7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70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not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4" name="Google Shape;40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7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71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not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2" name="Google Shape;41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7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72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greater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equal to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0" name="Google Shape;42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7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73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greater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equal to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8" name="Google Shape;4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7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74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elif x &gt; y: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greater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equal to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6" name="Google Shape;43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object-oriented programming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uFill>
                  <a:noFill/>
                </a:uFill>
                <a:hlinkClick r:id="rId3"/>
              </a:rPr>
              <a:t>docs.python.org/3/library/stdtypes.html#string-methods</a:t>
            </a:r>
            <a:r>
              <a:rPr lang="en" sz="2700"/>
              <a:t> </a:t>
            </a:r>
            <a:endParaRPr sz="27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8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80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 i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(i &lt; 3)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i++;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9" name="Google Shape;46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8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81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i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(i &lt; 3)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i++;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77" name="Google Shape;47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8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2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 = 0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i &lt; 3: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 +=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5" name="Google Shape;48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8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83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for (int i = 0; i &lt; 3; i++)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3" name="Google Shape;49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8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84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3; i++)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1" name="Google Shape;50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8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85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in [0, 1, 2]: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9" name="Google Shape;50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8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86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in range(3):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7" name="Google Shape;51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8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87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_ in range(3):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5" name="Google Shape;52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8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89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38" name="Google Shape;53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9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90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6" name="Google Shape;54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9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91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True: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4" name="Google Shape;55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truncation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floating-point imprecision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exceptions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9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uFill>
                  <a:noFill/>
                </a:uFill>
                <a:hlinkClick r:id="rId3"/>
              </a:rPr>
              <a:t>docs.python.org/3/library/stdtypes.html#sequence-types-list-tuple-range</a:t>
            </a:r>
            <a:r>
              <a:rPr lang="en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uFill>
                  <a:noFill/>
                </a:uFill>
                <a:hlinkClick r:id="rId3"/>
              </a:rPr>
              <a:t>docs.python.org/3/library/functions.html#len</a:t>
            </a:r>
            <a:r>
              <a:rPr lang="en" sz="3400"/>
              <a:t> </a:t>
            </a:r>
            <a:endParaRPr sz="34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dict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9" name="Google Shape;619;p104"/>
          <p:cNvGraphicFramePr/>
          <p:nvPr/>
        </p:nvGraphicFramePr>
        <p:xfrm>
          <a:off x="952500" y="895375"/>
          <a:ext cx="7239000" cy="3505140"/>
        </p:xfrm>
        <a:graphic>
          <a:graphicData uri="http://schemas.openxmlformats.org/drawingml/2006/table">
            <a:tbl>
              <a:tblPr>
                <a:noFill/>
                <a:tableStyleId>{2399FDDA-3427-4A96-9282-C388DB153586}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uFill>
                  <a:noFill/>
                </a:uFill>
                <a:hlinkClick r:id="rId3"/>
              </a:rPr>
              <a:t>docs.python.org/3/library/stdtypes.html#mapping-types-dict</a:t>
            </a:r>
            <a:endParaRPr sz="25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0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docs.python.org/3/library/sys.html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0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csv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docs.python.org/3/library/csv.html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1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pip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457470-869F-3131-BECA-F5A378ABE6C9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1801</Words>
  <Application>Microsoft Office PowerPoint</Application>
  <PresentationFormat>On-screen Show (16:9)</PresentationFormat>
  <Paragraphs>302</Paragraphs>
  <Slides>94</Slides>
  <Notes>94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7" baseType="lpstr">
      <vt:lpstr>Arial</vt:lpstr>
      <vt:lpstr>Consolas</vt:lpstr>
      <vt:lpstr>Simple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compiled, interpreted</vt:lpstr>
      <vt:lpstr>functions</vt:lpstr>
      <vt:lpstr>PowerPoint Presentation</vt:lpstr>
      <vt:lpstr>PowerPoint Presentation</vt:lpstr>
      <vt:lpstr>PowerPoint Presentation</vt:lpstr>
      <vt:lpstr>PowerPoint Presentation</vt:lpstr>
      <vt:lpstr>libraries</vt:lpstr>
      <vt:lpstr>modules, packages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positional parameters</vt:lpstr>
      <vt:lpstr>named parameters</vt:lpstr>
      <vt:lpstr>docs.python.org</vt:lpstr>
      <vt:lpstr>docs.python.org/3/library/functions.html </vt:lpstr>
      <vt:lpstr>https://docs.python.org/3/library/functions.html#print </vt:lpstr>
      <vt:lpstr>print(*objects, sep=' ', end='\n', file=None, flush=False)</vt:lpstr>
      <vt:lpstr>print(*objects, sep=' ', end='\n', file=None, flush=False)</vt:lpstr>
      <vt:lpstr>print(*objects, sep=' ', end='\n', file=None, flush=False)</vt:lpstr>
      <vt:lpstr>print(*objects, sep=' ', end='\n', file=None, flush=False)</vt:lpstr>
      <vt:lpstr>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</vt:lpstr>
      <vt:lpstr>object-oriented programming</vt:lpstr>
      <vt:lpstr>OOP</vt:lpstr>
      <vt:lpstr>docs.python.org/3/library/stdtypes.html#string-methods </vt:lpstr>
      <vt:lpstr>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truncation</vt:lpstr>
      <vt:lpstr>floating-point imprecision</vt:lpstr>
      <vt:lpstr>exceptions</vt:lpstr>
      <vt:lpstr>PowerPoint Presentation</vt:lpstr>
      <vt:lpstr>PowerPoint Presentation</vt:lpstr>
      <vt:lpstr>PowerPoint Presentation</vt:lpstr>
      <vt:lpstr>list</vt:lpstr>
      <vt:lpstr>docs.python.org/3/library/stdtypes.html#sequence-types-list-tuple-range </vt:lpstr>
      <vt:lpstr>len</vt:lpstr>
      <vt:lpstr>docs.python.org/3/library/functions.html#len </vt:lpstr>
      <vt:lpstr>dict</vt:lpstr>
      <vt:lpstr>PowerPoint Presentation</vt:lpstr>
      <vt:lpstr>docs.python.org/3/library/stdtypes.html#mapping-types-dict</vt:lpstr>
      <vt:lpstr>sys</vt:lpstr>
      <vt:lpstr>docs.python.org/3/library/sys.html </vt:lpstr>
      <vt:lpstr>csv</vt:lpstr>
      <vt:lpstr>docs.python.org/3/library/csv.html </vt:lpstr>
      <vt:lpstr>pip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9</cp:revision>
  <dcterms:modified xsi:type="dcterms:W3CDTF">2025-11-07T13:08:23Z</dcterms:modified>
</cp:coreProperties>
</file>