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0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30" r:id="rId73"/>
    <p:sldId id="331" r:id="rId74"/>
    <p:sldId id="332" r:id="rId75"/>
    <p:sldId id="333" r:id="rId76"/>
    <p:sldId id="334" r:id="rId77"/>
    <p:sldId id="335" r:id="rId78"/>
    <p:sldId id="336" r:id="rId79"/>
    <p:sldId id="337" r:id="rId80"/>
    <p:sldId id="338" r:id="rId81"/>
    <p:sldId id="339" r:id="rId82"/>
    <p:sldId id="340" r:id="rId83"/>
    <p:sldId id="341" r:id="rId84"/>
    <p:sldId id="342" r:id="rId85"/>
    <p:sldId id="343" r:id="rId86"/>
    <p:sldId id="344" r:id="rId87"/>
    <p:sldId id="345" r:id="rId88"/>
    <p:sldId id="346" r:id="rId89"/>
    <p:sldId id="347" r:id="rId90"/>
    <p:sldId id="348" r:id="rId91"/>
    <p:sldId id="349" r:id="rId92"/>
    <p:sldId id="350" r:id="rId93"/>
    <p:sldId id="351" r:id="rId94"/>
    <p:sldId id="352" r:id="rId95"/>
    <p:sldId id="353" r:id="rId96"/>
    <p:sldId id="354" r:id="rId9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399FDDA-3427-4A96-9282-C388DB153586}">
  <a:tblStyle styleId="{2399FDDA-3427-4A96-9282-C388DB15358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443" autoAdjust="0"/>
  </p:normalViewPr>
  <p:slideViewPr>
    <p:cSldViewPr snapToGrid="0">
      <p:cViewPr varScale="1">
        <p:scale>
          <a:sx n="126" d="100"/>
          <a:sy n="126" d="100"/>
        </p:scale>
        <p:origin x="119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say%20%5Bhello%2C%20world%5D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ask%20%5BWhat's%20your%20name%3F%20%5D%20and%20wait%0Asay%20(join%5Bhello%2C%20%5D%20(answer)%0A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set%20%5Bcounter%20v%5D%20to%20(0)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change%20%5Bcounter%20v%5D%20by%20(1)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say%20%5Bx%20is%20less%20than%20y%5D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say%20%5Bx%20is%20less%20than%20y%5D%0Aelse%0Asay%20%5Bx%20is%20not%20less%20than%20y%5D" TargetMode="External"/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say%20%5Bx%20is%20less%20than%20y%5D%0Aelse%0Aif%20%3C(x)%20%3E%20(y)%3E%20then%0Asay%20%5Bx%20is%20greater%20than%20y%5D%0Aelse%0Asay%20%5Bx%20is%20equal%20to%20y%5D" TargetMode="External"/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repeat%20%5B3%5D%0Asay%5Bmeow%5D" TargetMode="External"/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forever%0Asay%5Bmeow%5D" TargetMode="External"/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4119545db0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14119545db0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OMG Python!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-new language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-low level high level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-Ecosystem of packages and popularity...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-continual learning</a:t>
            </a: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64077ea43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64077ea43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Scratch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64077ea43c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64077ea43c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 low level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64077ea43c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64077ea43c_0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Python high level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14119545db0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14119545db0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Running C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14119545db0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14119545db0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Compile, run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4119545db0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4119545db0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Interpreted versus compiled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 command!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</a:t>
            </a:r>
            <a:r>
              <a:rPr lang="en" dirty="0"/>
              <a:t>ossibly compare dictionary.c to dictionary.py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 out blur.py in notes as well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1/hello0.py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6/speller/dictionary.py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6/filter/{blur,edges}.py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0d19c1f350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0d19c1f350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922c153d14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922c153d14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64077ea43c_0_7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64077ea43c_0_7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64077ea43c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64077ea43c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https://scratchblocks.github.io/#?style=scratch3&amp;script=say%20%5Bhello%2C%20world%5D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64077ea43c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64077ea43c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64077ea43c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64077ea43c_0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Better language!!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 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 \n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 </a:t>
            </a:r>
            <a:r>
              <a:rPr lang="en-GB" dirty="0" err="1"/>
              <a:t>printf</a:t>
            </a:r>
            <a:r>
              <a:rPr lang="en-GB" dirty="0"/>
              <a:t>()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922c153d14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922c153d14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MOOAR powerful</a:t>
            </a: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d48d6721ca_1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2d48d6721ca_1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4119545db0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4119545db0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4119545db0_0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4119545db0_0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Brief library</a:t>
            </a: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4119545db0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4119545db0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64077ea43c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64077ea43c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https://scratchblocks.github.io/#?style=scratch3&amp;script=ask%20%5BWhat's%20your%20name%3F%20%5D%20and%20wait%0Asay%20(join%5Bhello%2C%20%5D%20(answer)%0A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64077ea43c_0_6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64077ea43c_0_6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64077ea43c_0_6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64077ea43c_0_6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14119545db0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14119545db0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64077ea43c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64077ea43c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Format string, “</a:t>
            </a:r>
            <a:r>
              <a:rPr lang="en-GB" dirty="0" err="1"/>
              <a:t>fstring</a:t>
            </a:r>
            <a:r>
              <a:rPr lang="en-GB" dirty="0"/>
              <a:t>”</a:t>
            </a: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14119545db0_0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14119545db0_0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hello{1,2,3}.py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922c153d14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922c153d14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“ordered” parameters</a:t>
            </a: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48d6721ca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2d48d6721ca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hello4.py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</a:t>
            </a:r>
            <a:r>
              <a:rPr lang="en" dirty="0"/>
              <a:t>rovide the name of a parameter in the function, and its value</a:t>
            </a:r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48d6721ca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d48d6721ca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d48d6721ca_1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d48d6721ca_1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d48d6721ca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d48d6721ca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48d6721ca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d48d6721ca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d48d6721ca_1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2d48d6721ca_1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48d6721ca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d48d6721ca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48d6721ca_1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d48d6721ca_1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Mention single quotes and double quotes (they are the same in Python)</a:t>
            </a:r>
            <a:endParaRPr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d48d6721ca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2d48d6721ca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922c153d14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922c153d14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https://scratchblocks.github.io/#?style=scratch3&amp;script=set%20%5Bcounter%20v%5D%20to%20(0)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922c153d14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922c153d14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922c153d14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922c153d14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922c153d14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2922c153d14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https://scratchblocks.github.io/#?style=scratch3&amp;script=change%20%5Bcounter%20v%5D%20by%20(1)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922c153d14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922c153d14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922c153d14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922c153d14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922c153d14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2922c153d14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4119545db0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4119545db0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4119545db0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4119545db0_0_3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4119545db0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4119545db0_0_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calculator{0,1}.py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4119545db0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4119545db0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4119545db0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14119545db0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Cs50 c library</a:t>
            </a:r>
            <a:endParaRPr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14119545db0_0_3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14119545db0_0_3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dirty="0"/>
              <a:t>Cs50 python library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14119545db0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14119545db0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14119545db0_0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14119545db0_0_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Or import cs50</a:t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14119545db0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14119545db0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14119545db0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14119545db0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https://scratchblocks.github.io/#?style=scratch3&amp;script=if%20%3C(x)%20%3C%20(y)%3E%20then%0Asay%20%5Bx%20is%20less%20than%20y%5D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4119545db0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4119545db0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4119545db0_0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4119545db0_0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14119545db0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14119545db0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https://scratchblocks.github.io/#?style=scratch3&amp;script=if%20%3C(x)%20%3C%20(y)%3E%20then%0Asay%20%5Bx%20is%20less%20than%20y%5D%0Aelse%0Asay%20%5Bx%20is%20not%20less%20than%20y%5D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4119545db0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14119545db0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14119545db0_0_2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14119545db0_0_2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14119545db0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14119545db0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https://scratchblocks.github.io/#?style=scratch3&amp;script=if%20%3C(x)%20%3C%20(y)%3E%20then%0Asay%20%5Bx%20is%20less%20than%20y%5D%0Aelse%0Aif%20%3C(x)%20%3E%20(y)%3E%20then%0Asay%20%5Bx%20is%20greater%20than%20y%5D%0Aelse%0Asay%20%5Bx%20is%20equal%20to%20y%5D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14119545db0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14119545db0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14119545db0_0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14119545db0_0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1/compare3.py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922c153d14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922c153d14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4/compare.py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1/agree{0,1}.py</a:t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2922c153d14_0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2922c153d14_0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922c153d1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2922c153d1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922c153d1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922c153d1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1/agree2.py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4/copy.py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2/uppercase{0,1}.py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14119545db0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14119545db0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f8035616f9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f8035616f9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https://scratchblocks.github.io/#?style=scratch3&amp;script=repeat%20%5B3%5D%0Asay%5Bmeow%5D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f8035616f9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f8035616f9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f8035616f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f8035616f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f8035616f9_0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f8035616f9_0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f8035616f9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f8035616f9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f8035616f9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f8035616f9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f8035616f9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f8035616f9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29255e19e45_15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29255e19e45_15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2d48d6721ca_1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2d48d6721ca_1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14119545db0_0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14119545db0_0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https://scratchblocks.github.io/#?style=scratch3&amp;script=forever%0Asay%5Bmeow%5D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4119545db0_0_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4119545db0_0_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4119545db0_0_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4119545db0_0_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meow{0,1,2,3,4,5,6}.py</a:t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29255e19e45_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29255e19e45_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calculator2.py, with 1/3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not an issue with /</a:t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14119545db0_0_4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g14119545db0_0_400:notes"/>
          <p:cNvSpPr txBox="1">
            <a:spLocks noGrp="1"/>
          </p:cNvSpPr>
          <p:nvPr>
            <p:ph type="body" idx="1"/>
          </p:nvPr>
        </p:nvSpPr>
        <p:spPr>
          <a:xfrm>
            <a:off x="685800" y="44958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calculator3.py, with 1/3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14119545db0_0_4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14119545db0_0_4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an issue</a:t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2922c153d14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2922c153d14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integer{0,1,2,3,4}.py</a:t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449b298dd1_2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449b298dd1_2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mario{0,1}.py</a:t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449b298dd1_2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449b298dd1_2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mario{2,3}.py</a:t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449b298dd1_2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449b298dd1_2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mario{4,5}.py</a:t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14119545db0_0_5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14119545db0_0_5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14119545db0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14119545db0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14119545db0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14119545db0_0_5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14119545db0_0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7" name="Google Shape;607;g14119545db0_0_5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2/scores{0,1,2}.py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3/phonebook{0,1}.py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922c153d14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2922c153d14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2922c153d14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2922c153d14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2922c153d14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2922c153d14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phonebook{2,3,4}.py</a:t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14119545db0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7" name="Google Shape;627;g14119545db0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14119545db0_0_5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14119545db0_0_5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2/greet{0,1,2}.py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2/exit.py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14119545db0_0_6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14119545db0_0_6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14119545db0_0_6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14119545db0_0_6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4/phonebook{0,1,2}.py</a:t>
            </a: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2922c153d14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2922c153d14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 install cowsay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moo{0,1}.py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 install qrcode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qr.py</a:t>
            </a: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14119545db0_0_5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14119545db0_0_5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#print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tring-methods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equence-types-list-tuple-range" TargetMode="External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#len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mapping-types-dict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ys.html" TargetMode="Externa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sv.html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19475" y="1743075"/>
            <a:ext cx="2305050" cy="165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body" idx="1"/>
          </p:nvPr>
        </p:nvSpPr>
        <p:spPr>
          <a:xfrm>
            <a:off x="2608950" y="1456200"/>
            <a:ext cx="3926100" cy="22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&lt;stdio.h&gt;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main(void)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printf("hello, world\n");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2608950" y="1456200"/>
            <a:ext cx="3926100" cy="22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 world")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make hello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./hello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clang -o hello hello.c -lcs50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./hello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python hello.py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compiled, interpreted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2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5"/>
          <p:cNvSpPr txBox="1"/>
          <p:nvPr/>
        </p:nvSpPr>
        <p:spPr>
          <a:xfrm>
            <a:off x="4724100" y="1959300"/>
            <a:ext cx="33534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printf("hello, world");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19" name="Google Shape;11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2247450"/>
            <a:ext cx="1828800" cy="648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26"/>
          <p:cNvSpPr txBox="1"/>
          <p:nvPr/>
        </p:nvSpPr>
        <p:spPr>
          <a:xfrm>
            <a:off x="3657600" y="1959300"/>
            <a:ext cx="54864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printf("hello, world\n");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27" name="Google Shape;12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2247450"/>
            <a:ext cx="1828800" cy="648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7"/>
          <p:cNvSpPr txBox="1"/>
          <p:nvPr/>
        </p:nvSpPr>
        <p:spPr>
          <a:xfrm>
            <a:off x="4724100" y="1959300"/>
            <a:ext cx="33534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 world")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35" name="Google Shape;13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2247450"/>
            <a:ext cx="1828800" cy="648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libraries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modules, packages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&lt;cs50.h&gt;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import cs50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3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33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string answer = get_string("What's your name?\n");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printf("hello, %s\n", answer);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68" name="Google Shape;16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3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34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string answer = get_string("What's your name? ");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printf("hello, %s\n", answer);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76" name="Google Shape;1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3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35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answer = get_string("What's your name? ")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 " + answer)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84" name="Google Shape;18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3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36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answer = get_string("What's your name? ")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print("hello,", answer)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92" name="Google Shape;19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7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answer = get_string("What's your name? 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print(f"hello, {answer}")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00" name="Google Shape;20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38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38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answer = input("What's your name? 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print(f"hello, {answer}")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08" name="Google Shape;20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positional parameters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named parameters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docs.python.org/3/library/functions.html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uFill>
                  <a:noFill/>
                </a:uFill>
                <a:hlinkClick r:id="rId3"/>
              </a:rPr>
              <a:t>https://docs.python.org/3/library/functions.html#print</a:t>
            </a:r>
            <a:r>
              <a:rPr lang="en" sz="2800"/>
              <a:t> </a:t>
            </a:r>
            <a:endParaRPr sz="2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print(*objects, sep=' ', end='\n',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</a:t>
            </a:r>
            <a:r>
              <a:rPr lang="en" sz="20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*objects</a:t>
            </a: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, sep=' ', end='\n',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print(*objects, </a:t>
            </a:r>
            <a:r>
              <a:rPr lang="en" sz="20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sep=' '</a:t>
            </a: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, end='\n',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print(*objects, sep=' ', </a:t>
            </a:r>
            <a:r>
              <a:rPr lang="en" sz="20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end='\n'</a:t>
            </a: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4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49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int counter = 0;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66" name="Google Shape;26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5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50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counter = 0;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4" name="Google Shape;274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5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5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51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0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82" name="Google Shape;282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5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5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52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counter = counter + 1;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90" name="Google Shape;290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5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53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counter + 1;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98" name="Google Shape;298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5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5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54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counter + 1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06" name="Google Shape;3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5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5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55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+= 1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14" name="Google Shape;314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char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double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range      </a:t>
            </a:r>
            <a:r>
              <a:rPr lang="en">
                <a:solidFill>
                  <a:srgbClr val="000000"/>
                </a:solidFill>
              </a:rPr>
              <a:t>sequence of numbers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list       </a:t>
            </a:r>
            <a:r>
              <a:rPr lang="en">
                <a:solidFill>
                  <a:srgbClr val="000000"/>
                </a:solidFill>
              </a:rPr>
              <a:t>sequence of mutable values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tuple      </a:t>
            </a:r>
            <a:r>
              <a:rPr lang="en">
                <a:solidFill>
                  <a:srgbClr val="000000"/>
                </a:solidFill>
              </a:rPr>
              <a:t>sequence of immutable values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dict       </a:t>
            </a:r>
            <a:r>
              <a:rPr lang="en">
                <a:solidFill>
                  <a:srgbClr val="000000"/>
                </a:solidFill>
              </a:rPr>
              <a:t>collection of key-value pairs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</a:rPr>
              <a:t>collection of unique values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get_char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get_double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get_long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get_float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get_int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get_float, get_int, 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conditionals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6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6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66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72" name="Google Shape;372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824225"/>
            <a:ext cx="2743200" cy="1495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6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67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80" name="Google Shape;380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824225"/>
            <a:ext cx="2743200" cy="1495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68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68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68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x &lt; y: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88" name="Google Shape;388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824225"/>
            <a:ext cx="2743200" cy="1495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6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6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69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not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96" name="Google Shape;396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6200"/>
            <a:ext cx="2743200" cy="2311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7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70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not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04" name="Google Shape;404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6200"/>
            <a:ext cx="2743200" cy="2311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7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7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71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x &lt; y: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not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12" name="Google Shape;412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6200"/>
            <a:ext cx="2743200" cy="2311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7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72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 if (x &gt; y)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greater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equal to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0" name="Google Shape;420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513" y="755825"/>
            <a:ext cx="2610575" cy="363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7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7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73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(x &gt; y)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greater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equal to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8" name="Google Shape;428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513" y="755825"/>
            <a:ext cx="2610575" cy="363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7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7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74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x &lt; y: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elif x &gt; y: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greater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equal to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36" name="Google Shape;436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513" y="755825"/>
            <a:ext cx="2610575" cy="363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7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object-oriented programming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7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OOP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7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uFill>
                  <a:noFill/>
                </a:uFill>
                <a:hlinkClick r:id="rId3"/>
              </a:rPr>
              <a:t>docs.python.org/3/library/stdtypes.html#string-methods</a:t>
            </a:r>
            <a:r>
              <a:rPr lang="en" sz="2700"/>
              <a:t> </a:t>
            </a:r>
            <a:endParaRPr sz="27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7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loops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8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8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80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int i = 0;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while (i &lt; 3)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i++;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69" name="Google Shape;469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8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8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81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i = 0;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while (i &lt; 3)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i++;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77" name="Google Shape;477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8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2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 = 0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while i &lt; 3: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 += 1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85" name="Google Shape;485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8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83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for (int i = 0; i &lt; 3; i++)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93" name="Google Shape;493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8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84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(int i = 0; i &lt; 3; i++)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01" name="Google Shape;501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8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8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85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in [0, 1, 2]: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09" name="Google Shape;509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8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8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86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in range(3):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17" name="Google Shape;517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8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8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87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_ in range(3):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25" name="Google Shape;525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0" name="Google Shape;530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9988" y="152400"/>
            <a:ext cx="4024023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8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8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89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while (true)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38" name="Google Shape;538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49363"/>
            <a:ext cx="1828800" cy="1444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9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9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90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while (true)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46" name="Google Shape;546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49363"/>
            <a:ext cx="1828800" cy="1444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9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9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91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while True: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54" name="Google Shape;554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49363"/>
            <a:ext cx="1828800" cy="1444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9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truncation</a:t>
            </a:r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9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floating-point imprecision</a:t>
            </a:r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integer overflow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9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exceptions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" name="Google Shape;579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4" name="Google Shape;584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9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list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uFill>
                  <a:noFill/>
                </a:uFill>
                <a:hlinkClick r:id="rId3"/>
              </a:rPr>
              <a:t>docs.python.org/3/library/stdtypes.html#sequence-types-list-tuple-range</a:t>
            </a:r>
            <a:r>
              <a:rPr lang="en" sz="2000"/>
              <a:t> </a:t>
            </a:r>
            <a:endParaRPr sz="200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10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len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uFill>
                  <a:noFill/>
                </a:uFill>
                <a:hlinkClick r:id="rId3"/>
              </a:rPr>
              <a:t>docs.python.org/3/library/functions.html#len</a:t>
            </a:r>
            <a:r>
              <a:rPr lang="en" sz="3400"/>
              <a:t> </a:t>
            </a:r>
            <a:endParaRPr sz="340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dict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9" name="Google Shape;619;p104"/>
          <p:cNvGraphicFramePr/>
          <p:nvPr/>
        </p:nvGraphicFramePr>
        <p:xfrm>
          <a:off x="952500" y="89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{2399FDDA-3427-4A96-9282-C388DB153586}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key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value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0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uFill>
                  <a:noFill/>
                </a:uFill>
                <a:hlinkClick r:id="rId3"/>
              </a:rPr>
              <a:t>docs.python.org/3/library/stdtypes.html#mapping-types-dict</a:t>
            </a:r>
            <a:endParaRPr sz="250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0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sys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docs.python.org/3/library/sys.html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csv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0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docs.python.org/3/library/csv.html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pip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57470-869F-3131-BECA-F5A378ABE6C9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1705</Words>
  <Application>Microsoft Office PowerPoint</Application>
  <PresentationFormat>On-screen Show (16:9)</PresentationFormat>
  <Paragraphs>282</Paragraphs>
  <Slides>96</Slides>
  <Notes>96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96</vt:i4>
      </vt:variant>
    </vt:vector>
  </HeadingPairs>
  <TitlesOfParts>
    <vt:vector size="99" baseType="lpstr">
      <vt:lpstr>Arial</vt:lpstr>
      <vt:lpstr>Consolas</vt:lpstr>
      <vt:lpstr>Simple 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compiled, interpreted</vt:lpstr>
      <vt:lpstr>functions</vt:lpstr>
      <vt:lpstr>PowerPoint Presentation</vt:lpstr>
      <vt:lpstr>PowerPoint Presentation</vt:lpstr>
      <vt:lpstr>PowerPoint Presentation</vt:lpstr>
      <vt:lpstr>PowerPoint Presentation</vt:lpstr>
      <vt:lpstr>libraries</vt:lpstr>
      <vt:lpstr>modules, packages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positional parameters</vt:lpstr>
      <vt:lpstr>named parameters</vt:lpstr>
      <vt:lpstr>docs.python.org</vt:lpstr>
      <vt:lpstr>docs.python.org/3/library/functions.html </vt:lpstr>
      <vt:lpstr>https://docs.python.org/3/library/functions.html#print </vt:lpstr>
      <vt:lpstr>print(*objects, sep=' ', end='\n', file=None, flush=False)</vt:lpstr>
      <vt:lpstr>print(*objects, sep=' ', end='\n', file=None, flush=False)</vt:lpstr>
      <vt:lpstr>print(*objects, sep=' ', end='\n', file=None, flush=False)</vt:lpstr>
      <vt:lpstr>print(*objects, sep=' ', end='\n', file=None, flush=False)</vt:lpstr>
      <vt:lpstr>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types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conditionals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str</vt:lpstr>
      <vt:lpstr>object-oriented programming</vt:lpstr>
      <vt:lpstr>OOP</vt:lpstr>
      <vt:lpstr>docs.python.org/3/library/stdtypes.html#string-methods </vt:lpstr>
      <vt:lpstr>loops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truncation</vt:lpstr>
      <vt:lpstr>floating-point imprecision</vt:lpstr>
      <vt:lpstr>integer overflow</vt:lpstr>
      <vt:lpstr>exceptions</vt:lpstr>
      <vt:lpstr>PowerPoint Presentation</vt:lpstr>
      <vt:lpstr>PowerPoint Presentation</vt:lpstr>
      <vt:lpstr>PowerPoint Presentation</vt:lpstr>
      <vt:lpstr>list</vt:lpstr>
      <vt:lpstr>docs.python.org/3/library/stdtypes.html#sequence-types-list-tuple-range </vt:lpstr>
      <vt:lpstr>len</vt:lpstr>
      <vt:lpstr>docs.python.org/3/library/functions.html#len </vt:lpstr>
      <vt:lpstr>dict</vt:lpstr>
      <vt:lpstr>PowerPoint Presentation</vt:lpstr>
      <vt:lpstr>docs.python.org/3/library/stdtypes.html#mapping-types-dict</vt:lpstr>
      <vt:lpstr>sys</vt:lpstr>
      <vt:lpstr>docs.python.org/3/library/sys.html </vt:lpstr>
      <vt:lpstr>csv</vt:lpstr>
      <vt:lpstr>docs.python.org/3/library/csv.html </vt:lpstr>
      <vt:lpstr>pip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7</cp:revision>
  <dcterms:modified xsi:type="dcterms:W3CDTF">2025-11-07T12:39:16Z</dcterms:modified>
</cp:coreProperties>
</file>