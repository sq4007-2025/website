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14"/>
  </p:notesMasterIdLst>
  <p:sldIdLst>
    <p:sldId id="256" r:id="rId3"/>
    <p:sldId id="258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2" r:id="rId18"/>
    <p:sldId id="283" r:id="rId19"/>
    <p:sldId id="284" r:id="rId20"/>
    <p:sldId id="285" r:id="rId21"/>
    <p:sldId id="286" r:id="rId22"/>
    <p:sldId id="287" r:id="rId23"/>
    <p:sldId id="288" r:id="rId24"/>
    <p:sldId id="289" r:id="rId25"/>
    <p:sldId id="291" r:id="rId26"/>
    <p:sldId id="290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4" r:id="rId59"/>
    <p:sldId id="325" r:id="rId60"/>
    <p:sldId id="326" r:id="rId61"/>
    <p:sldId id="327" r:id="rId62"/>
    <p:sldId id="328" r:id="rId63"/>
    <p:sldId id="329" r:id="rId64"/>
    <p:sldId id="330" r:id="rId65"/>
    <p:sldId id="331" r:id="rId66"/>
    <p:sldId id="332" r:id="rId67"/>
    <p:sldId id="333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  <p:sldId id="354" r:id="rId88"/>
    <p:sldId id="355" r:id="rId89"/>
    <p:sldId id="356" r:id="rId90"/>
    <p:sldId id="357" r:id="rId91"/>
    <p:sldId id="358" r:id="rId92"/>
    <p:sldId id="359" r:id="rId93"/>
    <p:sldId id="360" r:id="rId94"/>
    <p:sldId id="361" r:id="rId95"/>
    <p:sldId id="362" r:id="rId96"/>
    <p:sldId id="363" r:id="rId97"/>
    <p:sldId id="364" r:id="rId98"/>
    <p:sldId id="365" r:id="rId99"/>
    <p:sldId id="366" r:id="rId100"/>
    <p:sldId id="367" r:id="rId101"/>
    <p:sldId id="368" r:id="rId102"/>
    <p:sldId id="369" r:id="rId103"/>
    <p:sldId id="370" r:id="rId104"/>
    <p:sldId id="371" r:id="rId105"/>
    <p:sldId id="372" r:id="rId106"/>
    <p:sldId id="373" r:id="rId107"/>
    <p:sldId id="374" r:id="rId108"/>
    <p:sldId id="375" r:id="rId109"/>
    <p:sldId id="376" r:id="rId110"/>
    <p:sldId id="377" r:id="rId111"/>
    <p:sldId id="378" r:id="rId112"/>
    <p:sldId id="379" r:id="rId113"/>
    <p:sldId id="380" r:id="rId114"/>
    <p:sldId id="381" r:id="rId115"/>
    <p:sldId id="382" r:id="rId116"/>
    <p:sldId id="383" r:id="rId117"/>
    <p:sldId id="384" r:id="rId118"/>
    <p:sldId id="385" r:id="rId119"/>
    <p:sldId id="386" r:id="rId120"/>
    <p:sldId id="387" r:id="rId121"/>
    <p:sldId id="388" r:id="rId122"/>
    <p:sldId id="389" r:id="rId123"/>
    <p:sldId id="390" r:id="rId124"/>
    <p:sldId id="391" r:id="rId125"/>
    <p:sldId id="392" r:id="rId126"/>
    <p:sldId id="393" r:id="rId127"/>
    <p:sldId id="394" r:id="rId128"/>
    <p:sldId id="395" r:id="rId129"/>
    <p:sldId id="396" r:id="rId130"/>
    <p:sldId id="397" r:id="rId131"/>
    <p:sldId id="398" r:id="rId132"/>
    <p:sldId id="399" r:id="rId133"/>
    <p:sldId id="400" r:id="rId134"/>
    <p:sldId id="401" r:id="rId135"/>
    <p:sldId id="402" r:id="rId136"/>
    <p:sldId id="403" r:id="rId137"/>
    <p:sldId id="404" r:id="rId138"/>
    <p:sldId id="405" r:id="rId139"/>
    <p:sldId id="406" r:id="rId140"/>
    <p:sldId id="407" r:id="rId141"/>
    <p:sldId id="408" r:id="rId142"/>
    <p:sldId id="409" r:id="rId143"/>
    <p:sldId id="410" r:id="rId144"/>
    <p:sldId id="411" r:id="rId145"/>
    <p:sldId id="412" r:id="rId146"/>
    <p:sldId id="413" r:id="rId147"/>
    <p:sldId id="414" r:id="rId148"/>
    <p:sldId id="415" r:id="rId149"/>
    <p:sldId id="416" r:id="rId150"/>
    <p:sldId id="417" r:id="rId151"/>
    <p:sldId id="418" r:id="rId152"/>
    <p:sldId id="419" r:id="rId153"/>
    <p:sldId id="420" r:id="rId154"/>
    <p:sldId id="421" r:id="rId155"/>
    <p:sldId id="422" r:id="rId156"/>
    <p:sldId id="423" r:id="rId157"/>
    <p:sldId id="424" r:id="rId158"/>
    <p:sldId id="425" r:id="rId159"/>
    <p:sldId id="426" r:id="rId160"/>
    <p:sldId id="427" r:id="rId161"/>
    <p:sldId id="428" r:id="rId162"/>
    <p:sldId id="429" r:id="rId163"/>
    <p:sldId id="430" r:id="rId164"/>
    <p:sldId id="431" r:id="rId165"/>
    <p:sldId id="432" r:id="rId166"/>
    <p:sldId id="433" r:id="rId167"/>
    <p:sldId id="434" r:id="rId168"/>
    <p:sldId id="435" r:id="rId169"/>
    <p:sldId id="436" r:id="rId170"/>
    <p:sldId id="437" r:id="rId171"/>
    <p:sldId id="438" r:id="rId172"/>
    <p:sldId id="439" r:id="rId173"/>
    <p:sldId id="440" r:id="rId174"/>
    <p:sldId id="441" r:id="rId175"/>
    <p:sldId id="442" r:id="rId176"/>
    <p:sldId id="443" r:id="rId177"/>
    <p:sldId id="444" r:id="rId178"/>
    <p:sldId id="445" r:id="rId179"/>
    <p:sldId id="446" r:id="rId180"/>
    <p:sldId id="447" r:id="rId181"/>
    <p:sldId id="448" r:id="rId182"/>
    <p:sldId id="449" r:id="rId183"/>
    <p:sldId id="450" r:id="rId184"/>
    <p:sldId id="451" r:id="rId185"/>
    <p:sldId id="452" r:id="rId186"/>
    <p:sldId id="453" r:id="rId187"/>
    <p:sldId id="454" r:id="rId188"/>
    <p:sldId id="455" r:id="rId189"/>
    <p:sldId id="456" r:id="rId190"/>
    <p:sldId id="457" r:id="rId191"/>
    <p:sldId id="458" r:id="rId192"/>
    <p:sldId id="459" r:id="rId193"/>
    <p:sldId id="460" r:id="rId194"/>
    <p:sldId id="461" r:id="rId195"/>
    <p:sldId id="462" r:id="rId196"/>
    <p:sldId id="463" r:id="rId197"/>
    <p:sldId id="464" r:id="rId198"/>
    <p:sldId id="465" r:id="rId199"/>
    <p:sldId id="466" r:id="rId200"/>
    <p:sldId id="467" r:id="rId201"/>
    <p:sldId id="468" r:id="rId202"/>
    <p:sldId id="469" r:id="rId203"/>
    <p:sldId id="470" r:id="rId204"/>
    <p:sldId id="471" r:id="rId205"/>
    <p:sldId id="472" r:id="rId206"/>
    <p:sldId id="473" r:id="rId207"/>
    <p:sldId id="474" r:id="rId208"/>
    <p:sldId id="475" r:id="rId209"/>
    <p:sldId id="476" r:id="rId210"/>
    <p:sldId id="477" r:id="rId211"/>
    <p:sldId id="478" r:id="rId212"/>
    <p:sldId id="479" r:id="rId2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152C16-7A14-4FC3-AA19-C3280A4AE550}">
  <a:tblStyle styleId="{C2152C16-7A14-4FC3-AA19-C3280A4AE5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849" autoAdjust="0"/>
  </p:normalViewPr>
  <p:slideViewPr>
    <p:cSldViewPr snapToGrid="0">
      <p:cViewPr varScale="1">
        <p:scale>
          <a:sx n="129" d="100"/>
          <a:sy n="129" d="100"/>
        </p:scale>
        <p:origin x="110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viewProps" Target="viewProps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theme" Target="theme/theme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tableStyles" Target="tableStyles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notesMaster" Target="notesMasters/notesMaster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slide" Target="slides/slide177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185" Type="http://schemas.openxmlformats.org/officeDocument/2006/relationships/slide" Target="slides/slide18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80" Type="http://schemas.openxmlformats.org/officeDocument/2006/relationships/slide" Target="slides/slide178.xml"/><Relationship Id="rId210" Type="http://schemas.openxmlformats.org/officeDocument/2006/relationships/slide" Target="slides/slide208.xml"/><Relationship Id="rId215" Type="http://schemas.openxmlformats.org/officeDocument/2006/relationships/presProps" Target="presProps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ZB_EBsnc8c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us/app/contacts/id1069512615#?platform=iphon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intendo.fandom.com/wiki/Nintendo_characters#Mario_series_(including_sub-franchises)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tsy.com/listing/926075105/monopoly-money-vintage-fabric-half-yard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terest.com/pin/525443481522247447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usfca.edu/~galles/visualization/ComparisonSort.html" TargetMode="External"/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ZuD6iUe3Pc" TargetMode="External"/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youtubeeducation.com/watch?v=3WDWH59k1q4" TargetMode="Externa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55ed590c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55ed590c8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0401269f5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0401269f5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https://www.youtube.com/watch?v=cZB_EBsnc8c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55ed590c85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55ed590c85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https://apps.apple.com/us/app/contacts/id1069512615#?platform=iphone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Week 0, intuitive algorithms…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John Harvard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401269f5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401269f5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https://nintendo.fandom.com/wiki/Nintendo_characters#Mario_series_(including_sub-franchises)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0401269f5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0401269f54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0401269f54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0401269f54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0401269f54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0401269f54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0401269f54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0401269f54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55ed590c85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55ed590c85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Google, when data gets big how do we handle it?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155ed590c85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155ed590c85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155ed590c85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155ed590c85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55ed590c85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55ed590c85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layout, contiguous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155ed590c85_0_6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155ed590c85_0_6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Array of numbers – how do computers find a specific number, like “50”?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55ed590c85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55ed590c85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Treat this like little boxes the computer has to “look in”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155ed590c85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155ed590c85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55ed590c85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55ed590c85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5ed590c85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55ed590c85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155ed590c85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155ed590c85_0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155ed590c85_0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155ed590c85_0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155ed590c85_0_3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155ed590c85_0_3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155ed590c85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155ed590c85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https://www.etsy.com/listing/926075105/monopoly-money-vintage-fabric-half-yard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155ed590c85_0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155ed590c85_0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55ed590c85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55ed590c85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Sear one at a time in order, in  a “linear” fashion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20  500  10  </a:t>
            </a:r>
            <a:r>
              <a:rPr lang="en" dirty="0"/>
              <a:t>5  100  </a:t>
            </a:r>
            <a:r>
              <a:rPr lang="en" dirty="0">
                <a:solidFill>
                  <a:schemeClr val="dk1"/>
                </a:solidFill>
              </a:rPr>
              <a:t>1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endParaRPr b="1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155ed590c85_0_7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155ed590c85_0_7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155ed590c8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155ed590c8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155ed590c85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155ed590c85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155ed590c85_0_7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155ed590c85_0_7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https://www.pinterest.com/pin/525443481522247447/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55ed590c85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55ed590c85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-numbers sorted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- </a:t>
            </a:r>
            <a:r>
              <a:rPr lang="en-GB" dirty="0">
                <a:solidFill>
                  <a:schemeClr val="dk1"/>
                </a:solidFill>
              </a:rPr>
              <a:t>S</a:t>
            </a:r>
            <a:r>
              <a:rPr lang="en" dirty="0">
                <a:solidFill>
                  <a:schemeClr val="dk1"/>
                </a:solidFill>
              </a:rPr>
              <a:t>tart in midles, move higher or lower, goto next middle door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1  5  10  20  </a:t>
            </a:r>
            <a:r>
              <a:rPr lang="en" b="1" dirty="0">
                <a:solidFill>
                  <a:schemeClr val="dk1"/>
                </a:solidFill>
              </a:rPr>
              <a:t>50</a:t>
            </a:r>
            <a:r>
              <a:rPr lang="en" dirty="0">
                <a:solidFill>
                  <a:schemeClr val="dk1"/>
                </a:solidFill>
              </a:rPr>
              <a:t>  100  500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5ed590c85_0_6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155ed590c85_0_6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55ed590c85_0_6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55ed590c85_0_6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55ed590c85_0_6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155ed590c85_0_6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155ed590c85_0_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155ed590c85_0_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9976d39bb8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9976d39bb8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Measure of algorithm “efficiency”</a:t>
            </a:r>
            <a:endParaRPr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9976d39bb8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9976d39bb8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9976d39bb8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9976d39bb8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9976d39bb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9976d39bb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O for on the “order” of this many steps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9976d39bb8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9976d39bb8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Whole constants usually dropped because they are similar in shape and magnitude</a:t>
            </a: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9976d39bb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9976d39bb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9976d39bb8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9976d39bb8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Zoomed out you see the pattern</a:t>
            </a:r>
            <a:endParaRPr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155ed590c85_0_8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155ed590c85_0_8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“big O notation”</a:t>
            </a:r>
            <a:endParaRPr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9976d39bb8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9976d39bb8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</a:t>
            </a:r>
            <a:r>
              <a:rPr lang="en" dirty="0"/>
              <a:t>ist of possibilities (amongst others)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linear? binary?</a:t>
            </a:r>
            <a:endParaRPr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155ed590c85_0_8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155ed590c85_0_8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search is worst case scenario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155ed590c85_0_8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155ed590c85_0_8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Binary much faster (by an order of magnitude)</a:t>
            </a:r>
            <a:endParaRPr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99ff46a780_26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99ff46a780_26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Omega is lower bound of algorithm</a:t>
            </a:r>
            <a:endParaRPr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9976d39bb8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9976d39bb8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linear? binary?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9976d39bb8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9976d39bb8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155ed590c85_0_7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155ed590c85_0_7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155ed590c85_0_8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155ed590c85_0_8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Big theta when big O and big omega are the same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-are there algorithms where this is true...?</a:t>
            </a:r>
            <a:endParaRPr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155ed590c85_0_8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155ed590c85_0_8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There are some situations when this is true, possibly we will eventually encounter some</a:t>
            </a:r>
            <a:endParaRPr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0427bc4c1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0427bc4c1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r>
              <a:rPr lang="en-US" dirty="0"/>
              <a:t>Asymptotic notation is a mathematical way to </a:t>
            </a:r>
            <a:r>
              <a:rPr lang="en-US" b="1" dirty="0"/>
              <a:t>describe the efficiency of algorithms</a:t>
            </a:r>
            <a:r>
              <a:rPr lang="en-US" dirty="0"/>
              <a:t>, especially how their </a:t>
            </a:r>
            <a:r>
              <a:rPr lang="en-US" b="1" dirty="0"/>
              <a:t>running time or space requirements grow</a:t>
            </a:r>
            <a:r>
              <a:rPr lang="en-US" dirty="0"/>
              <a:t> as the </a:t>
            </a:r>
            <a:r>
              <a:rPr lang="en-US" b="1" dirty="0"/>
              <a:t>input size (n)</a:t>
            </a:r>
            <a:r>
              <a:rPr lang="en-US" dirty="0"/>
              <a:t> becomes large.</a:t>
            </a:r>
          </a:p>
          <a:p>
            <a:r>
              <a:rPr lang="en-US" dirty="0"/>
              <a:t>In the context of </a:t>
            </a:r>
            <a:r>
              <a:rPr lang="en-US" b="1" dirty="0"/>
              <a:t>search algorithms</a:t>
            </a:r>
            <a:r>
              <a:rPr lang="en-US" dirty="0"/>
              <a:t> (like linear search, binary search, etc.), asymptotic notation helps us compare how fast or slow algorithms are — not in exact seconds, but in terms of </a:t>
            </a:r>
            <a:r>
              <a:rPr lang="en-US" b="1" dirty="0"/>
              <a:t>how they scale</a:t>
            </a:r>
            <a:r>
              <a:rPr lang="en-US" dirty="0"/>
              <a:t> with data size.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55ed590c85_0_8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55ed590c85_0_8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search{0,1}.c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283063c11d6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283063c11d6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string.h</a:t>
            </a:r>
            <a:r>
              <a:rPr lang="en-US" dirty="0"/>
              <a:t> library in C provides functions for handling and manipulating strings, such as copying, concatenation, comparison, and finding string length.</a:t>
            </a:r>
            <a:endParaRPr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283063c11d6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283063c11d6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83063c11d6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1" name="Google Shape;531;g283063c11d6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phonebook0.c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The </a:t>
            </a:r>
            <a:r>
              <a:rPr lang="en-US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strcmp</a:t>
            </a:r>
            <a:r>
              <a:rPr lang="en-US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()</a:t>
            </a:r>
            <a:r>
              <a:rPr lang="en-US" dirty="0"/>
              <a:t> function compares two strings character by character and returns 0 if they are equal, a positive value if the first is greater, or a negative value if the first is smaller.</a:t>
            </a:r>
            <a:endParaRPr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99ff46a780_26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99ff46a780_26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615cd08c5b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615cd08c5b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61549dec78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61549dec78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61549dec78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61549dec78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283063c11d6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283063c11d6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phonebook1.c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a way to save phonebook eventually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156ad5d3783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156ad5d3783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615bc47d73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615bc47d73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615bc47d73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615bc47d73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615bc47d73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615bc47d73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61648c258e_9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61648c258e_9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0401269f54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30401269f54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0401269f54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0401269f54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b="1" dirty="0"/>
          </a:p>
          <a:p>
            <a:r>
              <a:rPr lang="en-US" dirty="0"/>
              <a:t>Bubble sort is a simple sorting algorithm that repeatedly steps through a list, compares adjacent elements, and swaps them if they are in the wrong order, continuing until no more swaps are needed.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615bc47d73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615bc47d73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 dirty="0">
                <a:solidFill>
                  <a:schemeClr val="dk1"/>
                </a:solidFill>
              </a:rPr>
              <a:t> </a:t>
            </a:r>
            <a:endParaRPr dirty="0">
              <a:solidFill>
                <a:schemeClr val="dk1"/>
              </a:solidFill>
            </a:endParaRPr>
          </a:p>
          <a:p>
            <a:endParaRPr lang="en-US" dirty="0"/>
          </a:p>
          <a:p>
            <a:r>
              <a:rPr lang="en-US" dirty="0"/>
              <a:t>Selection sort is a simple sorting algorithm that repeatedly selects the smallest (or largest) element from the unsorted portion of a list and swaps it with the first unsorted element until the entire list is sorted.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edc48ccb89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edc48ccb89_2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edc48ccb89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edc48ccb89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155ed590c85_0_8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155ed590c85_0_8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g30427bc4c1c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Google Shape;641;g30427bc4c1c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0427bc4c1c_3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30427bc4c1c_3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30427bc4c1c_3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5" name="Google Shape;655;g30427bc4c1c_3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0427bc4c1c_3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30427bc4c1c_3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0427bc4c1c_3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30427bc4c1c_3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0427bc4c1c_3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30427bc4c1c_3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0427bc4c1c_3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30427bc4c1c_3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0427bc4c1c_3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30427bc4c1c_3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0427bc4c1c_3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0427bc4c1c_3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30427bc4c1c_3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30427bc4c1c_3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30427bc4c1c_3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30427bc4c1c_3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61648c258e_9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61648c258e_9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61648c258e_9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61648c258e_9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155ed590c85_0_7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155ed590c85_0_7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61648c258e_9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61648c258e_9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61648c258e_9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61648c258e_9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g61648c258e_9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1" name="Google Shape;751;g61648c258e_9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61648c258e_9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6" name="Google Shape;756;g61648c258e_9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61648c258e_9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1" name="Google Shape;761;g61648c258e_9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615cd08c5b_0_6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6" name="Google Shape;766;g615cd08c5b_0_6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615cd08c5b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615cd08c5b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61648c258e_9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61648c258e_9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about lower bound?</a:t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155ed590c85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155ed590c85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615cd08c5b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615cd08c5b_0_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615cd08c5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8" name="Google Shape;798;g615cd08c5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edc48ccb8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edc48ccb8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edc48ccb89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edc48ccb89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9976d39bb8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9976d39bb8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0401269f54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0401269f54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0401269f54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0401269f54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0401269f54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30401269f54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155ed590c85_0_7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155ed590c85_0_7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30401269f54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30401269f54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0401269f54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30401269f54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0401269f54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7" name="Google Shape;857;g30401269f54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0401269f54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30401269f54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30401269f54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30401269f54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30401269f54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30401269f54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30401269f54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30401269f54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0401269f54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0401269f54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30401269f5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30401269f5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30401269f54_0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30401269f54_0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30401269f54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30401269f54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30401269f54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30401269f54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0401269f54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30401269f54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30401269f54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30401269f54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0427bc4c1c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9" name="Google Shape;929;g30427bc4c1c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0401269f54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30401269f54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30401269f5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30401269f5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30401269f5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30401269f5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30401269f54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0" name="Google Shape;950;g30401269f54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30401269f54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30401269f54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30401269f54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30401269f54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9976d39bb8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9976d39bb8_0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g9976d39bb8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0" name="Google Shape;970;g9976d39bb8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9976d39bb8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5" name="Google Shape;975;g9976d39bb8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9976d39bb8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0" name="Google Shape;980;g9976d39bb8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g9976d39bb8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5" name="Google Shape;985;g9976d39bb8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9976d39bb8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0" name="Google Shape;990;g9976d39bb8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g155ed590c85_0_7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5" name="Google Shape;995;g155ed590c85_0_7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9976d39bb8_0_2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9976d39bb8_0_2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9976d39bb8_0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9976d39bb8_0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9976d39bb8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9976d39bb8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615cd08dea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615cd08dea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edc48ccb89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edc48ccb89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gedc48ccb89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5" name="Google Shape;1025;gedc48ccb89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g9976d39bb8_0_2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0" name="Google Shape;1030;g9976d39bb8_0_2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9976d39bb8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9976d39bb8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g9976d39bb8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0" name="Google Shape;1040;g9976d39bb8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g9976d39bb8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5" name="Google Shape;1045;g9976d39bb8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9976d39bb8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" name="Google Shape;1050;g9976d39bb8_0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g615cd08c5b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5" name="Google Shape;1055;g615cd08c5b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http://ian-albert.com/games/super_mario_bros_maps/</a:t>
            </a: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g615cd08c5b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0" name="Google Shape;1060;g615cd08c5b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iteration.c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615cd08c5b_0_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615cd08c5b_0_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g615cd08c5b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0" name="Google Shape;1070;g615cd08c5b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615cd08c5b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5" name="Google Shape;1075;g615cd08c5b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Google Shape;1079;g615cd08c5b_0_3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0" name="Google Shape;1080;g615cd08c5b_0_3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recursion.c</a:t>
            </a: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155ed590c85_0_7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5" name="Google Shape;1085;g155ed590c85_0_7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9976d39bb8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9976d39bb8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615bc47d73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615bc47d73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9976d39bb8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0" name="Google Shape;1100;g9976d39bb8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9976d39bb8_0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Google Shape;1105;g9976d39bb8_0_3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f0f81ef8e0_4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f0f81ef8e0_4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shelves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g9976d39bb8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" name="Google Shape;1115;g9976d39bb8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https://www.cs.usfca.edu/~galles/visualization/ComparisonSort.html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83063c11d6_0_10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83063c11d6_0_10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shelves</a:t>
            </a: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g283063c11d6_0_9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5" name="Google Shape;1125;g283063c11d6_0_9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283063c11d6_0_9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0" name="Google Shape;1130;g283063c11d6_0_9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g283063c11d6_0_9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5" name="Google Shape;1135;g283063c11d6_0_9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g283063c11d6_0_9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1" name="Google Shape;1141;g283063c11d6_0_9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283063c11d6_0_9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283063c11d6_0_9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283063c11d6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283063c11d6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g283063c11d6_0_10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5" name="Google Shape;1165;g283063c11d6_0_10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283063c11d6_0_10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283063c11d6_0_10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g283063c11d6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0" name="Google Shape;1180;g283063c11d6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g283063c11d6_0_5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8" name="Google Shape;1188;g283063c11d6_0_5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283063c11d6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283063c11d6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g283063c11d6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7" name="Google Shape;1207;g283063c11d6_0_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283063c11d6_0_6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283063c11d6_0_6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g283063c11d6_0_6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4" name="Google Shape;1224;g283063c11d6_0_6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g283063c11d6_0_6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2" name="Google Shape;1232;g283063c11d6_0_6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283063c11d6_0_6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0" name="Google Shape;1240;g283063c11d6_0_6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g283063c11d6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7" name="Google Shape;1247;g283063c11d6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83063c11d6_0_5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83063c11d6_0_5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283063c11d6_0_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283063c11d6_0_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283063c11d6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8" name="Google Shape;1268;g283063c11d6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83063c11d6_0_7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83063c11d6_0_7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Google Shape;1286;g283063c11d6_0_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7" name="Google Shape;1287;g283063c11d6_0_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283063c11d6_0_7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283063c11d6_0_7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g283063c11d6_0_7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4" name="Google Shape;1304;g283063c11d6_0_7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283063c11d6_0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283063c11d6_0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Google Shape;1322;g283063c11d6_0_7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3" name="Google Shape;1323;g283063c11d6_0_7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1333;g283063c11d6_0_8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4" name="Google Shape;1334;g283063c11d6_0_8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Google Shape;1343;g283063c11d6_0_8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4" name="Google Shape;1344;g283063c11d6_0_8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83063c11d6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83063c11d6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Google Shape;1361;g283063c11d6_0_8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2" name="Google Shape;1362;g283063c11d6_0_8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283063c11d6_0_8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283063c11d6_0_8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283063c11d6_0_8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283063c11d6_0_8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g283063c11d6_0_8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6" name="Google Shape;1386;g283063c11d6_0_8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g283063c11d6_0_8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3" name="Google Shape;1393;g283063c11d6_0_8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g283063c11d6_0_8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0" name="Google Shape;1400;g283063c11d6_0_8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Google Shape;1406;g283063c11d6_0_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7" name="Google Shape;1407;g283063c11d6_0_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Google Shape;1413;g283063c11d6_0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" name="Google Shape;1414;g283063c11d6_0_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g283063c11d6_0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1" name="Google Shape;1421;g283063c11d6_0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g283063c11d6_0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8" name="Google Shape;1428;g283063c11d6_0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g283063c11d6_0_9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4" name="Google Shape;1434;g283063c11d6_0_9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283063c11d6_0_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283063c11d6_0_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Google Shape;1443;g615cd08c5b_0_7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4" name="Google Shape;1444;g615cd08c5b_0_7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g283063c11d6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9" name="Google Shape;1449;g283063c11d6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Google Shape;1467;g283c13df276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8" name="Google Shape;1468;g283c13df276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g283063c11d6_0_1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7" name="Google Shape;1487;g283063c11d6_0_1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g283063c11d6_0_1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2" name="Google Shape;1492;g283063c11d6_0_1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g283063c11d6_0_1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" name="Google Shape;1497;g283063c11d6_0_1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283063c11d6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2" name="Google Shape;1502;g283063c11d6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30401269f54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30401269f54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oogle Shape;1525;g283063c11d6_0_1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6" name="Google Shape;1526;g283063c11d6_0_1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283063c11d6_0_1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283063c11d6_0_1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g615cd08c5b_0_7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6" name="Google Shape;1536;g615cd08c5b_0_7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Google Shape;1540;g615cd08c5b_0_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1" name="Google Shape;1541;g615cd08c5b_0_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g615cd08c5b_24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6" name="Google Shape;1546;g615cd08c5b_24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Google Shape;1550;g615cd08c5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1" name="Google Shape;1551;g615cd08c5b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Source: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https://www.youtube.com/watch?v=ZZuD6iUe3Pc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4"/>
              </a:rPr>
              <a:t>https://www.youtubeeducation.com/watch?v=3WDWH59k1q4</a:t>
            </a:r>
            <a:r>
              <a:rPr lang="en" dirty="0"/>
              <a:t> </a:t>
            </a:r>
            <a:endParaRPr dirty="0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g155ed590c85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6" name="Google Shape;1556;g155ed590c85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Reload codespace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Uncheck VS Code tabs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lt2"/>
                </a:solidFill>
              </a:defRPr>
            </a:lvl1pPr>
            <a:lvl2pPr lvl="1" algn="r" rtl="0">
              <a:buNone/>
              <a:defRPr sz="1000">
                <a:solidFill>
                  <a:schemeClr val="lt2"/>
                </a:solidFill>
              </a:defRPr>
            </a:lvl2pPr>
            <a:lvl3pPr lvl="2" algn="r" rtl="0">
              <a:buNone/>
              <a:defRPr sz="1000">
                <a:solidFill>
                  <a:schemeClr val="lt2"/>
                </a:solidFill>
              </a:defRPr>
            </a:lvl3pPr>
            <a:lvl4pPr lvl="3" algn="r" rtl="0">
              <a:buNone/>
              <a:defRPr sz="1000">
                <a:solidFill>
                  <a:schemeClr val="lt2"/>
                </a:solidFill>
              </a:defRPr>
            </a:lvl4pPr>
            <a:lvl5pPr lvl="4" algn="r" rtl="0">
              <a:buNone/>
              <a:defRPr sz="1000">
                <a:solidFill>
                  <a:schemeClr val="lt2"/>
                </a:solidFill>
              </a:defRPr>
            </a:lvl5pPr>
            <a:lvl6pPr lvl="5" algn="r" rtl="0">
              <a:buNone/>
              <a:defRPr sz="1000">
                <a:solidFill>
                  <a:schemeClr val="lt2"/>
                </a:solidFill>
              </a:defRPr>
            </a:lvl6pPr>
            <a:lvl7pPr lvl="6" algn="r" rtl="0">
              <a:buNone/>
              <a:defRPr sz="1000">
                <a:solidFill>
                  <a:schemeClr val="lt2"/>
                </a:solidFill>
              </a:defRPr>
            </a:lvl7pPr>
            <a:lvl8pPr lvl="7" algn="r" rtl="0">
              <a:buNone/>
              <a:defRPr sz="1000">
                <a:solidFill>
                  <a:schemeClr val="lt2"/>
                </a:solidFill>
              </a:defRPr>
            </a:lvl8pPr>
            <a:lvl9pPr lvl="8" algn="r" rtl="0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manual.cs50.io/#string.h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4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recursion" TargetMode="External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3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13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0.xml"/><Relationship Id="rId2" Type="http://schemas.openxmlformats.org/officeDocument/2006/relationships/slideLayout" Target="../slideLayouts/slideLayout11.xml"/><Relationship Id="rId1" Type="http://schemas.openxmlformats.org/officeDocument/2006/relationships/video" Target="https://www.youtube.com/embed/ZZuD6iUe3Pc?feature=oembed" TargetMode="External"/><Relationship Id="rId4" Type="http://schemas.openxmlformats.org/officeDocument/2006/relationships/image" Target="../media/image20.jpeg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a dinosaur with a rubber duck on it&#10;&#10;AI-generated content may be incorrect.">
            <a:extLst>
              <a:ext uri="{FF2B5EF4-FFF2-40B4-BE49-F238E27FC236}">
                <a16:creationId xmlns:a16="http://schemas.microsoft.com/office/drawing/2014/main" id="{EF4096DE-E53F-0D7C-4D0D-1B3971195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650" y="1297400"/>
            <a:ext cx="2548700" cy="2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8"/>
          <p:cNvPicPr preferRelativeResize="0"/>
          <p:nvPr/>
        </p:nvPicPr>
        <p:blipFill rotWithShape="1">
          <a:blip r:embed="rId3">
            <a:alphaModFix/>
          </a:blip>
          <a:srcRect t="6516" b="14965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9"/>
          <p:cNvPicPr preferRelativeResize="0"/>
          <p:nvPr/>
        </p:nvPicPr>
        <p:blipFill rotWithShape="1">
          <a:blip r:embed="rId3">
            <a:alphaModFix/>
          </a:blip>
          <a:srcRect t="10741" b="10741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0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41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89" name="Google Shape;189;p41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602134" cy="483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2"/>
          <p:cNvSpPr txBox="1"/>
          <p:nvPr/>
        </p:nvSpPr>
        <p:spPr>
          <a:xfrm>
            <a:off x="3158292" y="196875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/2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6" name="Google Shape;196;p42"/>
          <p:cNvSpPr txBox="1"/>
          <p:nvPr/>
        </p:nvSpPr>
        <p:spPr>
          <a:xfrm>
            <a:off x="2400098" y="205078"/>
            <a:ext cx="6564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  <p:sp>
        <p:nvSpPr>
          <p:cNvPr id="197" name="Google Shape;197;p42"/>
          <p:cNvSpPr txBox="1"/>
          <p:nvPr/>
        </p:nvSpPr>
        <p:spPr>
          <a:xfrm>
            <a:off x="7254138" y="2851275"/>
            <a:ext cx="11766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log</a:t>
            </a:r>
            <a:r>
              <a:rPr lang="en" sz="2400" baseline="-25000">
                <a:solidFill>
                  <a:srgbClr val="FFFFFF"/>
                </a:solidFill>
                <a:highlight>
                  <a:srgbClr val="000000"/>
                </a:highlight>
              </a:rPr>
              <a:t>2</a:t>
            </a:r>
            <a:r>
              <a:rPr lang="en" sz="2400">
                <a:solidFill>
                  <a:srgbClr val="FFFFFF"/>
                </a:solidFill>
                <a:highlight>
                  <a:srgbClr val="000000"/>
                </a:highlight>
              </a:rPr>
              <a:t> </a:t>
            </a:r>
            <a:r>
              <a:rPr lang="en" sz="2400" i="1">
                <a:solidFill>
                  <a:srgbClr val="FFFFFF"/>
                </a:solidFill>
                <a:highlight>
                  <a:srgbClr val="000000"/>
                </a:highlight>
              </a:rPr>
              <a:t>n</a:t>
            </a:r>
            <a:endParaRPr sz="2400" i="1">
              <a:solidFill>
                <a:srgbClr val="FFFFFF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6669275" y="-2362200"/>
            <a:ext cx="18288026" cy="10287000"/>
          </a:xfrm>
          <a:prstGeom prst="rect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208" name="Google Shape;208;p44"/>
          <p:cNvCxnSpPr/>
          <p:nvPr/>
        </p:nvCxnSpPr>
        <p:spPr>
          <a:xfrm>
            <a:off x="55626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9" name="Google Shape;209;p44"/>
          <p:cNvCxnSpPr/>
          <p:nvPr/>
        </p:nvCxnSpPr>
        <p:spPr>
          <a:xfrm>
            <a:off x="3657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0" name="Google Shape;210;p44"/>
          <p:cNvCxnSpPr/>
          <p:nvPr/>
        </p:nvCxnSpPr>
        <p:spPr>
          <a:xfrm>
            <a:off x="45720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1" name="Google Shape;211;p44"/>
          <p:cNvCxnSpPr/>
          <p:nvPr/>
        </p:nvCxnSpPr>
        <p:spPr>
          <a:xfrm>
            <a:off x="41148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44"/>
          <p:cNvCxnSpPr/>
          <p:nvPr/>
        </p:nvCxnSpPr>
        <p:spPr>
          <a:xfrm>
            <a:off x="5038725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44"/>
          <p:cNvCxnSpPr/>
          <p:nvPr/>
        </p:nvCxnSpPr>
        <p:spPr>
          <a:xfrm>
            <a:off x="3886200" y="91440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44"/>
          <p:cNvCxnSpPr/>
          <p:nvPr/>
        </p:nvCxnSpPr>
        <p:spPr>
          <a:xfrm>
            <a:off x="43434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44"/>
          <p:cNvCxnSpPr/>
          <p:nvPr/>
        </p:nvCxnSpPr>
        <p:spPr>
          <a:xfrm>
            <a:off x="480060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44"/>
          <p:cNvCxnSpPr/>
          <p:nvPr/>
        </p:nvCxnSpPr>
        <p:spPr>
          <a:xfrm>
            <a:off x="5295520" y="923850"/>
            <a:ext cx="0" cy="329580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44"/>
          <p:cNvCxnSpPr/>
          <p:nvPr/>
        </p:nvCxnSpPr>
        <p:spPr>
          <a:xfrm>
            <a:off x="3638550" y="9318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8" name="Google Shape;218;p44"/>
          <p:cNvCxnSpPr/>
          <p:nvPr/>
        </p:nvCxnSpPr>
        <p:spPr>
          <a:xfrm>
            <a:off x="3638550" y="25622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9" name="Google Shape;219;p44"/>
          <p:cNvCxnSpPr/>
          <p:nvPr/>
        </p:nvCxnSpPr>
        <p:spPr>
          <a:xfrm>
            <a:off x="3638550" y="4210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44"/>
          <p:cNvCxnSpPr/>
          <p:nvPr/>
        </p:nvCxnSpPr>
        <p:spPr>
          <a:xfrm>
            <a:off x="3638550" y="17621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44"/>
          <p:cNvCxnSpPr/>
          <p:nvPr/>
        </p:nvCxnSpPr>
        <p:spPr>
          <a:xfrm>
            <a:off x="3638550" y="21622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44"/>
          <p:cNvCxnSpPr/>
          <p:nvPr/>
        </p:nvCxnSpPr>
        <p:spPr>
          <a:xfrm>
            <a:off x="3638550" y="13430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44"/>
          <p:cNvCxnSpPr/>
          <p:nvPr/>
        </p:nvCxnSpPr>
        <p:spPr>
          <a:xfrm>
            <a:off x="3638550" y="11335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4" name="Google Shape;224;p44"/>
          <p:cNvCxnSpPr/>
          <p:nvPr/>
        </p:nvCxnSpPr>
        <p:spPr>
          <a:xfrm>
            <a:off x="3638550" y="155263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44"/>
          <p:cNvCxnSpPr/>
          <p:nvPr/>
        </p:nvCxnSpPr>
        <p:spPr>
          <a:xfrm>
            <a:off x="3638550" y="1962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6" name="Google Shape;226;p44"/>
          <p:cNvCxnSpPr/>
          <p:nvPr/>
        </p:nvCxnSpPr>
        <p:spPr>
          <a:xfrm>
            <a:off x="3638550" y="2371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" name="Google Shape;227;p44"/>
          <p:cNvCxnSpPr/>
          <p:nvPr/>
        </p:nvCxnSpPr>
        <p:spPr>
          <a:xfrm>
            <a:off x="3638550" y="33957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44"/>
          <p:cNvCxnSpPr/>
          <p:nvPr/>
        </p:nvCxnSpPr>
        <p:spPr>
          <a:xfrm>
            <a:off x="3638550" y="37958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9" name="Google Shape;229;p44"/>
          <p:cNvCxnSpPr/>
          <p:nvPr/>
        </p:nvCxnSpPr>
        <p:spPr>
          <a:xfrm>
            <a:off x="3638550" y="29957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0" name="Google Shape;230;p44"/>
          <p:cNvCxnSpPr/>
          <p:nvPr/>
        </p:nvCxnSpPr>
        <p:spPr>
          <a:xfrm>
            <a:off x="3638550" y="27671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44"/>
          <p:cNvCxnSpPr/>
          <p:nvPr/>
        </p:nvCxnSpPr>
        <p:spPr>
          <a:xfrm>
            <a:off x="3638550" y="318621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44"/>
          <p:cNvCxnSpPr/>
          <p:nvPr/>
        </p:nvCxnSpPr>
        <p:spPr>
          <a:xfrm>
            <a:off x="3638550" y="3595788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3" name="Google Shape;233;p44"/>
          <p:cNvCxnSpPr/>
          <p:nvPr/>
        </p:nvCxnSpPr>
        <p:spPr>
          <a:xfrm>
            <a:off x="3638550" y="4005363"/>
            <a:ext cx="1943100" cy="0"/>
          </a:xfrm>
          <a:prstGeom prst="straightConnector1">
            <a:avLst/>
          </a:prstGeom>
          <a:noFill/>
          <a:ln w="28575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8" name="Google Shape;238;p4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3" name="Google Shape;243;p4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8" name="Google Shape;248;p47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5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500</a:t>
                      </a:r>
                      <a:endParaRPr sz="45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3" name="Google Shape;253;p48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4" name="Google Shape;254;p48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48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48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48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48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48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48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49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[4]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[5]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[6]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6" name="Google Shape;266;p49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49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49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9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49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49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49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searching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52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96" name="Google Shape;296;p52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53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53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4" name="Google Shape;304;p53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05" name="Google Shape;305;p53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53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53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53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53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53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53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675" y="2436988"/>
            <a:ext cx="1961949" cy="3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54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54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 </a:t>
            </a:r>
            <a:r>
              <a:rPr lang="en" sz="2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 sz="2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" name="Google Shape;319;p54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320" name="Google Shape;320;p54"/>
          <p:cNvSpPr/>
          <p:nvPr/>
        </p:nvSpPr>
        <p:spPr>
          <a:xfrm>
            <a:off x="4258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54"/>
          <p:cNvSpPr/>
          <p:nvPr/>
        </p:nvSpPr>
        <p:spPr>
          <a:xfrm>
            <a:off x="7115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54"/>
          <p:cNvSpPr/>
          <p:nvPr/>
        </p:nvSpPr>
        <p:spPr>
          <a:xfrm>
            <a:off x="9782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54"/>
          <p:cNvSpPr/>
          <p:nvPr/>
        </p:nvSpPr>
        <p:spPr>
          <a:xfrm>
            <a:off x="12640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54"/>
          <p:cNvSpPr/>
          <p:nvPr/>
        </p:nvSpPr>
        <p:spPr>
          <a:xfrm>
            <a:off x="153074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54"/>
          <p:cNvSpPr/>
          <p:nvPr/>
        </p:nvSpPr>
        <p:spPr>
          <a:xfrm>
            <a:off x="18164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54"/>
          <p:cNvSpPr/>
          <p:nvPr/>
        </p:nvSpPr>
        <p:spPr>
          <a:xfrm>
            <a:off x="2083191" y="2578511"/>
            <a:ext cx="36000" cy="36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</a:t>
            </a:r>
            <a:endParaRPr/>
          </a:p>
        </p:txBody>
      </p:sp>
      <p:sp>
        <p:nvSpPr>
          <p:cNvPr id="332" name="Google Shape;332;p55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000250"/>
            <a:ext cx="9144002" cy="9144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Else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rPr>
              <a:t>        Return false</a:t>
            </a:r>
            <a:endParaRPr>
              <a:solidFill>
                <a:srgbClr val="FF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each door from left to right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50 is behind doors[i]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Return false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0750" y="1333500"/>
            <a:ext cx="4762500" cy="24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binary search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50 is behind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&lt;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doors[0] through doors[middle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50 &gt; doors[middle]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Search doors[middle + 1] through doors[n - 1]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408" name="Google Shape;408;p70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09" name="Google Shape;409;p70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71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6" name="Google Shape;416;p71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17" name="Google Shape;417;p71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  <p:sp>
        <p:nvSpPr>
          <p:cNvPr id="418" name="Google Shape;418;p71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</a:t>
            </a:r>
            <a:r>
              <a:rPr lang="en" sz="2400"/>
              <a:t>)</a:t>
            </a:r>
            <a:endParaRPr sz="2400"/>
          </a:p>
        </p:txBody>
      </p:sp>
      <p:sp>
        <p:nvSpPr>
          <p:cNvPr id="419" name="Google Shape;419;p71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/>
              <a:t>O</a:t>
            </a:r>
            <a:r>
              <a:rPr lang="en" sz="2400"/>
              <a:t>(</a:t>
            </a:r>
            <a:r>
              <a:rPr lang="en" sz="2400">
                <a:solidFill>
                  <a:srgbClr val="FFFFFF"/>
                </a:solidFill>
              </a:rPr>
              <a:t>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/>
              <a:t>)</a:t>
            </a:r>
            <a:endParaRPr sz="24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Google Shape;424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72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6" name="Google Shape;426;p72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27" name="Google Shape;427;p72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8" name="Google Shape;428;p72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/2)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29" name="Google Shape;429;p72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Google Shape;43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73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6" name="Google Shape;436;p73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37" name="Google Shape;437;p73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8" name="Google Shape;438;p73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39" name="Google Shape;439;p73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2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1536"/>
            <a:ext cx="6400798" cy="3600451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74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6" name="Google Shape;446;p74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47" name="Google Shape;447;p74"/>
          <p:cNvSpPr txBox="1"/>
          <p:nvPr/>
        </p:nvSpPr>
        <p:spPr>
          <a:xfrm>
            <a:off x="17526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8" name="Google Shape;448;p74"/>
          <p:cNvSpPr txBox="1"/>
          <p:nvPr/>
        </p:nvSpPr>
        <p:spPr>
          <a:xfrm>
            <a:off x="2552700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49" name="Google Shape;449;p74"/>
          <p:cNvSpPr txBox="1"/>
          <p:nvPr/>
        </p:nvSpPr>
        <p:spPr>
          <a:xfrm>
            <a:off x="7772400" y="23337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5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5" name="Google Shape;455;p75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456" name="Google Shape;456;p75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457" name="Google Shape;457;p75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458" name="Google Shape;45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i="1"/>
              <a:t>O</a:t>
            </a:r>
            <a:endParaRPr sz="6000" i="1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7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7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r>
              <a:rPr lang="en">
                <a:solidFill>
                  <a:schemeClr val="dk1"/>
                </a:solidFill>
              </a:rPr>
              <a:t>        </a:t>
            </a:r>
            <a:r>
              <a:rPr lang="en">
                <a:solidFill>
                  <a:srgbClr val="666666"/>
                </a:solidFill>
              </a:rPr>
              <a:t>binary 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8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Ω</a:t>
            </a:r>
            <a:endParaRPr sz="60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8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8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r>
              <a:rPr lang="en">
                <a:solidFill>
                  <a:srgbClr val="666666"/>
                </a:solidFill>
              </a:rPr>
              <a:t>linear search, binary search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8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Θ</a:t>
            </a:r>
            <a:endParaRPr sz="60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8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asymptotic notation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8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search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8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string.h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8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uFill>
                  <a:noFill/>
                </a:uFill>
                <a:hlinkClick r:id="rId3"/>
              </a:rPr>
              <a:t>manual.cs50.io/#string.h</a:t>
            </a:r>
            <a:endParaRPr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strcmp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 people[]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9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9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sorting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97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97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0" name="Google Shape;570;p97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98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98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77" name="Google Shape;577;p98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99"/>
          <p:cNvSpPr txBox="1"/>
          <p:nvPr/>
        </p:nvSpPr>
        <p:spPr>
          <a:xfrm>
            <a:off x="479547" y="2195550"/>
            <a:ext cx="27300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unsorted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84" name="Google Shape;584;p99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100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00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1" name="Google Shape;591;p100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sorted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01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01"/>
          <p:cNvSpPr txBox="1"/>
          <p:nvPr/>
        </p:nvSpPr>
        <p:spPr>
          <a:xfrm>
            <a:off x="0" y="2195550"/>
            <a:ext cx="32094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599" name="Google Shape;599;p101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600" name="Google Shape;600;p101"/>
          <p:cNvSpPr txBox="1"/>
          <p:nvPr/>
        </p:nvSpPr>
        <p:spPr>
          <a:xfrm>
            <a:off x="164425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7 2 5 4 1 6 0 3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1" name="Google Shape;601;p101"/>
          <p:cNvSpPr txBox="1"/>
          <p:nvPr/>
        </p:nvSpPr>
        <p:spPr>
          <a:xfrm>
            <a:off x="6691151" y="2358150"/>
            <a:ext cx="2220300" cy="4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0 1 2 3 4 5 6 7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7C30E6-BDB4-B935-E1F3-462B3FE951A4}"/>
              </a:ext>
            </a:extLst>
          </p:cNvPr>
          <p:cNvSpPr txBox="1"/>
          <p:nvPr/>
        </p:nvSpPr>
        <p:spPr>
          <a:xfrm>
            <a:off x="2765503" y="1226633"/>
            <a:ext cx="27494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tx1"/>
                </a:solidFill>
              </a:rPr>
              <a:t>bubble sort</a:t>
            </a:r>
            <a:endParaRPr lang="en-GB" sz="3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selection sort</a:t>
            </a:r>
            <a:endParaRPr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1" name="Google Shape;621;p105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2" name="Google Shape;622;p105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105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05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05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105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105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105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0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08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0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09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09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1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8" name="Google Shape;658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9" name="Google Shape;659;p110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0" name="Google Shape;660;p110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7" name="Google Shape;667;p111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8" name="Google Shape;668;p111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11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4" name="Google Shape;674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5" name="Google Shape;675;p112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6" name="Google Shape;676;p112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1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2" name="Google Shape;682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p113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p113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p114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p114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1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</a:t>
            </a:r>
            <a:r>
              <a:rPr lang="en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8" name="Google Shape;698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9" name="Google Shape;699;p115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0" name="Google Shape;700;p115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1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6" name="Google Shape;706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7" name="Google Shape;707;p116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8" name="Google Shape;708;p116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1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4" name="Google Shape;714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5" name="Google Shape;715;p117"/>
          <p:cNvSpPr txBox="1"/>
          <p:nvPr/>
        </p:nvSpPr>
        <p:spPr>
          <a:xfrm>
            <a:off x="1559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6" name="Google Shape;716;p117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2  5  4  1  6  7  3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2" name="Google Shape;722;p118"/>
          <p:cNvSpPr txBox="1"/>
          <p:nvPr/>
        </p:nvSpPr>
        <p:spPr>
          <a:xfrm>
            <a:off x="2321328" y="2980675"/>
            <a:ext cx="6987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3" name="Google Shape;723;p118"/>
          <p:cNvSpPr txBox="1"/>
          <p:nvPr/>
        </p:nvSpPr>
        <p:spPr>
          <a:xfrm>
            <a:off x="6802697" y="2980675"/>
            <a:ext cx="8223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[n-1]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1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+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2)</a:t>
            </a:r>
            <a:r>
              <a:rPr lang="en">
                <a:solidFill>
                  <a:schemeClr val="dk1"/>
                </a:solidFill>
              </a:rPr>
              <a:t> + 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– 3)</a:t>
            </a:r>
            <a:r>
              <a:rPr lang="en">
                <a:solidFill>
                  <a:srgbClr val="FFFFFF"/>
                </a:solidFill>
              </a:rPr>
              <a:t> + ...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1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 n)/2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1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/2 –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/2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1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2) +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3) + ...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 n)/2</a:t>
            </a:r>
            <a:endParaRPr i="1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/2 – 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/2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1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1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chemeClr val="dk1"/>
                </a:solidFill>
              </a:rPr>
              <a:t>O</a:t>
            </a:r>
            <a:r>
              <a:rPr lang="en" dirty="0">
                <a:solidFill>
                  <a:schemeClr val="dk1"/>
                </a:solidFill>
              </a:rPr>
              <a:t>(</a:t>
            </a:r>
            <a:r>
              <a:rPr lang="en" i="1" dirty="0">
                <a:solidFill>
                  <a:schemeClr val="dk1"/>
                </a:solidFill>
              </a:rPr>
              <a:t>n</a:t>
            </a:r>
            <a:r>
              <a:rPr lang="en" baseline="30000" dirty="0">
                <a:solidFill>
                  <a:schemeClr val="dk1"/>
                </a:solidFill>
              </a:rPr>
              <a:t>2</a:t>
            </a:r>
            <a:r>
              <a:rPr lang="en" dirty="0">
                <a:solidFill>
                  <a:schemeClr val="dk1"/>
                </a:solidFill>
              </a:rPr>
              <a:t>)             </a:t>
            </a:r>
            <a:r>
              <a:rPr lang="en" dirty="0">
                <a:solidFill>
                  <a:srgbClr val="666666"/>
                </a:solidFill>
              </a:rPr>
              <a:t>selection sort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 log 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</a:t>
            </a:r>
            <a:endParaRPr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              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rgbClr val="FFFFFF"/>
                </a:solidFill>
              </a:rPr>
              <a:t>O</a:t>
            </a:r>
            <a:r>
              <a:rPr lang="en" dirty="0">
                <a:solidFill>
                  <a:srgbClr val="FFFFFF"/>
                </a:solidFill>
              </a:rPr>
              <a:t>(log </a:t>
            </a:r>
            <a:r>
              <a:rPr lang="en" i="1" dirty="0">
                <a:solidFill>
                  <a:srgbClr val="FFFFFF"/>
                </a:solidFill>
              </a:rPr>
              <a:t>n</a:t>
            </a:r>
            <a:r>
              <a:rPr lang="en" dirty="0">
                <a:solidFill>
                  <a:srgbClr val="FFFFFF"/>
                </a:solidFill>
              </a:rPr>
              <a:t>)        </a:t>
            </a:r>
            <a:endParaRPr dirty="0"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1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from 0 to 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Find smallest number between numbers[i] and numbers[n-1]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Swap smallest number with numbers[i]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83" name="Google Shape;783;p130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84" name="Google Shape;784;p130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130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130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130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130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9" name="Google Shape;789;p130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130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1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1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selection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1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bubble sort</a:t>
            </a:r>
            <a:endParaRPr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0" name="Google Shape;820;p136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[0]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...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[n-3]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[n-2]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[n-1]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21" name="Google Shape;821;p136"/>
          <p:cNvSpPr/>
          <p:nvPr/>
        </p:nvSpPr>
        <p:spPr>
          <a:xfrm>
            <a:off x="66332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136"/>
          <p:cNvSpPr/>
          <p:nvPr/>
        </p:nvSpPr>
        <p:spPr>
          <a:xfrm>
            <a:off x="1842774" y="249420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136"/>
          <p:cNvSpPr/>
          <p:nvPr/>
        </p:nvSpPr>
        <p:spPr>
          <a:xfrm>
            <a:off x="298882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136"/>
          <p:cNvSpPr/>
          <p:nvPr/>
        </p:nvSpPr>
        <p:spPr>
          <a:xfrm>
            <a:off x="4168275" y="2513250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136"/>
          <p:cNvSpPr/>
          <p:nvPr/>
        </p:nvSpPr>
        <p:spPr>
          <a:xfrm>
            <a:off x="525782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136"/>
          <p:cNvSpPr/>
          <p:nvPr/>
        </p:nvSpPr>
        <p:spPr>
          <a:xfrm>
            <a:off x="6437274" y="250372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136"/>
          <p:cNvSpPr/>
          <p:nvPr/>
        </p:nvSpPr>
        <p:spPr>
          <a:xfrm>
            <a:off x="7583325" y="2522775"/>
            <a:ext cx="117000" cy="1170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7  2  5  4  1  6  0  3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8" name="Google Shape;848;p140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1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p141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p1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2  7  5  4  1  6  0  3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p142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143"/>
          <p:cNvSpPr txBox="1"/>
          <p:nvPr/>
        </p:nvSpPr>
        <p:spPr>
          <a:xfrm>
            <a:off x="228872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1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2  5  7  4  1  6  0  3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2" name="Google Shape;872;p144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1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8" name="Google Shape;878;p145"/>
          <p:cNvSpPr txBox="1"/>
          <p:nvPr/>
        </p:nvSpPr>
        <p:spPr>
          <a:xfrm>
            <a:off x="3036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2  5  4  7  1  6  0  3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4" name="Google Shape;884;p146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0" name="Google Shape;890;p147"/>
          <p:cNvSpPr txBox="1"/>
          <p:nvPr/>
        </p:nvSpPr>
        <p:spPr>
          <a:xfrm>
            <a:off x="3798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2  5  4  1  7  6  0  3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p148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4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p149"/>
          <p:cNvSpPr txBox="1"/>
          <p:nvPr/>
        </p:nvSpPr>
        <p:spPr>
          <a:xfrm>
            <a:off x="456005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15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2  5  4  1  6  7  0  3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8" name="Google Shape;908;p150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4" name="Google Shape;914;p151"/>
          <p:cNvSpPr txBox="1"/>
          <p:nvPr/>
        </p:nvSpPr>
        <p:spPr>
          <a:xfrm>
            <a:off x="5303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5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2  5  4  1  6  0  7  3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0" name="Google Shape;920;p152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5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6" name="Google Shape;926;p153"/>
          <p:cNvSpPr txBox="1"/>
          <p:nvPr/>
        </p:nvSpPr>
        <p:spPr>
          <a:xfrm>
            <a:off x="6065875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1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2  5  4  1  6  0  3  7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2" name="Google Shape;932;p154"/>
          <p:cNvSpPr txBox="1"/>
          <p:nvPr/>
        </p:nvSpPr>
        <p:spPr>
          <a:xfrm>
            <a:off x="1544900" y="2980676"/>
            <a:ext cx="1653900" cy="5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[i]  [i+1]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1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p1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1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4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16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 × 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1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– 1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1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 – 2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+ 1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1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66666"/>
                </a:solidFill>
              </a:rPr>
              <a:t>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 × (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1)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– 1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 baseline="30000">
                <a:solidFill>
                  <a:srgbClr val="666666"/>
                </a:solidFill>
              </a:rPr>
              <a:t>2</a:t>
            </a:r>
            <a:r>
              <a:rPr lang="en">
                <a:solidFill>
                  <a:srgbClr val="666666"/>
                </a:solidFill>
              </a:rPr>
              <a:t> – 2</a:t>
            </a:r>
            <a:r>
              <a:rPr lang="en" i="1">
                <a:solidFill>
                  <a:srgbClr val="666666"/>
                </a:solidFill>
              </a:rPr>
              <a:t>n</a:t>
            </a:r>
            <a:r>
              <a:rPr lang="en">
                <a:solidFill>
                  <a:srgbClr val="666666"/>
                </a:solidFill>
              </a:rPr>
              <a:t> + 1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 baseline="30000">
                <a:solidFill>
                  <a:srgbClr val="FFFFFF"/>
                </a:solidFill>
              </a:rPr>
              <a:t>2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6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1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Google Shape;997;p1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1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Repeat n-1 times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For i from 0 to n-2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If numbers[i] and numbers[i+1] out of order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Swap them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no swaps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1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1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r>
              <a:rPr lang="en">
                <a:solidFill>
                  <a:srgbClr val="666666"/>
                </a:solidFill>
              </a:rPr>
              <a:t>bubble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17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recursion</a:t>
            </a:r>
            <a:endParaRPr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1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left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Search right half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17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no doors left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false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number behind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true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&lt;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number &gt; middle door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174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Go back to line 3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p175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Open to middle of left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Open to middle of right half of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p176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Open to middle of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</a:t>
            </a:r>
            <a:r>
              <a:rPr lang="en" sz="2200">
                <a:solidFill>
                  <a:srgbClr val="FFFFFF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Go back to line 3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177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    </a:t>
            </a:r>
            <a:r>
              <a:rPr lang="en" sz="22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12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13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178"/>
          <p:cNvSpPr txBox="1">
            <a:spLocks noGrp="1"/>
          </p:cNvSpPr>
          <p:nvPr>
            <p:ph type="body" idx="1"/>
          </p:nvPr>
        </p:nvSpPr>
        <p:spPr>
          <a:xfrm>
            <a:off x="311700" y="287850"/>
            <a:ext cx="8520600" cy="45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   Pick up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  Open to middle of phone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   Look at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   If person is on page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       Call person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6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earlier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7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left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8   Else if </a:t>
            </a:r>
            <a:r>
              <a:rPr lang="en" sz="22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is later in book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      </a:t>
            </a:r>
            <a:r>
              <a:rPr lang="en" sz="22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Search right half of book</a:t>
            </a:r>
            <a:endParaRPr sz="2200"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10  Else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11      Quit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7" name="Google Shape;1057;p1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2" name="Google Shape;1062;p1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7" name="Google Shape;1067;p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2" name="Google Shape;1072;p1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7" name="Google Shape;1077;p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2" name="Google Shape;1082;p1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p18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google.com/search?q=recursion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1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merge sort</a:t>
            </a:r>
            <a:endParaRPr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8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1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Merge sorted halves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p18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left half of 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Sort right half of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1  3  4  6        0  2  5  7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p1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only one number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Quit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left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Sort right half of numbers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Merge sorted halves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19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6  3  4  1  5  2  7  0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27" name="Google Shape;1127;p19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2" name="Google Shape;1132;p19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" name="Google Shape;1137;p19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38" name="Google Shape;1138;p19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43" name="Google Shape;1143;p19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19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45" name="Google Shape;1145;p19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0" name="Google Shape;1150;p19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1" name="Google Shape;1151;p19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2" name="Google Shape;1152;p19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3" name="Google Shape;1153;p197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8" name="Google Shape;1158;p19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59" name="Google Shape;1159;p19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0" name="Google Shape;1160;p19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1" name="Google Shape;1161;p198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2" name="Google Shape;1162;p198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7" name="Google Shape;1167;p19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8" name="Google Shape;1168;p19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69" name="Google Shape;1169;p199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0" name="Google Shape;1170;p199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5" name="Google Shape;1175;p20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20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7" name="Google Shape;1177;p200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2" name="Google Shape;1182;p20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3" name="Google Shape;1183;p20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4" name="Google Shape;1184;p20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5" name="Google Shape;1185;p20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0" name="Google Shape;1190;p20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1" name="Google Shape;1191;p20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2" name="Google Shape;1192;p202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3" name="Google Shape;1193;p202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4" name="Google Shape;1194;p202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9" name="Google Shape;1199;p20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0" name="Google Shape;1200;p20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1" name="Google Shape;1201;p203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2" name="Google Shape;1202;p203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203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203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09" name="Google Shape;1209;p20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0" name="Google Shape;1210;p20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1" name="Google Shape;1211;p204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2" name="Google Shape;1212;p204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3" name="Google Shape;1213;p204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Google Shape;1218;p20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19" name="Google Shape;1219;p20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0" name="Google Shape;1220;p20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1" name="Google Shape;1221;p20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6" name="Google Shape;1226;p20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7" name="Google Shape;1227;p20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8" name="Google Shape;1228;p20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9" name="Google Shape;1229;p20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4" name="Google Shape;1234;p20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5" name="Google Shape;1235;p20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6" name="Google Shape;1236;p207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7" name="Google Shape;1237;p207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2" name="Google Shape;1242;p20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3" name="Google Shape;1243;p20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44" name="Google Shape;1244;p208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49" name="Google Shape;1249;p20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20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5" name="Google Shape;1255;p21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6" name="Google Shape;1256;p21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7" name="Google Shape;1257;p21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62" name="Google Shape;1262;p21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3" name="Google Shape;1263;p21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4" name="Google Shape;1264;p21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65" name="Google Shape;1265;p21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0" name="Google Shape;1270;p21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1" name="Google Shape;1271;p21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2" name="Google Shape;1272;p21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3" name="Google Shape;1273;p21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212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9" name="Google Shape;1279;p21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0" name="Google Shape;1280;p21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1" name="Google Shape;1281;p21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2" name="Google Shape;1282;p213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3" name="Google Shape;1283;p213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84" name="Google Shape;1284;p213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89" name="Google Shape;1289;p21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0" name="Google Shape;1290;p21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1" name="Google Shape;1291;p21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2" name="Google Shape;1292;p214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3" name="Google Shape;1293;p214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8" name="Google Shape;1298;p21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9" name="Google Shape;1299;p21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0" name="Google Shape;1300;p21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1" name="Google Shape;1301;p21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6" name="Google Shape;1306;p21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7" name="Google Shape;1307;p21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8" name="Google Shape;1308;p21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9" name="Google Shape;1309;p21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0" name="Google Shape;1310;p21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15" name="Google Shape;1315;p21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6" name="Google Shape;1316;p21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7" name="Google Shape;1317;p21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8" name="Google Shape;1318;p217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19" name="Google Shape;1319;p217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0" name="Google Shape;1320;p217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5" name="Google Shape;1325;p21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6" name="Google Shape;1326;p21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7" name="Google Shape;1327;p21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8" name="Google Shape;1328;p218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9" name="Google Shape;1329;p218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0" name="Google Shape;1330;p218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1" name="Google Shape;1331;p218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36" name="Google Shape;1336;p21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7" name="Google Shape;1337;p21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8" name="Google Shape;1338;p21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9" name="Google Shape;1339;p219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0" name="Google Shape;1340;p219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1" name="Google Shape;1341;p219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6" name="Google Shape;1346;p22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7" name="Google Shape;1347;p22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8" name="Google Shape;1348;p22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49" name="Google Shape;1349;p220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0" name="Google Shape;1350;p220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5" name="Google Shape;1355;p22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6" name="Google Shape;1356;p22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7" name="Google Shape;1357;p22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8" name="Google Shape;1358;p22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59" name="Google Shape;1359;p22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4" name="Google Shape;1364;p22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5" name="Google Shape;1365;p222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222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7" name="Google Shape;1367;p222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68" name="Google Shape;1368;p222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3" name="Google Shape;1373;p22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4" name="Google Shape;1374;p223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5" name="Google Shape;1375;p223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76" name="Google Shape;1376;p223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1" name="Google Shape;1381;p224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2" name="Google Shape;1382;p224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224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8" name="Google Shape;1388;p22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89" name="Google Shape;1389;p22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0" name="Google Shape;1390;p22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5" name="Google Shape;1395;p22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6" name="Google Shape;1396;p22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97" name="Google Shape;1397;p22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2" name="Google Shape;1402;p227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3" name="Google Shape;1403;p227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04" name="Google Shape;1404;p227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9" name="Google Shape;1409;p228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0" name="Google Shape;1410;p228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1" name="Google Shape;1411;p228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16" name="Google Shape;1416;p229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7" name="Google Shape;1417;p229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18" name="Google Shape;1418;p229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23" name="Google Shape;1423;p230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4" name="Google Shape;1424;p230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25" name="Google Shape;1425;p230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0" name="Google Shape;1430;p23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31" name="Google Shape;1431;p23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36" name="Google Shape;1436;p232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1" name="Google Shape;1441;p233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Google Shape;1446;p2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1" name="Google Shape;1451;p235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2" name="Google Shape;1452;p235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3" name="Google Shape;1453;p235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4" name="Google Shape;1454;p235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5" name="Google Shape;1455;p235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6" name="Google Shape;1456;p235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7" name="Google Shape;1457;p235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8" name="Google Shape;1458;p235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59" name="Google Shape;1459;p235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0" name="Google Shape;1460;p235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1" name="Google Shape;1461;p235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2" name="Google Shape;1462;p235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3" name="Google Shape;1463;p235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4" name="Google Shape;1464;p235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65" name="Google Shape;1465;p235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0" name="Google Shape;1470;p236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1" name="Google Shape;1471;p236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2" name="Google Shape;1472;p236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3" name="Google Shape;1473;p236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4" name="Google Shape;1474;p236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5" name="Google Shape;1475;p236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6" name="Google Shape;1476;p236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7" name="Google Shape;1477;p236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8" name="Google Shape;1478;p236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79" name="Google Shape;1479;p236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0" name="Google Shape;1480;p236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1" name="Google Shape;1481;p236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2" name="Google Shape;1482;p236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3" name="Google Shape;1483;p236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84" name="Google Shape;1484;p236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p2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p2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8</a:t>
            </a:r>
            <a:endParaRPr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2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</a:t>
            </a:r>
            <a:r>
              <a:rPr lang="en" baseline="-25000"/>
              <a:t>2</a:t>
            </a:r>
            <a:r>
              <a:rPr lang="en"/>
              <a:t> 2</a:t>
            </a:r>
            <a:r>
              <a:rPr lang="en" baseline="30000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2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 baseline="3000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09" name="Google Shape;1509;p241"/>
          <p:cNvGraphicFramePr/>
          <p:nvPr/>
        </p:nvGraphicFramePr>
        <p:xfrm>
          <a:off x="3040600" y="777175"/>
          <a:ext cx="30628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0" name="Google Shape;1510;p241"/>
          <p:cNvGraphicFramePr/>
          <p:nvPr/>
        </p:nvGraphicFramePr>
        <p:xfrm>
          <a:off x="15092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1" name="Google Shape;1511;p241"/>
          <p:cNvGraphicFramePr/>
          <p:nvPr/>
        </p:nvGraphicFramePr>
        <p:xfrm>
          <a:off x="7435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2" name="Google Shape;1512;p241"/>
          <p:cNvGraphicFramePr/>
          <p:nvPr/>
        </p:nvGraphicFramePr>
        <p:xfrm>
          <a:off x="3606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3" name="Google Shape;1513;p241"/>
          <p:cNvGraphicFramePr/>
          <p:nvPr/>
        </p:nvGraphicFramePr>
        <p:xfrm>
          <a:off x="15092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4" name="Google Shape;1514;p241"/>
          <p:cNvGraphicFramePr/>
          <p:nvPr/>
        </p:nvGraphicFramePr>
        <p:xfrm>
          <a:off x="30406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5" name="Google Shape;1515;p241"/>
          <p:cNvGraphicFramePr/>
          <p:nvPr/>
        </p:nvGraphicFramePr>
        <p:xfrm>
          <a:off x="26577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6" name="Google Shape;1516;p241"/>
          <p:cNvGraphicFramePr/>
          <p:nvPr/>
        </p:nvGraphicFramePr>
        <p:xfrm>
          <a:off x="38063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7" name="Google Shape;1517;p241"/>
          <p:cNvGraphicFramePr/>
          <p:nvPr/>
        </p:nvGraphicFramePr>
        <p:xfrm>
          <a:off x="6103400" y="1664875"/>
          <a:ext cx="15314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8" name="Google Shape;1518;p241"/>
          <p:cNvGraphicFramePr/>
          <p:nvPr/>
        </p:nvGraphicFramePr>
        <p:xfrm>
          <a:off x="53377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19" name="Google Shape;1519;p241"/>
          <p:cNvGraphicFramePr/>
          <p:nvPr/>
        </p:nvGraphicFramePr>
        <p:xfrm>
          <a:off x="49548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0" name="Google Shape;1520;p241"/>
          <p:cNvGraphicFramePr/>
          <p:nvPr/>
        </p:nvGraphicFramePr>
        <p:xfrm>
          <a:off x="61034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1" name="Google Shape;1521;p241"/>
          <p:cNvGraphicFramePr/>
          <p:nvPr/>
        </p:nvGraphicFramePr>
        <p:xfrm>
          <a:off x="7634800" y="2590925"/>
          <a:ext cx="76570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2" name="Google Shape;1522;p241"/>
          <p:cNvGraphicFramePr/>
          <p:nvPr/>
        </p:nvGraphicFramePr>
        <p:xfrm>
          <a:off x="725195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23" name="Google Shape;1523;p241"/>
          <p:cNvGraphicFramePr/>
          <p:nvPr/>
        </p:nvGraphicFramePr>
        <p:xfrm>
          <a:off x="8400500" y="3631025"/>
          <a:ext cx="382850" cy="731490"/>
        </p:xfrm>
        <a:graphic>
          <a:graphicData uri="http://schemas.openxmlformats.org/drawingml/2006/table">
            <a:tbl>
              <a:tblPr>
                <a:noFill/>
                <a:tableStyleId>{C2152C16-7A14-4FC3-AA19-C3280A4AE550}</a:tableStyleId>
              </a:tblPr>
              <a:tblGrid>
                <a:gridCol w="3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3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3600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2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</a:t>
            </a:r>
            <a:r>
              <a:rPr lang="en" baseline="-25000"/>
              <a:t>2</a:t>
            </a:r>
            <a:r>
              <a:rPr lang="en"/>
              <a:t>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2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n</a:t>
            </a:r>
            <a:r>
              <a:rPr lang="en"/>
              <a:t> log </a:t>
            </a:r>
            <a:r>
              <a:rPr lang="en" i="1"/>
              <a:t>n</a:t>
            </a:r>
            <a:endParaRPr i="1" baseline="3000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2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2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Ω(log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Ω(1)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2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</a:t>
            </a:r>
            <a:r>
              <a:rPr lang="en">
                <a:solidFill>
                  <a:srgbClr val="666666"/>
                </a:solidFill>
              </a:rPr>
              <a:t>merge sort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Θ(log 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)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Θ(1)              </a:t>
            </a: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title="Visualization and Comparison of Sorting Algorithms">
            <a:hlinkClick r:id="" action="ppaction://media"/>
            <a:extLst>
              <a:ext uri="{FF2B5EF4-FFF2-40B4-BE49-F238E27FC236}">
                <a16:creationId xmlns:a16="http://schemas.microsoft.com/office/drawing/2014/main" id="{74A5D13D-5094-F3FB-2487-91CE580324A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1920" y="95883"/>
            <a:ext cx="8869680" cy="50109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F8A318-5D23-47ED-41E1-E0EE2A7A5CA5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3990</Words>
  <Application>Microsoft Office PowerPoint</Application>
  <PresentationFormat>On-screen Show (16:9)</PresentationFormat>
  <Paragraphs>1250</Paragraphs>
  <Slides>211</Slides>
  <Notes>211</Notes>
  <HiddenSlides>2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211</vt:i4>
      </vt:variant>
    </vt:vector>
  </HeadingPairs>
  <TitlesOfParts>
    <vt:vector size="215" baseType="lpstr">
      <vt:lpstr>Arial</vt:lpstr>
      <vt:lpstr>Consolas</vt:lpstr>
      <vt:lpstr>Simple Dark</vt:lpstr>
      <vt:lpstr>Simple 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searching</vt:lpstr>
      <vt:lpstr>PowerPoint Presentation</vt:lpstr>
      <vt:lpstr>PowerPoint Presentation</vt:lpstr>
      <vt:lpstr>PowerPoint Presentation</vt:lpstr>
      <vt:lpstr>algorithm</vt:lpstr>
      <vt:lpstr>PowerPoint Presentation</vt:lpstr>
      <vt:lpstr>PowerPoint Presentation</vt:lpstr>
      <vt:lpstr>linear search</vt:lpstr>
      <vt:lpstr>PowerPoint Presentation</vt:lpstr>
      <vt:lpstr>PowerPoint Presentation</vt:lpstr>
      <vt:lpstr>PowerPoint Presentation</vt:lpstr>
      <vt:lpstr>PowerPoint Presentation</vt:lpstr>
      <vt:lpstr>binary search</vt:lpstr>
      <vt:lpstr>PowerPoint Presentation</vt:lpstr>
      <vt:lpstr>PowerPoint Presentation</vt:lpstr>
      <vt:lpstr>PowerPoint Presentation</vt:lpstr>
      <vt:lpstr>PowerPoint Presentation</vt:lpstr>
      <vt:lpstr>running time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</vt:lpstr>
      <vt:lpstr>PowerPoint Presentation</vt:lpstr>
      <vt:lpstr>PowerPoint Presentation</vt:lpstr>
      <vt:lpstr>PowerPoint Presentation</vt:lpstr>
      <vt:lpstr>Ω</vt:lpstr>
      <vt:lpstr>PowerPoint Presentation</vt:lpstr>
      <vt:lpstr>PowerPoint Presentation</vt:lpstr>
      <vt:lpstr>PowerPoint Presentation</vt:lpstr>
      <vt:lpstr>Θ</vt:lpstr>
      <vt:lpstr>PowerPoint Presentation</vt:lpstr>
      <vt:lpstr>asymptotic notation</vt:lpstr>
      <vt:lpstr>linear search</vt:lpstr>
      <vt:lpstr>string.h</vt:lpstr>
      <vt:lpstr>manual.cs50.io/#string.h</vt:lpstr>
      <vt:lpstr>strcmp</vt:lpstr>
      <vt:lpstr>data structures</vt:lpstr>
      <vt:lpstr>PowerPoint Presentation</vt:lpstr>
      <vt:lpstr>PowerPoint Presentation</vt:lpstr>
      <vt:lpstr>PowerPoint Presentation</vt:lpstr>
      <vt:lpstr>PowerPoint Presentation</vt:lpstr>
      <vt:lpstr>sorting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7  2  5  4  1  6  0  3</vt:lpstr>
      <vt:lpstr>selection sort</vt:lpstr>
      <vt:lpstr>PowerPoint Presentation</vt:lpstr>
      <vt:lpstr>PowerPoint Presentation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7  2  5  4  1  6  0  3</vt:lpstr>
      <vt:lpstr>0  2  5  4  1  6  7  3</vt:lpstr>
      <vt:lpstr>0  2  5  4  1  6  7  3</vt:lpstr>
      <vt:lpstr>0  2  5  4  1  6  7  3</vt:lpstr>
      <vt:lpstr>0  2  5  4  1  6  7  3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bubble sort</vt:lpstr>
      <vt:lpstr>PowerPoint Presentation</vt:lpstr>
      <vt:lpstr>PowerPoint Presentation</vt:lpstr>
      <vt:lpstr>PowerPoint Presentation</vt:lpstr>
      <vt:lpstr>7  2  5  4  1  6  0  3</vt:lpstr>
      <vt:lpstr>7  2  5  4  1  6  0  3</vt:lpstr>
      <vt:lpstr>2  7  5  4  1  6  0  3</vt:lpstr>
      <vt:lpstr>2  7  5  4  1  6  0  3</vt:lpstr>
      <vt:lpstr>2  5  7  4  1  6  0  3</vt:lpstr>
      <vt:lpstr>2  5  7  4  1  6  0  3</vt:lpstr>
      <vt:lpstr>2  5  4  7  1  6  0  3</vt:lpstr>
      <vt:lpstr>2  5  4  7  1  6  0  3</vt:lpstr>
      <vt:lpstr>2  5  4  1  7  6  0  3</vt:lpstr>
      <vt:lpstr>2  5  4  1  7  6  0  3</vt:lpstr>
      <vt:lpstr>2  5  4  1  6  7  0  3</vt:lpstr>
      <vt:lpstr>2  5  4  1  6  7  0  3</vt:lpstr>
      <vt:lpstr>2  5  4  1  6  0  7  3</vt:lpstr>
      <vt:lpstr>2  5  4  1  6  0  7  3</vt:lpstr>
      <vt:lpstr>2  5  4  1  6  0  3  7</vt:lpstr>
      <vt:lpstr>2  5  4  1  6  0  3  7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recursion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google.com/search?q=recursion </vt:lpstr>
      <vt:lpstr>merge sort</vt:lpstr>
      <vt:lpstr>PowerPoint Presentation</vt:lpstr>
      <vt:lpstr>PowerPoint Presentation</vt:lpstr>
      <vt:lpstr>PowerPoint Presentation</vt:lpstr>
      <vt:lpstr>1  3  4  6        0  2  5  7</vt:lpstr>
      <vt:lpstr>PowerPoint Presentation</vt:lpstr>
      <vt:lpstr>6  3  4  1  5  2  7  0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log2 n</vt:lpstr>
      <vt:lpstr>log2 8</vt:lpstr>
      <vt:lpstr>log2 23</vt:lpstr>
      <vt:lpstr>3</vt:lpstr>
      <vt:lpstr>PowerPoint Presentation</vt:lpstr>
      <vt:lpstr>n log2 n</vt:lpstr>
      <vt:lpstr>n log 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12</cp:revision>
  <dcterms:modified xsi:type="dcterms:W3CDTF">2025-10-16T09:52:48Z</dcterms:modified>
</cp:coreProperties>
</file>