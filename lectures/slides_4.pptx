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216"/>
  </p:notesMasterIdLst>
  <p:sldIdLst>
    <p:sldId id="256" r:id="rId3"/>
    <p:sldId id="258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1" r:id="rId27"/>
    <p:sldId id="290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319" r:id="rId55"/>
    <p:sldId id="320" r:id="rId56"/>
    <p:sldId id="321" r:id="rId57"/>
    <p:sldId id="322" r:id="rId58"/>
    <p:sldId id="323" r:id="rId59"/>
    <p:sldId id="324" r:id="rId60"/>
    <p:sldId id="325" r:id="rId61"/>
    <p:sldId id="326" r:id="rId62"/>
    <p:sldId id="327" r:id="rId63"/>
    <p:sldId id="328" r:id="rId64"/>
    <p:sldId id="329" r:id="rId65"/>
    <p:sldId id="330" r:id="rId66"/>
    <p:sldId id="331" r:id="rId67"/>
    <p:sldId id="332" r:id="rId68"/>
    <p:sldId id="333" r:id="rId69"/>
    <p:sldId id="334" r:id="rId70"/>
    <p:sldId id="335" r:id="rId71"/>
    <p:sldId id="336" r:id="rId72"/>
    <p:sldId id="337" r:id="rId73"/>
    <p:sldId id="338" r:id="rId74"/>
    <p:sldId id="339" r:id="rId75"/>
    <p:sldId id="340" r:id="rId76"/>
    <p:sldId id="341" r:id="rId77"/>
    <p:sldId id="342" r:id="rId78"/>
    <p:sldId id="343" r:id="rId79"/>
    <p:sldId id="344" r:id="rId80"/>
    <p:sldId id="345" r:id="rId81"/>
    <p:sldId id="346" r:id="rId82"/>
    <p:sldId id="347" r:id="rId83"/>
    <p:sldId id="348" r:id="rId84"/>
    <p:sldId id="349" r:id="rId85"/>
    <p:sldId id="350" r:id="rId86"/>
    <p:sldId id="351" r:id="rId87"/>
    <p:sldId id="352" r:id="rId88"/>
    <p:sldId id="353" r:id="rId89"/>
    <p:sldId id="354" r:id="rId90"/>
    <p:sldId id="355" r:id="rId91"/>
    <p:sldId id="356" r:id="rId92"/>
    <p:sldId id="357" r:id="rId93"/>
    <p:sldId id="358" r:id="rId94"/>
    <p:sldId id="359" r:id="rId95"/>
    <p:sldId id="360" r:id="rId96"/>
    <p:sldId id="361" r:id="rId97"/>
    <p:sldId id="362" r:id="rId98"/>
    <p:sldId id="363" r:id="rId99"/>
    <p:sldId id="364" r:id="rId100"/>
    <p:sldId id="365" r:id="rId101"/>
    <p:sldId id="366" r:id="rId102"/>
    <p:sldId id="367" r:id="rId103"/>
    <p:sldId id="368" r:id="rId104"/>
    <p:sldId id="369" r:id="rId105"/>
    <p:sldId id="370" r:id="rId106"/>
    <p:sldId id="371" r:id="rId107"/>
    <p:sldId id="372" r:id="rId108"/>
    <p:sldId id="373" r:id="rId109"/>
    <p:sldId id="374" r:id="rId110"/>
    <p:sldId id="375" r:id="rId111"/>
    <p:sldId id="376" r:id="rId112"/>
    <p:sldId id="377" r:id="rId113"/>
    <p:sldId id="378" r:id="rId114"/>
    <p:sldId id="379" r:id="rId115"/>
    <p:sldId id="380" r:id="rId116"/>
    <p:sldId id="381" r:id="rId117"/>
    <p:sldId id="382" r:id="rId118"/>
    <p:sldId id="383" r:id="rId119"/>
    <p:sldId id="384" r:id="rId120"/>
    <p:sldId id="385" r:id="rId121"/>
    <p:sldId id="386" r:id="rId122"/>
    <p:sldId id="387" r:id="rId123"/>
    <p:sldId id="388" r:id="rId124"/>
    <p:sldId id="389" r:id="rId125"/>
    <p:sldId id="390" r:id="rId126"/>
    <p:sldId id="391" r:id="rId127"/>
    <p:sldId id="392" r:id="rId128"/>
    <p:sldId id="393" r:id="rId129"/>
    <p:sldId id="394" r:id="rId130"/>
    <p:sldId id="395" r:id="rId131"/>
    <p:sldId id="396" r:id="rId132"/>
    <p:sldId id="397" r:id="rId133"/>
    <p:sldId id="398" r:id="rId134"/>
    <p:sldId id="399" r:id="rId135"/>
    <p:sldId id="400" r:id="rId136"/>
    <p:sldId id="401" r:id="rId137"/>
    <p:sldId id="402" r:id="rId138"/>
    <p:sldId id="403" r:id="rId139"/>
    <p:sldId id="404" r:id="rId140"/>
    <p:sldId id="405" r:id="rId141"/>
    <p:sldId id="406" r:id="rId142"/>
    <p:sldId id="407" r:id="rId143"/>
    <p:sldId id="408" r:id="rId144"/>
    <p:sldId id="409" r:id="rId145"/>
    <p:sldId id="410" r:id="rId146"/>
    <p:sldId id="411" r:id="rId147"/>
    <p:sldId id="412" r:id="rId148"/>
    <p:sldId id="413" r:id="rId149"/>
    <p:sldId id="414" r:id="rId150"/>
    <p:sldId id="415" r:id="rId151"/>
    <p:sldId id="416" r:id="rId152"/>
    <p:sldId id="417" r:id="rId153"/>
    <p:sldId id="418" r:id="rId154"/>
    <p:sldId id="419" r:id="rId155"/>
    <p:sldId id="420" r:id="rId156"/>
    <p:sldId id="421" r:id="rId157"/>
    <p:sldId id="422" r:id="rId158"/>
    <p:sldId id="423" r:id="rId159"/>
    <p:sldId id="424" r:id="rId160"/>
    <p:sldId id="425" r:id="rId161"/>
    <p:sldId id="426" r:id="rId162"/>
    <p:sldId id="427" r:id="rId163"/>
    <p:sldId id="428" r:id="rId164"/>
    <p:sldId id="429" r:id="rId165"/>
    <p:sldId id="430" r:id="rId166"/>
    <p:sldId id="431" r:id="rId167"/>
    <p:sldId id="432" r:id="rId168"/>
    <p:sldId id="433" r:id="rId169"/>
    <p:sldId id="434" r:id="rId170"/>
    <p:sldId id="435" r:id="rId171"/>
    <p:sldId id="436" r:id="rId172"/>
    <p:sldId id="437" r:id="rId173"/>
    <p:sldId id="438" r:id="rId174"/>
    <p:sldId id="439" r:id="rId175"/>
    <p:sldId id="440" r:id="rId176"/>
    <p:sldId id="441" r:id="rId177"/>
    <p:sldId id="442" r:id="rId178"/>
    <p:sldId id="443" r:id="rId179"/>
    <p:sldId id="444" r:id="rId180"/>
    <p:sldId id="445" r:id="rId181"/>
    <p:sldId id="446" r:id="rId182"/>
    <p:sldId id="447" r:id="rId183"/>
    <p:sldId id="448" r:id="rId184"/>
    <p:sldId id="449" r:id="rId185"/>
    <p:sldId id="450" r:id="rId186"/>
    <p:sldId id="451" r:id="rId187"/>
    <p:sldId id="452" r:id="rId188"/>
    <p:sldId id="453" r:id="rId189"/>
    <p:sldId id="454" r:id="rId190"/>
    <p:sldId id="455" r:id="rId191"/>
    <p:sldId id="456" r:id="rId192"/>
    <p:sldId id="457" r:id="rId193"/>
    <p:sldId id="458" r:id="rId194"/>
    <p:sldId id="459" r:id="rId195"/>
    <p:sldId id="460" r:id="rId196"/>
    <p:sldId id="461" r:id="rId197"/>
    <p:sldId id="462" r:id="rId198"/>
    <p:sldId id="463" r:id="rId199"/>
    <p:sldId id="464" r:id="rId200"/>
    <p:sldId id="465" r:id="rId201"/>
    <p:sldId id="466" r:id="rId202"/>
    <p:sldId id="467" r:id="rId203"/>
    <p:sldId id="468" r:id="rId204"/>
    <p:sldId id="469" r:id="rId205"/>
    <p:sldId id="470" r:id="rId206"/>
    <p:sldId id="471" r:id="rId207"/>
    <p:sldId id="472" r:id="rId208"/>
    <p:sldId id="473" r:id="rId209"/>
    <p:sldId id="474" r:id="rId210"/>
    <p:sldId id="475" r:id="rId211"/>
    <p:sldId id="476" r:id="rId212"/>
    <p:sldId id="477" r:id="rId213"/>
    <p:sldId id="478" r:id="rId214"/>
    <p:sldId id="479" r:id="rId2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2152C16-7A14-4FC3-AA19-C3280A4AE550}">
  <a:tblStyle styleId="{C2152C16-7A14-4FC3-AA19-C3280A4AE5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849" autoAdjust="0"/>
  </p:normalViewPr>
  <p:slideViewPr>
    <p:cSldViewPr snapToGrid="0">
      <p:cViewPr varScale="1">
        <p:scale>
          <a:sx n="129" d="100"/>
          <a:sy n="129" d="100"/>
        </p:scale>
        <p:origin x="110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191" Type="http://schemas.openxmlformats.org/officeDocument/2006/relationships/slide" Target="slides/slide189.xml"/><Relationship Id="rId205" Type="http://schemas.openxmlformats.org/officeDocument/2006/relationships/slide" Target="slides/slide203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181" Type="http://schemas.openxmlformats.org/officeDocument/2006/relationships/slide" Target="slides/slide179.xml"/><Relationship Id="rId216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92" Type="http://schemas.openxmlformats.org/officeDocument/2006/relationships/slide" Target="slides/slide190.xml"/><Relationship Id="rId206" Type="http://schemas.openxmlformats.org/officeDocument/2006/relationships/slide" Target="slides/slide204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182" Type="http://schemas.openxmlformats.org/officeDocument/2006/relationships/slide" Target="slides/slide180.xml"/><Relationship Id="rId217" Type="http://schemas.openxmlformats.org/officeDocument/2006/relationships/presProps" Target="presProps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5" Type="http://schemas.openxmlformats.org/officeDocument/2006/relationships/slide" Target="slides/slide63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51" Type="http://schemas.openxmlformats.org/officeDocument/2006/relationships/slide" Target="slides/slide149.xml"/><Relationship Id="rId172" Type="http://schemas.openxmlformats.org/officeDocument/2006/relationships/slide" Target="slides/slide170.xml"/><Relationship Id="rId193" Type="http://schemas.openxmlformats.org/officeDocument/2006/relationships/slide" Target="slides/slide191.xml"/><Relationship Id="rId207" Type="http://schemas.openxmlformats.org/officeDocument/2006/relationships/slide" Target="slides/slide205.xml"/><Relationship Id="rId13" Type="http://schemas.openxmlformats.org/officeDocument/2006/relationships/slide" Target="slides/slide11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20" Type="http://schemas.openxmlformats.org/officeDocument/2006/relationships/slide" Target="slides/slide118.xml"/><Relationship Id="rId141" Type="http://schemas.openxmlformats.org/officeDocument/2006/relationships/slide" Target="slides/slide139.xml"/><Relationship Id="rId7" Type="http://schemas.openxmlformats.org/officeDocument/2006/relationships/slide" Target="slides/slide5.xml"/><Relationship Id="rId162" Type="http://schemas.openxmlformats.org/officeDocument/2006/relationships/slide" Target="slides/slide160.xml"/><Relationship Id="rId183" Type="http://schemas.openxmlformats.org/officeDocument/2006/relationships/slide" Target="slides/slide181.xml"/><Relationship Id="rId218" Type="http://schemas.openxmlformats.org/officeDocument/2006/relationships/viewProps" Target="viewProps.xml"/><Relationship Id="rId24" Type="http://schemas.openxmlformats.org/officeDocument/2006/relationships/slide" Target="slides/slide22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31" Type="http://schemas.openxmlformats.org/officeDocument/2006/relationships/slide" Target="slides/slide129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4" Type="http://schemas.openxmlformats.org/officeDocument/2006/relationships/slide" Target="slides/slide192.xml"/><Relationship Id="rId208" Type="http://schemas.openxmlformats.org/officeDocument/2006/relationships/slide" Target="slides/slide206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184" Type="http://schemas.openxmlformats.org/officeDocument/2006/relationships/slide" Target="slides/slide182.xml"/><Relationship Id="rId189" Type="http://schemas.openxmlformats.org/officeDocument/2006/relationships/slide" Target="slides/slide187.xml"/><Relationship Id="rId219" Type="http://schemas.openxmlformats.org/officeDocument/2006/relationships/theme" Target="theme/theme1.xml"/><Relationship Id="rId3" Type="http://schemas.openxmlformats.org/officeDocument/2006/relationships/slide" Target="slides/slide1.xml"/><Relationship Id="rId214" Type="http://schemas.openxmlformats.org/officeDocument/2006/relationships/slide" Target="slides/slide212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79" Type="http://schemas.openxmlformats.org/officeDocument/2006/relationships/slide" Target="slides/slide177.xml"/><Relationship Id="rId195" Type="http://schemas.openxmlformats.org/officeDocument/2006/relationships/slide" Target="slides/slide193.xml"/><Relationship Id="rId209" Type="http://schemas.openxmlformats.org/officeDocument/2006/relationships/slide" Target="slides/slide207.xml"/><Relationship Id="rId190" Type="http://schemas.openxmlformats.org/officeDocument/2006/relationships/slide" Target="slides/slide188.xml"/><Relationship Id="rId204" Type="http://schemas.openxmlformats.org/officeDocument/2006/relationships/slide" Target="slides/slide202.xml"/><Relationship Id="rId220" Type="http://schemas.openxmlformats.org/officeDocument/2006/relationships/tableStyles" Target="tableStyles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slide" Target="slides/slide167.xml"/><Relationship Id="rId185" Type="http://schemas.openxmlformats.org/officeDocument/2006/relationships/slide" Target="slides/slide18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80" Type="http://schemas.openxmlformats.org/officeDocument/2006/relationships/slide" Target="slides/slide178.xml"/><Relationship Id="rId210" Type="http://schemas.openxmlformats.org/officeDocument/2006/relationships/slide" Target="slides/slide208.xml"/><Relationship Id="rId215" Type="http://schemas.openxmlformats.org/officeDocument/2006/relationships/slide" Target="slides/slide213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slide" Target="slides/slide173.xml"/><Relationship Id="rId196" Type="http://schemas.openxmlformats.org/officeDocument/2006/relationships/slide" Target="slides/slide194.xml"/><Relationship Id="rId200" Type="http://schemas.openxmlformats.org/officeDocument/2006/relationships/slide" Target="slides/slide198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186" Type="http://schemas.openxmlformats.org/officeDocument/2006/relationships/slide" Target="slides/slide184.xml"/><Relationship Id="rId211" Type="http://schemas.openxmlformats.org/officeDocument/2006/relationships/slide" Target="slides/slide209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slide" Target="slides/slide174.xml"/><Relationship Id="rId197" Type="http://schemas.openxmlformats.org/officeDocument/2006/relationships/slide" Target="slides/slide195.xml"/><Relationship Id="rId201" Type="http://schemas.openxmlformats.org/officeDocument/2006/relationships/slide" Target="slides/slide199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87" Type="http://schemas.openxmlformats.org/officeDocument/2006/relationships/slide" Target="slides/slide185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0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60" Type="http://schemas.openxmlformats.org/officeDocument/2006/relationships/slide" Target="slides/slide58.xml"/><Relationship Id="rId81" Type="http://schemas.openxmlformats.org/officeDocument/2006/relationships/slide" Target="slides/slide79.xml"/><Relationship Id="rId135" Type="http://schemas.openxmlformats.org/officeDocument/2006/relationships/slide" Target="slides/slide133.xml"/><Relationship Id="rId156" Type="http://schemas.openxmlformats.org/officeDocument/2006/relationships/slide" Target="slides/slide154.xml"/><Relationship Id="rId177" Type="http://schemas.openxmlformats.org/officeDocument/2006/relationships/slide" Target="slides/slide175.xml"/><Relationship Id="rId198" Type="http://schemas.openxmlformats.org/officeDocument/2006/relationships/slide" Target="slides/slide196.xml"/><Relationship Id="rId202" Type="http://schemas.openxmlformats.org/officeDocument/2006/relationships/slide" Target="slides/slide200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50" Type="http://schemas.openxmlformats.org/officeDocument/2006/relationships/slide" Target="slides/slide48.xml"/><Relationship Id="rId104" Type="http://schemas.openxmlformats.org/officeDocument/2006/relationships/slide" Target="slides/slide102.xml"/><Relationship Id="rId125" Type="http://schemas.openxmlformats.org/officeDocument/2006/relationships/slide" Target="slides/slide123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188" Type="http://schemas.openxmlformats.org/officeDocument/2006/relationships/slide" Target="slides/slide186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13" Type="http://schemas.openxmlformats.org/officeDocument/2006/relationships/slide" Target="slides/slide21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40" Type="http://schemas.openxmlformats.org/officeDocument/2006/relationships/slide" Target="slides/slide38.xml"/><Relationship Id="rId115" Type="http://schemas.openxmlformats.org/officeDocument/2006/relationships/slide" Target="slides/slide113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slide" Target="slides/slide176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9" Type="http://schemas.openxmlformats.org/officeDocument/2006/relationships/slide" Target="slides/slide197.xml"/><Relationship Id="rId203" Type="http://schemas.openxmlformats.org/officeDocument/2006/relationships/slide" Target="slides/slide201.xml"/><Relationship Id="rId19" Type="http://schemas.openxmlformats.org/officeDocument/2006/relationships/slide" Target="slides/slide1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ZB_EBsnc8c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s.apple.com/us/app/contacts/id1069512615#?platform=iphone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intendo.fandom.com/wiki/Nintendo_characters#Mario_series_(including_sub-franchises)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tsy.com/listing/926075105/monopoly-money-vintage-fabric-half-yard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pin/525443481522247447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pin/525443481522247447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sfca.edu/~galles/visualization/ComparisonSort.html" TargetMode="External"/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sfca.edu/~galles/visualization/ComparisonSort.html" TargetMode="External"/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sfca.edu/~galles/visualization/ComparisonSort.html" TargetMode="External"/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ZuD6iUe3Pc" TargetMode="External"/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youtubeeducation.com/watch?v=3WDWH59k1q4" TargetMode="Externa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55ed590c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55ed590c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Reload codespace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Uncheck VS Code tabs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0401269f5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0401269f5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https://www.youtube.com/watch?v=cZB_EBsnc8c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55ed590c85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55ed590c85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https://apps.apple.com/us/app/contacts/id1069512615#?platform=iphone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Week 0, intuitive algorithms…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 Harvard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401269f54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401269f54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https://nintendo.fandom.com/wiki/Nintendo_characters#Mario_series_(including_sub-franchises)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0401269f5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0401269f54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0401269f54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0401269f54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0401269f54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0401269f54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0401269f54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0401269f54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55ed590c85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55ed590c85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Google, when data gets big how do we handle it?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55ed590c85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55ed590c85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55ed590c85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55ed590c85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55ed590c85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55ed590c85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Linear layout, contiguous</a:t>
            </a: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55ed590c85_0_6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55ed590c85_0_6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Array of numbers – how do computers find a specific number, like “50”?</a:t>
            </a: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5ed590c85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5ed590c85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Treat this like little boxes the computer has to “look in”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55ed590c85_0_6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155ed590c85_0_6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55ed590c85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55ed590c85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55ed590c85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55ed590c85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55ed590c85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55ed590c85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55ed590c85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55ed590c85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55ed590c85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55ed590c85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55ed590c85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55ed590c85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55ed590c85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155ed590c85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https://www.etsy.com/listing/926075105/monopoly-money-vintage-fabric-half-yard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55ed590c85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55ed590c85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https://www.pinterest.com/pin/525443481522247447/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55ed590c85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55ed590c85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Sear one at a time in order, in  a “linear” fashion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20  500  10  </a:t>
            </a:r>
            <a:r>
              <a:rPr lang="en" dirty="0"/>
              <a:t>5  100  </a:t>
            </a:r>
            <a:r>
              <a:rPr lang="en" dirty="0">
                <a:solidFill>
                  <a:schemeClr val="dk1"/>
                </a:solidFill>
              </a:rPr>
              <a:t>1  </a:t>
            </a:r>
            <a:r>
              <a:rPr lang="en" b="1" dirty="0">
                <a:solidFill>
                  <a:schemeClr val="dk1"/>
                </a:solidFill>
              </a:rPr>
              <a:t>50</a:t>
            </a:r>
            <a:endParaRPr b="1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55ed590c85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55ed590c85_0_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55ed590c85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55ed590c85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55ed590c85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55ed590c85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55ed590c85_0_7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155ed590c85_0_7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https://www.pinterest.com/pin/525443481522247447/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55ed590c85_0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55ed590c85_0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-numbers sorted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- </a:t>
            </a:r>
            <a:r>
              <a:rPr lang="en-GB" dirty="0">
                <a:solidFill>
                  <a:schemeClr val="dk1"/>
                </a:solidFill>
              </a:rPr>
              <a:t>S</a:t>
            </a:r>
            <a:r>
              <a:rPr lang="en" dirty="0">
                <a:solidFill>
                  <a:schemeClr val="dk1"/>
                </a:solidFill>
              </a:rPr>
              <a:t>tart in midles, move higher or lower, goto next middle door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1  5  10  20  </a:t>
            </a:r>
            <a:r>
              <a:rPr lang="en" b="1" dirty="0">
                <a:solidFill>
                  <a:schemeClr val="dk1"/>
                </a:solidFill>
              </a:rPr>
              <a:t>50</a:t>
            </a:r>
            <a:r>
              <a:rPr lang="en" dirty="0">
                <a:solidFill>
                  <a:schemeClr val="dk1"/>
                </a:solidFill>
              </a:rPr>
              <a:t>  100  500</a:t>
            </a:r>
            <a:endParaRPr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55ed590c85_0_6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55ed590c85_0_6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55ed590c85_0_6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55ed590c85_0_6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55ed590c85_0_6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155ed590c85_0_6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55ed590c85_0_7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155ed590c85_0_7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9976d39bb8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9976d39bb8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Measure of algorithm “efficiency”</a:t>
            </a:r>
            <a:endParaRPr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9976d39bb8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9976d39bb8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9976d39bb8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9976d39bb8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9976d39bb8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9976d39bb8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O for on the “order” of this many steps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9976d39bb8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9976d39bb8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Whole constants usually dropped because they are similar in shape and magnitude</a:t>
            </a:r>
            <a:endParaRPr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9976d39bb8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9976d39bb8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9976d39bb8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9976d39bb8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Zoomed out you see the pattern</a:t>
            </a:r>
            <a:endParaRPr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155ed590c85_0_8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155ed590c85_0_8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“big O notation”</a:t>
            </a:r>
            <a:endParaRPr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9976d39bb8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9976d39bb8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</a:t>
            </a:r>
            <a:r>
              <a:rPr lang="en" dirty="0"/>
              <a:t>ist of possibilities (amongst others)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linear? binary?</a:t>
            </a:r>
            <a:endParaRPr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55ed590c85_0_8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155ed590c85_0_8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Linear search is worst case scenario</a:t>
            </a:r>
            <a:endParaRPr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55ed590c85_0_8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55ed590c85_0_8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Binary much faster</a:t>
            </a:r>
            <a:endParaRPr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99ff46a780_26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99ff46a780_26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Big Omega is lower bound of algorithm</a:t>
            </a:r>
            <a:endParaRPr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9976d39bb8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9976d39bb8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linear? binary?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9976d39bb8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9976d39bb8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155ed590c85_0_7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155ed590c85_0_7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55ed590c85_0_8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55ed590c85_0_8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Big theta when big O and big omega are the same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-are there algorithms where this is true...?</a:t>
            </a:r>
            <a:endParaRPr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55ed590c85_0_8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155ed590c85_0_8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0427bc4c1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0427bc4c1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search{0,1}.c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55ed590c85_0_8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155ed590c85_0_8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search{0,1}.c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83063c11d6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283063c11d6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283063c11d6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283063c11d6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83063c11d6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283063c11d6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phonebook0.c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99ff46a780_26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99ff46a780_26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615cd08c5b_0_6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615cd08c5b_0_6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61549dec78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61549dec78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61549dec78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61549dec78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83063c11d6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283063c11d6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phonebook1.c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we'll see a way to save phonebook eventually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56ad5d3783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156ad5d3783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615bc47d73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615bc47d73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615bc47d73_0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615bc47d73_0_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615bc47d73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615bc47d73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61648c258e_9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61648c258e_9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0401269f54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0401269f54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0401269f54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0401269f54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volunteers: sort themselves, then selection, then bubble</a:t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283c13df276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283c13df276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615bc47d73_0_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615bc47d73_0_4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https://www.cs.usfca.edu/~galles/visualization/ComparisonSort.html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edc48ccb89_2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edc48ccb89_2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edc48ccb89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edc48ccb89_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155ed590c85_0_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155ed590c85_0_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0427bc4c1c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0427bc4c1c_3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0427bc4c1c_3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0427bc4c1c_3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0427bc4c1c_3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0427bc4c1c_3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0427bc4c1c_3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0427bc4c1c_3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0427bc4c1c_3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0427bc4c1c_3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0427bc4c1c_3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0427bc4c1c_3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0427bc4c1c_3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0427bc4c1c_3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0427bc4c1c_3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0427bc4c1c_3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0427bc4c1c_3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30427bc4c1c_3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0427bc4c1c_3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30427bc4c1c_3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0427bc4c1c_3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30427bc4c1c_3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61648c258e_9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61648c258e_9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61648c258e_9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61648c258e_9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155ed590c85_0_7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155ed590c85_0_7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61648c258e_9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61648c258e_9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61648c258e_9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61648c258e_9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61648c258e_9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61648c258e_9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61648c258e_9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61648c258e_9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61648c258e_9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61648c258e_9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615cd08c5b_0_6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615cd08c5b_0_6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615cd08c5b_0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615cd08c5b_0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61648c258e_9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61648c258e_9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lower bound?</a:t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155ed590c85_0_7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155ed590c85_0_7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615cd08c5b_0_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615cd08c5b_0_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615cd08c5b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615cd08c5b_0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edc48ccb89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edc48ccb89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edc48ccb89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edc48ccb89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9976d39bb8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9976d39bb8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https://www.cs.usfca.edu/~galles/visualization/ComparisonSort.html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0401269f54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30401269f54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0401269f54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30401269f54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0401269f54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30401269f54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155ed590c85_0_7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155ed590c85_0_7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0401269f54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30401269f54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0401269f54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0401269f54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0401269f54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30401269f54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0401269f54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30401269f54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0401269f54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30401269f54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0401269f54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30401269f54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0401269f54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30401269f54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0401269f54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30401269f54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0401269f54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0401269f54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0401269f5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0401269f5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0401269f54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30401269f54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0401269f54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30401269f54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0401269f54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0401269f54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0401269f54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0401269f54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0427bc4c1c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30427bc4c1c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0401269f54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30401269f54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0401269f54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30401269f54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0401269f54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30401269f54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0401269f54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30401269f54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0401269f54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0401269f54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0401269f54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30401269f54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9976d39bb8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9976d39bb8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9976d39bb8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9976d39bb8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9976d39bb8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9976d39bb8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9976d39bb8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9976d39bb8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9976d39bb8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9976d39bb8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9976d39bb8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9976d39bb8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155ed590c85_0_7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155ed590c85_0_7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9976d39bb8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9976d39bb8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9976d39bb8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9976d39bb8_0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9976d39bb8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9976d39bb8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615cd08dea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615cd08dea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edc48ccb89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edc48ccb89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edc48ccb89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edc48ccb89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9976d39bb8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9976d39bb8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9976d39bb8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9976d39bb8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9976d39bb8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9976d39bb8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9976d39bb8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9976d39bb8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9976d39bb8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9976d39bb8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615cd08c5b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615cd08c5b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http://ian-albert.com/games/super_mario_bros_maps/</a:t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615cd08c5b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615cd08c5b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iteration.c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615cd08c5b_0_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615cd08c5b_0_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615cd08c5b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615cd08c5b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615cd08c5b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615cd08c5b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615cd08c5b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615cd08c5b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recursion.c</a:t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155ed590c85_0_7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155ed590c85_0_7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9976d39bb8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9976d39bb8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615bc47d73_0_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615bc47d73_0_5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9976d39bb8_0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9976d39bb8_0_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9976d39bb8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9976d39bb8_0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f0f81ef8e0_4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f0f81ef8e0_4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shelves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9976d39bb8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9976d39bb8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https://www.cs.usfca.edu/~galles/visualization/ComparisonSort.html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283063c11d6_0_10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283063c11d6_0_10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shelves</a:t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283063c11d6_0_9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283063c11d6_0_9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283063c11d6_0_9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283063c11d6_0_9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283063c11d6_0_9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283063c11d6_0_9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283063c11d6_0_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283063c11d6_0_9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283063c11d6_0_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283063c11d6_0_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283063c11d6_0_9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283063c11d6_0_9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283063c11d6_0_10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283063c11d6_0_10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283063c11d6_0_10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283063c11d6_0_10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283063c11d6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283063c11d6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283063c11d6_0_5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283063c11d6_0_5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283063c11d6_0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283063c11d6_0_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283063c11d6_0_5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283063c11d6_0_5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283063c11d6_0_6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283063c11d6_0_6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283063c11d6_0_6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283063c11d6_0_6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283063c11d6_0_6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283063c11d6_0_6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283063c11d6_0_6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283063c11d6_0_6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283063c11d6_0_6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283063c11d6_0_6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283063c11d6_0_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283063c11d6_0_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283063c11d6_0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283063c11d6_0_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283063c11d6_0_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283063c11d6_0_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283063c11d6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283063c11d6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283063c11d6_0_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283063c11d6_0_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283063c11d6_0_7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" name="Google Shape;1296;g283063c11d6_0_7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283063c11d6_0_7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283063c11d6_0_7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283063c11d6_0_7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283063c11d6_0_7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283063c11d6_0_7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283063c11d6_0_7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283063c11d6_0_8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283063c11d6_0_8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283063c11d6_0_8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283063c11d6_0_8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283063c11d6_0_8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283063c11d6_0_8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283063c11d6_0_8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283063c11d6_0_8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283063c11d6_0_8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283063c11d6_0_8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283063c11d6_0_8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283063c11d6_0_8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283063c11d6_0_8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283063c11d6_0_8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283063c11d6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283063c11d6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283063c11d6_0_8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283063c11d6_0_8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283063c11d6_0_9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7" name="Google Shape;1407;g283063c11d6_0_9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283063c11d6_0_9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283063c11d6_0_9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283063c11d6_0_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283063c11d6_0_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83063c11d6_0_9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283063c11d6_0_9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283063c11d6_0_9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283063c11d6_0_9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283063c11d6_0_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283063c11d6_0_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615cd08c5b_0_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" name="Google Shape;1444;g615cd08c5b_0_7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283063c11d6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9" name="Google Shape;1449;g283063c11d6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g283c13df276_1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8" name="Google Shape;1468;g283c13df276_1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283063c11d6_0_1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283063c11d6_0_1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283063c11d6_0_1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283063c11d6_0_1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283063c11d6_0_1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283063c11d6_0_1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283063c11d6_0_1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283063c11d6_0_1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30401269f54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30401269f54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g283063c11d6_0_1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6" name="Google Shape;1526;g283063c11d6_0_1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283063c11d6_0_1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283063c11d6_0_1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615cd08c5b_0_7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615cd08c5b_0_7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615cd08c5b_0_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615cd08c5b_0_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615cd08c5b_24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615cd08c5b_24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615cd08c5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1" name="Google Shape;1551;g615cd08c5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Source: 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https://www.youtube.com/watch?v=ZZuD6iUe3Pc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4"/>
              </a:rPr>
              <a:t>https://www.youtubeeducation.com/watch?v=3WDWH59k1q4</a:t>
            </a:r>
            <a:r>
              <a:rPr lang="en" dirty="0"/>
              <a:t> </a:t>
            </a:r>
            <a:endParaRPr dirty="0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155ed590c85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155ed590c85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Reload codespace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Uncheck VS Code tabs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000000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lt2"/>
                </a:solidFill>
              </a:defRPr>
            </a:lvl1pPr>
            <a:lvl2pPr lvl="1" algn="r" rtl="0">
              <a:buNone/>
              <a:defRPr sz="1000">
                <a:solidFill>
                  <a:schemeClr val="lt2"/>
                </a:solidFill>
              </a:defRPr>
            </a:lvl2pPr>
            <a:lvl3pPr lvl="2" algn="r" rtl="0">
              <a:buNone/>
              <a:defRPr sz="1000">
                <a:solidFill>
                  <a:schemeClr val="lt2"/>
                </a:solidFill>
              </a:defRPr>
            </a:lvl3pPr>
            <a:lvl4pPr lvl="3" algn="r" rtl="0">
              <a:buNone/>
              <a:defRPr sz="1000">
                <a:solidFill>
                  <a:schemeClr val="lt2"/>
                </a:solidFill>
              </a:defRPr>
            </a:lvl4pPr>
            <a:lvl5pPr lvl="4" algn="r" rtl="0">
              <a:buNone/>
              <a:defRPr sz="1000">
                <a:solidFill>
                  <a:schemeClr val="lt2"/>
                </a:solidFill>
              </a:defRPr>
            </a:lvl5pPr>
            <a:lvl6pPr lvl="5" algn="r" rtl="0">
              <a:buNone/>
              <a:defRPr sz="1000">
                <a:solidFill>
                  <a:schemeClr val="lt2"/>
                </a:solidFill>
              </a:defRPr>
            </a:lvl6pPr>
            <a:lvl7pPr lvl="6" algn="r" rtl="0">
              <a:buNone/>
              <a:defRPr sz="1000">
                <a:solidFill>
                  <a:schemeClr val="lt2"/>
                </a:solidFill>
              </a:defRPr>
            </a:lvl7pPr>
            <a:lvl8pPr lvl="7" algn="r" rtl="0">
              <a:buNone/>
              <a:defRPr sz="1000">
                <a:solidFill>
                  <a:schemeClr val="lt2"/>
                </a:solidFill>
              </a:defRPr>
            </a:lvl8pPr>
            <a:lvl9pPr lvl="8" algn="r" rtl="0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manual.cs50.io/#string.h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3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3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3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3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3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4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4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4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4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4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recursion" TargetMode="External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3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3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3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3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3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3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3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13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13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13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13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2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13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13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3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3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3.xml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2.xml"/><Relationship Id="rId2" Type="http://schemas.openxmlformats.org/officeDocument/2006/relationships/slideLayout" Target="../slideLayouts/slideLayout11.xml"/><Relationship Id="rId1" Type="http://schemas.openxmlformats.org/officeDocument/2006/relationships/video" Target="https://www.youtube.com/embed/ZZuD6iUe3Pc?feature=oembed" TargetMode="External"/><Relationship Id="rId4" Type="http://schemas.openxmlformats.org/officeDocument/2006/relationships/image" Target="../media/image21.jpeg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173A6F-4EC9-0550-300D-49127A29314F}"/>
              </a:ext>
            </a:extLst>
          </p:cNvPr>
          <p:cNvSpPr txBox="1"/>
          <p:nvPr/>
        </p:nvSpPr>
        <p:spPr>
          <a:xfrm>
            <a:off x="921001" y="2110085"/>
            <a:ext cx="7301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5400" dirty="0">
                <a:solidFill>
                  <a:schemeClr val="tx1"/>
                </a:solidFill>
              </a:rPr>
              <a:t>Computing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of a dinosaur with a rubber duck on it&#10;&#10;AI-generated content may be incorrect.">
            <a:extLst>
              <a:ext uri="{FF2B5EF4-FFF2-40B4-BE49-F238E27FC236}">
                <a16:creationId xmlns:a16="http://schemas.microsoft.com/office/drawing/2014/main" id="{EF4096DE-E53F-0D7C-4D0D-1B3971195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650" y="1297400"/>
            <a:ext cx="2548700" cy="2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8"/>
          <p:cNvPicPr preferRelativeResize="0"/>
          <p:nvPr/>
        </p:nvPicPr>
        <p:blipFill rotWithShape="1">
          <a:blip r:embed="rId3">
            <a:alphaModFix/>
          </a:blip>
          <a:srcRect t="6516" b="14965"/>
          <a:stretch/>
        </p:blipFill>
        <p:spPr>
          <a:xfrm>
            <a:off x="3211800" y="257112"/>
            <a:ext cx="2720400" cy="462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9"/>
          <p:cNvPicPr preferRelativeResize="0"/>
          <p:nvPr/>
        </p:nvPicPr>
        <p:blipFill rotWithShape="1">
          <a:blip r:embed="rId3">
            <a:alphaModFix/>
          </a:blip>
          <a:srcRect t="10741" b="10741"/>
          <a:stretch/>
        </p:blipFill>
        <p:spPr>
          <a:xfrm>
            <a:off x="3211800" y="257112"/>
            <a:ext cx="2720400" cy="462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40"/>
          <p:cNvSpPr txBox="1"/>
          <p:nvPr/>
        </p:nvSpPr>
        <p:spPr>
          <a:xfrm>
            <a:off x="2400098" y="205078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1"/>
          <p:cNvSpPr txBox="1"/>
          <p:nvPr/>
        </p:nvSpPr>
        <p:spPr>
          <a:xfrm>
            <a:off x="3158292" y="196875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</a:rPr>
              <a:t>/2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189" name="Google Shape;189;p41"/>
          <p:cNvSpPr txBox="1"/>
          <p:nvPr/>
        </p:nvSpPr>
        <p:spPr>
          <a:xfrm>
            <a:off x="2400098" y="205078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2"/>
          <p:cNvSpPr txBox="1"/>
          <p:nvPr/>
        </p:nvSpPr>
        <p:spPr>
          <a:xfrm>
            <a:off x="3158292" y="196875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</a:rPr>
              <a:t>/2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196" name="Google Shape;196;p42"/>
          <p:cNvSpPr txBox="1"/>
          <p:nvPr/>
        </p:nvSpPr>
        <p:spPr>
          <a:xfrm>
            <a:off x="2400098" y="205078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197" name="Google Shape;197;p42"/>
          <p:cNvSpPr txBox="1"/>
          <p:nvPr/>
        </p:nvSpPr>
        <p:spPr>
          <a:xfrm>
            <a:off x="7254138" y="2851275"/>
            <a:ext cx="11766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</a:rPr>
              <a:t>log</a:t>
            </a:r>
            <a:r>
              <a:rPr lang="en" sz="2400" baseline="-25000">
                <a:solidFill>
                  <a:srgbClr val="FFFFFF"/>
                </a:solidFill>
                <a:highlight>
                  <a:srgbClr val="000000"/>
                </a:highlight>
              </a:rPr>
              <a:t>2</a:t>
            </a: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lang="en" sz="2400" i="1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endParaRPr sz="2400" i="1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69275" y="-2362200"/>
            <a:ext cx="18288026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69275" y="-2362200"/>
            <a:ext cx="18288026" cy="102870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208" name="Google Shape;208;p44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44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44"/>
          <p:cNvCxnSpPr/>
          <p:nvPr/>
        </p:nvCxnSpPr>
        <p:spPr>
          <a:xfrm>
            <a:off x="45720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44"/>
          <p:cNvCxnSpPr/>
          <p:nvPr/>
        </p:nvCxnSpPr>
        <p:spPr>
          <a:xfrm>
            <a:off x="41148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" name="Google Shape;212;p44"/>
          <p:cNvCxnSpPr/>
          <p:nvPr/>
        </p:nvCxnSpPr>
        <p:spPr>
          <a:xfrm>
            <a:off x="5038725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44"/>
          <p:cNvCxnSpPr/>
          <p:nvPr/>
        </p:nvCxnSpPr>
        <p:spPr>
          <a:xfrm>
            <a:off x="38862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44"/>
          <p:cNvCxnSpPr/>
          <p:nvPr/>
        </p:nvCxnSpPr>
        <p:spPr>
          <a:xfrm>
            <a:off x="43434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44"/>
          <p:cNvCxnSpPr/>
          <p:nvPr/>
        </p:nvCxnSpPr>
        <p:spPr>
          <a:xfrm>
            <a:off x="4800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" name="Google Shape;216;p44"/>
          <p:cNvCxnSpPr/>
          <p:nvPr/>
        </p:nvCxnSpPr>
        <p:spPr>
          <a:xfrm>
            <a:off x="529552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" name="Google Shape;217;p44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" name="Google Shape;218;p44"/>
          <p:cNvCxnSpPr/>
          <p:nvPr/>
        </p:nvCxnSpPr>
        <p:spPr>
          <a:xfrm>
            <a:off x="3638550" y="25622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p44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44"/>
          <p:cNvCxnSpPr/>
          <p:nvPr/>
        </p:nvCxnSpPr>
        <p:spPr>
          <a:xfrm>
            <a:off x="3638550" y="1762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44"/>
          <p:cNvCxnSpPr/>
          <p:nvPr/>
        </p:nvCxnSpPr>
        <p:spPr>
          <a:xfrm>
            <a:off x="3638550" y="216223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44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23;p44"/>
          <p:cNvCxnSpPr/>
          <p:nvPr/>
        </p:nvCxnSpPr>
        <p:spPr>
          <a:xfrm>
            <a:off x="3638550" y="113353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" name="Google Shape;224;p44"/>
          <p:cNvCxnSpPr/>
          <p:nvPr/>
        </p:nvCxnSpPr>
        <p:spPr>
          <a:xfrm>
            <a:off x="3638550" y="155263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44"/>
          <p:cNvCxnSpPr/>
          <p:nvPr/>
        </p:nvCxnSpPr>
        <p:spPr>
          <a:xfrm>
            <a:off x="3638550" y="19622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" name="Google Shape;226;p44"/>
          <p:cNvCxnSpPr/>
          <p:nvPr/>
        </p:nvCxnSpPr>
        <p:spPr>
          <a:xfrm>
            <a:off x="3638550" y="23717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" name="Google Shape;227;p44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" name="Google Shape;228;p44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" name="Google Shape;229;p44"/>
          <p:cNvCxnSpPr/>
          <p:nvPr/>
        </p:nvCxnSpPr>
        <p:spPr>
          <a:xfrm>
            <a:off x="3638550" y="29957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0" name="Google Shape;230;p44"/>
          <p:cNvCxnSpPr/>
          <p:nvPr/>
        </p:nvCxnSpPr>
        <p:spPr>
          <a:xfrm>
            <a:off x="3638550" y="27671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" name="Google Shape;231;p44"/>
          <p:cNvCxnSpPr/>
          <p:nvPr/>
        </p:nvCxnSpPr>
        <p:spPr>
          <a:xfrm>
            <a:off x="3638550" y="31862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44"/>
          <p:cNvCxnSpPr/>
          <p:nvPr/>
        </p:nvCxnSpPr>
        <p:spPr>
          <a:xfrm>
            <a:off x="3638550" y="35957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44"/>
          <p:cNvCxnSpPr/>
          <p:nvPr/>
        </p:nvCxnSpPr>
        <p:spPr>
          <a:xfrm>
            <a:off x="3638550" y="40053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8" name="Google Shape;238;p45"/>
          <p:cNvGraphicFramePr/>
          <p:nvPr/>
        </p:nvGraphicFramePr>
        <p:xfrm>
          <a:off x="-571500" y="-304800"/>
          <a:ext cx="10287000" cy="571500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3" name="Google Shape;243;p46"/>
          <p:cNvGraphicFramePr/>
          <p:nvPr/>
        </p:nvGraphicFramePr>
        <p:xfrm>
          <a:off x="-571500" y="-304800"/>
          <a:ext cx="10287000" cy="571500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8" name="Google Shape;248;p47"/>
          <p:cNvGraphicFramePr/>
          <p:nvPr/>
        </p:nvGraphicFramePr>
        <p:xfrm>
          <a:off x="-571500" y="-304800"/>
          <a:ext cx="10287000" cy="571500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5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5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5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45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5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45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5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endParaRPr sz="45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5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45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5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45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5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500</a:t>
                      </a:r>
                      <a:endParaRPr sz="45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3" name="Google Shape;253;p48"/>
          <p:cNvGraphicFramePr/>
          <p:nvPr/>
        </p:nvGraphicFramePr>
        <p:xfrm>
          <a:off x="-571500" y="-304800"/>
          <a:ext cx="10287000" cy="571500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4" name="Google Shape;254;p48"/>
          <p:cNvSpPr/>
          <p:nvPr/>
        </p:nvSpPr>
        <p:spPr>
          <a:xfrm>
            <a:off x="663324" y="249420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48"/>
          <p:cNvSpPr/>
          <p:nvPr/>
        </p:nvSpPr>
        <p:spPr>
          <a:xfrm>
            <a:off x="1842774" y="249420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48"/>
          <p:cNvSpPr/>
          <p:nvPr/>
        </p:nvSpPr>
        <p:spPr>
          <a:xfrm>
            <a:off x="2988825" y="251325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48"/>
          <p:cNvSpPr/>
          <p:nvPr/>
        </p:nvSpPr>
        <p:spPr>
          <a:xfrm>
            <a:off x="4168275" y="251325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48"/>
          <p:cNvSpPr/>
          <p:nvPr/>
        </p:nvSpPr>
        <p:spPr>
          <a:xfrm>
            <a:off x="5257824" y="2503725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48"/>
          <p:cNvSpPr/>
          <p:nvPr/>
        </p:nvSpPr>
        <p:spPr>
          <a:xfrm>
            <a:off x="6437274" y="2503725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48"/>
          <p:cNvSpPr/>
          <p:nvPr/>
        </p:nvSpPr>
        <p:spPr>
          <a:xfrm>
            <a:off x="7583325" y="2522775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5" name="Google Shape;265;p49"/>
          <p:cNvGraphicFramePr/>
          <p:nvPr/>
        </p:nvGraphicFramePr>
        <p:xfrm>
          <a:off x="-571500" y="-304800"/>
          <a:ext cx="10287000" cy="571500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[0]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[1]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[2]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[3]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[4]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[5]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[6]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6" name="Google Shape;266;p49"/>
          <p:cNvSpPr/>
          <p:nvPr/>
        </p:nvSpPr>
        <p:spPr>
          <a:xfrm>
            <a:off x="663324" y="249420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49"/>
          <p:cNvSpPr/>
          <p:nvPr/>
        </p:nvSpPr>
        <p:spPr>
          <a:xfrm>
            <a:off x="1842774" y="249420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49"/>
          <p:cNvSpPr/>
          <p:nvPr/>
        </p:nvSpPr>
        <p:spPr>
          <a:xfrm>
            <a:off x="2988825" y="251325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49"/>
          <p:cNvSpPr/>
          <p:nvPr/>
        </p:nvSpPr>
        <p:spPr>
          <a:xfrm>
            <a:off x="4168275" y="251325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49"/>
          <p:cNvSpPr/>
          <p:nvPr/>
        </p:nvSpPr>
        <p:spPr>
          <a:xfrm>
            <a:off x="5257824" y="2503725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49"/>
          <p:cNvSpPr/>
          <p:nvPr/>
        </p:nvSpPr>
        <p:spPr>
          <a:xfrm>
            <a:off x="6437274" y="2503725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49"/>
          <p:cNvSpPr/>
          <p:nvPr/>
        </p:nvSpPr>
        <p:spPr>
          <a:xfrm>
            <a:off x="7583325" y="2522775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7" name="Google Shape;277;p50"/>
          <p:cNvGraphicFramePr/>
          <p:nvPr/>
        </p:nvGraphicFramePr>
        <p:xfrm>
          <a:off x="-571500" y="-304800"/>
          <a:ext cx="10287000" cy="571500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[0]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[1]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[2]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[3]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[4]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[5]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[6]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8" name="Google Shape;278;p50"/>
          <p:cNvSpPr/>
          <p:nvPr/>
        </p:nvSpPr>
        <p:spPr>
          <a:xfrm>
            <a:off x="663324" y="249420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50"/>
          <p:cNvSpPr/>
          <p:nvPr/>
        </p:nvSpPr>
        <p:spPr>
          <a:xfrm>
            <a:off x="1842774" y="249420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50"/>
          <p:cNvSpPr/>
          <p:nvPr/>
        </p:nvSpPr>
        <p:spPr>
          <a:xfrm>
            <a:off x="2988825" y="251325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50"/>
          <p:cNvSpPr/>
          <p:nvPr/>
        </p:nvSpPr>
        <p:spPr>
          <a:xfrm>
            <a:off x="4168275" y="251325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50"/>
          <p:cNvSpPr/>
          <p:nvPr/>
        </p:nvSpPr>
        <p:spPr>
          <a:xfrm>
            <a:off x="5257824" y="2503725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50"/>
          <p:cNvSpPr/>
          <p:nvPr/>
        </p:nvSpPr>
        <p:spPr>
          <a:xfrm>
            <a:off x="6437274" y="2503725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50"/>
          <p:cNvSpPr/>
          <p:nvPr/>
        </p:nvSpPr>
        <p:spPr>
          <a:xfrm>
            <a:off x="7583325" y="2522775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searching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2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52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input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296" name="Google Shape;296;p52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675" y="2436988"/>
            <a:ext cx="1961949" cy="3153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53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53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304" name="Google Shape;304;p53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305" name="Google Shape;305;p53"/>
          <p:cNvSpPr/>
          <p:nvPr/>
        </p:nvSpPr>
        <p:spPr>
          <a:xfrm>
            <a:off x="425841" y="2578511"/>
            <a:ext cx="36000" cy="36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53"/>
          <p:cNvSpPr/>
          <p:nvPr/>
        </p:nvSpPr>
        <p:spPr>
          <a:xfrm>
            <a:off x="711591" y="2578511"/>
            <a:ext cx="36000" cy="36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53"/>
          <p:cNvSpPr/>
          <p:nvPr/>
        </p:nvSpPr>
        <p:spPr>
          <a:xfrm>
            <a:off x="978291" y="2578511"/>
            <a:ext cx="36000" cy="36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53"/>
          <p:cNvSpPr/>
          <p:nvPr/>
        </p:nvSpPr>
        <p:spPr>
          <a:xfrm>
            <a:off x="1264041" y="2578511"/>
            <a:ext cx="36000" cy="36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53"/>
          <p:cNvSpPr/>
          <p:nvPr/>
        </p:nvSpPr>
        <p:spPr>
          <a:xfrm>
            <a:off x="1530741" y="2578511"/>
            <a:ext cx="36000" cy="36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53"/>
          <p:cNvSpPr/>
          <p:nvPr/>
        </p:nvSpPr>
        <p:spPr>
          <a:xfrm>
            <a:off x="1816491" y="2578511"/>
            <a:ext cx="36000" cy="36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53"/>
          <p:cNvSpPr/>
          <p:nvPr/>
        </p:nvSpPr>
        <p:spPr>
          <a:xfrm>
            <a:off x="2083191" y="2578511"/>
            <a:ext cx="36000" cy="36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675" y="2436988"/>
            <a:ext cx="1961949" cy="315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4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54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 </a:t>
            </a:r>
            <a:r>
              <a:rPr lang="en" sz="2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endParaRPr sz="2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9" name="Google Shape;319;p54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320" name="Google Shape;320;p54"/>
          <p:cNvSpPr/>
          <p:nvPr/>
        </p:nvSpPr>
        <p:spPr>
          <a:xfrm>
            <a:off x="425841" y="2578511"/>
            <a:ext cx="36000" cy="36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54"/>
          <p:cNvSpPr/>
          <p:nvPr/>
        </p:nvSpPr>
        <p:spPr>
          <a:xfrm>
            <a:off x="711591" y="2578511"/>
            <a:ext cx="36000" cy="36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54"/>
          <p:cNvSpPr/>
          <p:nvPr/>
        </p:nvSpPr>
        <p:spPr>
          <a:xfrm>
            <a:off x="978291" y="2578511"/>
            <a:ext cx="36000" cy="36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54"/>
          <p:cNvSpPr/>
          <p:nvPr/>
        </p:nvSpPr>
        <p:spPr>
          <a:xfrm>
            <a:off x="1264041" y="2578511"/>
            <a:ext cx="36000" cy="36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54"/>
          <p:cNvSpPr/>
          <p:nvPr/>
        </p:nvSpPr>
        <p:spPr>
          <a:xfrm>
            <a:off x="1530741" y="2578511"/>
            <a:ext cx="36000" cy="36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54"/>
          <p:cNvSpPr/>
          <p:nvPr/>
        </p:nvSpPr>
        <p:spPr>
          <a:xfrm>
            <a:off x="1816491" y="2578511"/>
            <a:ext cx="36000" cy="36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54"/>
          <p:cNvSpPr/>
          <p:nvPr/>
        </p:nvSpPr>
        <p:spPr>
          <a:xfrm>
            <a:off x="2083191" y="2578511"/>
            <a:ext cx="36000" cy="36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</a:t>
            </a:r>
            <a:endParaRPr/>
          </a:p>
        </p:txBody>
      </p:sp>
      <p:sp>
        <p:nvSpPr>
          <p:cNvPr id="332" name="Google Shape;332;p55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000250"/>
            <a:ext cx="9144002" cy="9144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333500"/>
            <a:ext cx="4762500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search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For each door from left to right</a:t>
            </a:r>
            <a:endParaRPr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If 50 is behind door</a:t>
            </a:r>
            <a:endParaRPr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</a:t>
            </a:r>
            <a:endParaRPr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Else</a:t>
            </a:r>
            <a:endParaRPr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Return false</a:t>
            </a:r>
            <a:endParaRPr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each door from left to right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50 is behind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true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Return false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i from 0 to 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50 is behind doors[i]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true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Return false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333500"/>
            <a:ext cx="4762500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50 is behind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true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50 &lt;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Search left half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50 &gt;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Search right half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no doors left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50 is behind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true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50 &lt;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Search left half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50 &gt;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Search right half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no doors left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false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50 is behind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true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50 &lt;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Search left half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50 &gt;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Search right half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no doors left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false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50 is behind doors[middle]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true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50 &lt; doors[middle]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Search doors[0] through doors[middle - 1]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50 &gt; doors[middle]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Search doors[middle + 1] through doors[n - 1]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running time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1536"/>
            <a:ext cx="6400798" cy="36004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08" name="Google Shape;408;p70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09" name="Google Shape;409;p70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1536"/>
            <a:ext cx="6400798" cy="3600451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71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16" name="Google Shape;416;p71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17" name="Google Shape;417;p71"/>
          <p:cNvSpPr txBox="1"/>
          <p:nvPr/>
        </p:nvSpPr>
        <p:spPr>
          <a:xfrm>
            <a:off x="1752600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/>
              <a:t>O</a:t>
            </a:r>
            <a:r>
              <a:rPr lang="en" sz="2400"/>
              <a:t>(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/>
              <a:t>)</a:t>
            </a:r>
            <a:endParaRPr sz="2400"/>
          </a:p>
        </p:txBody>
      </p:sp>
      <p:sp>
        <p:nvSpPr>
          <p:cNvPr id="418" name="Google Shape;418;p71"/>
          <p:cNvSpPr txBox="1"/>
          <p:nvPr/>
        </p:nvSpPr>
        <p:spPr>
          <a:xfrm>
            <a:off x="2552700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/>
              <a:t>O</a:t>
            </a:r>
            <a:r>
              <a:rPr lang="en" sz="2400"/>
              <a:t>(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/2</a:t>
            </a:r>
            <a:r>
              <a:rPr lang="en" sz="2400"/>
              <a:t>)</a:t>
            </a:r>
            <a:endParaRPr sz="2400"/>
          </a:p>
        </p:txBody>
      </p:sp>
      <p:sp>
        <p:nvSpPr>
          <p:cNvPr id="419" name="Google Shape;419;p71"/>
          <p:cNvSpPr txBox="1"/>
          <p:nvPr/>
        </p:nvSpPr>
        <p:spPr>
          <a:xfrm>
            <a:off x="7772400" y="23337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/>
              <a:t>O</a:t>
            </a:r>
            <a:r>
              <a:rPr lang="en" sz="2400"/>
              <a:t>(</a:t>
            </a:r>
            <a:r>
              <a:rPr lang="en" sz="2400">
                <a:solidFill>
                  <a:srgbClr val="FFFFFF"/>
                </a:solidFill>
              </a:rPr>
              <a:t>log</a:t>
            </a:r>
            <a:r>
              <a:rPr lang="en" sz="2400" baseline="-25000">
                <a:solidFill>
                  <a:srgbClr val="FFFFFF"/>
                </a:solidFill>
              </a:rPr>
              <a:t>2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/>
              <a:t>)</a:t>
            </a:r>
            <a:endParaRPr sz="2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1536"/>
            <a:ext cx="6400798" cy="3600451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72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26" name="Google Shape;426;p72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27" name="Google Shape;427;p72"/>
          <p:cNvSpPr txBox="1"/>
          <p:nvPr/>
        </p:nvSpPr>
        <p:spPr>
          <a:xfrm>
            <a:off x="1752600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28" name="Google Shape;428;p72"/>
          <p:cNvSpPr txBox="1"/>
          <p:nvPr/>
        </p:nvSpPr>
        <p:spPr>
          <a:xfrm>
            <a:off x="2552700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/2)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29" name="Google Shape;429;p72"/>
          <p:cNvSpPr txBox="1"/>
          <p:nvPr/>
        </p:nvSpPr>
        <p:spPr>
          <a:xfrm>
            <a:off x="7772400" y="23337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(log</a:t>
            </a:r>
            <a:r>
              <a:rPr lang="en" sz="2400" baseline="-25000">
                <a:solidFill>
                  <a:srgbClr val="FFFFFF"/>
                </a:solidFill>
              </a:rPr>
              <a:t>2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1536"/>
            <a:ext cx="6400798" cy="3600451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73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36" name="Google Shape;436;p73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37" name="Google Shape;437;p73"/>
          <p:cNvSpPr txBox="1"/>
          <p:nvPr/>
        </p:nvSpPr>
        <p:spPr>
          <a:xfrm>
            <a:off x="1752600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38" name="Google Shape;438;p73"/>
          <p:cNvSpPr txBox="1"/>
          <p:nvPr/>
        </p:nvSpPr>
        <p:spPr>
          <a:xfrm>
            <a:off x="2552700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39" name="Google Shape;439;p73"/>
          <p:cNvSpPr txBox="1"/>
          <p:nvPr/>
        </p:nvSpPr>
        <p:spPr>
          <a:xfrm>
            <a:off x="7772400" y="23337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(log</a:t>
            </a:r>
            <a:r>
              <a:rPr lang="en" sz="2400" baseline="-25000">
                <a:solidFill>
                  <a:srgbClr val="FFFFFF"/>
                </a:solidFill>
              </a:rPr>
              <a:t>2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1536"/>
            <a:ext cx="6400798" cy="3600451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74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46" name="Google Shape;446;p74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47" name="Google Shape;447;p74"/>
          <p:cNvSpPr txBox="1"/>
          <p:nvPr/>
        </p:nvSpPr>
        <p:spPr>
          <a:xfrm>
            <a:off x="1752600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48" name="Google Shape;448;p74"/>
          <p:cNvSpPr txBox="1"/>
          <p:nvPr/>
        </p:nvSpPr>
        <p:spPr>
          <a:xfrm>
            <a:off x="2552700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49" name="Google Shape;449;p74"/>
          <p:cNvSpPr txBox="1"/>
          <p:nvPr/>
        </p:nvSpPr>
        <p:spPr>
          <a:xfrm>
            <a:off x="7772400" y="23337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(log</a:t>
            </a:r>
            <a:r>
              <a:rPr lang="en" sz="2400" baseline="-25000">
                <a:solidFill>
                  <a:srgbClr val="FFFFFF"/>
                </a:solidFill>
              </a:rPr>
              <a:t> 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5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55" name="Google Shape;455;p75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56" name="Google Shape;456;p75"/>
          <p:cNvSpPr txBox="1"/>
          <p:nvPr/>
        </p:nvSpPr>
        <p:spPr>
          <a:xfrm>
            <a:off x="1499714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57" name="Google Shape;457;p75"/>
          <p:cNvSpPr txBox="1"/>
          <p:nvPr/>
        </p:nvSpPr>
        <p:spPr>
          <a:xfrm>
            <a:off x="7772400" y="26004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(log</a:t>
            </a:r>
            <a:r>
              <a:rPr lang="en" sz="2400" baseline="-25000">
                <a:solidFill>
                  <a:srgbClr val="FFFFFF"/>
                </a:solidFill>
              </a:rPr>
              <a:t> 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pic>
        <p:nvPicPr>
          <p:cNvPr id="458" name="Google Shape;45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2425"/>
            <a:ext cx="6400801" cy="359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i="1"/>
              <a:t>O</a:t>
            </a:r>
            <a:endParaRPr sz="6000" i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r>
              <a:rPr lang="en">
                <a:solidFill>
                  <a:srgbClr val="666666"/>
                </a:solidFill>
              </a:rPr>
              <a:t>linear search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r>
              <a:rPr lang="en">
                <a:solidFill>
                  <a:schemeClr val="dk1"/>
                </a:solidFill>
              </a:rPr>
              <a:t>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r>
              <a:rPr lang="en">
                <a:solidFill>
                  <a:srgbClr val="666666"/>
                </a:solidFill>
              </a:rPr>
              <a:t>linear search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r>
              <a:rPr lang="en">
                <a:solidFill>
                  <a:schemeClr val="dk1"/>
                </a:solidFill>
              </a:rPr>
              <a:t>        </a:t>
            </a:r>
            <a:r>
              <a:rPr lang="en">
                <a:solidFill>
                  <a:srgbClr val="666666"/>
                </a:solidFill>
              </a:rPr>
              <a:t>binary search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8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Ω</a:t>
            </a:r>
            <a:endParaRPr sz="6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8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Ω(1)              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Ω(1)              </a:t>
            </a:r>
            <a:r>
              <a:rPr lang="en">
                <a:solidFill>
                  <a:srgbClr val="666666"/>
                </a:solidFill>
              </a:rPr>
              <a:t>linear search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Ω(1)              </a:t>
            </a:r>
            <a:r>
              <a:rPr lang="en">
                <a:solidFill>
                  <a:srgbClr val="666666"/>
                </a:solidFill>
              </a:rPr>
              <a:t>linear search, binary search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Θ</a:t>
            </a:r>
            <a:endParaRPr sz="6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Θ(1)          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8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asymptotic notation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search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8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string.h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uFill>
                  <a:noFill/>
                </a:uFill>
                <a:hlinkClick r:id="rId3"/>
              </a:rPr>
              <a:t>manual.cs50.io/#string.h</a:t>
            </a:r>
            <a:endParaRPr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9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strcmp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9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9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person people[]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9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string name;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string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9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string name;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string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9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string name;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string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sorting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7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97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input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570" name="Google Shape;570;p97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98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98"/>
          <p:cNvSpPr txBox="1"/>
          <p:nvPr/>
        </p:nvSpPr>
        <p:spPr>
          <a:xfrm>
            <a:off x="532847" y="2195550"/>
            <a:ext cx="26766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unsorted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577" name="Google Shape;577;p98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99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99"/>
          <p:cNvSpPr txBox="1"/>
          <p:nvPr/>
        </p:nvSpPr>
        <p:spPr>
          <a:xfrm>
            <a:off x="479547" y="2195550"/>
            <a:ext cx="27300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unsorted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584" name="Google Shape;584;p99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sorted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00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100"/>
          <p:cNvSpPr txBox="1"/>
          <p:nvPr/>
        </p:nvSpPr>
        <p:spPr>
          <a:xfrm>
            <a:off x="0" y="2195550"/>
            <a:ext cx="32094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591" name="Google Shape;591;p100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sorted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592" name="Google Shape;592;p100"/>
          <p:cNvSpPr txBox="1"/>
          <p:nvPr/>
        </p:nvSpPr>
        <p:spPr>
          <a:xfrm>
            <a:off x="164425" y="2358150"/>
            <a:ext cx="2220300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7 2 5 4 1 6 0 3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01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101"/>
          <p:cNvSpPr txBox="1"/>
          <p:nvPr/>
        </p:nvSpPr>
        <p:spPr>
          <a:xfrm>
            <a:off x="0" y="2195550"/>
            <a:ext cx="32094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599" name="Google Shape;599;p101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600" name="Google Shape;600;p101"/>
          <p:cNvSpPr txBox="1"/>
          <p:nvPr/>
        </p:nvSpPr>
        <p:spPr>
          <a:xfrm>
            <a:off x="164425" y="2358150"/>
            <a:ext cx="2220300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7 2 5 4 1 6 0 3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1" name="Google Shape;601;p101"/>
          <p:cNvSpPr txBox="1"/>
          <p:nvPr/>
        </p:nvSpPr>
        <p:spPr>
          <a:xfrm>
            <a:off x="6691151" y="2358150"/>
            <a:ext cx="2220300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0 1 2 3 4 5 6 7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0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7  2  5  4  1  6  0  3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0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sort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1" name="Google Shape;621;p105"/>
          <p:cNvGraphicFramePr/>
          <p:nvPr/>
        </p:nvGraphicFramePr>
        <p:xfrm>
          <a:off x="-571500" y="-304800"/>
          <a:ext cx="10287000" cy="571500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[0]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[1]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[2]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[n-3]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[n-2]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[n-1]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2" name="Google Shape;622;p105"/>
          <p:cNvSpPr/>
          <p:nvPr/>
        </p:nvSpPr>
        <p:spPr>
          <a:xfrm>
            <a:off x="663324" y="249420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05"/>
          <p:cNvSpPr/>
          <p:nvPr/>
        </p:nvSpPr>
        <p:spPr>
          <a:xfrm>
            <a:off x="1842774" y="249420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105"/>
          <p:cNvSpPr/>
          <p:nvPr/>
        </p:nvSpPr>
        <p:spPr>
          <a:xfrm>
            <a:off x="2988825" y="251325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105"/>
          <p:cNvSpPr/>
          <p:nvPr/>
        </p:nvSpPr>
        <p:spPr>
          <a:xfrm>
            <a:off x="4168275" y="251325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105"/>
          <p:cNvSpPr/>
          <p:nvPr/>
        </p:nvSpPr>
        <p:spPr>
          <a:xfrm>
            <a:off x="5257824" y="2503725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05"/>
          <p:cNvSpPr/>
          <p:nvPr/>
        </p:nvSpPr>
        <p:spPr>
          <a:xfrm>
            <a:off x="6437274" y="2503725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105"/>
          <p:cNvSpPr/>
          <p:nvPr/>
        </p:nvSpPr>
        <p:spPr>
          <a:xfrm>
            <a:off x="7583325" y="2522775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0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i from 0 to n-1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Find smallest number between numbers[i] and numbers[n-1]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Swap smallest number with numbers[i]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0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7  2  5  4  1  6  0  3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0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7  2  5  4  1  6  0  3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4" name="Google Shape;644;p108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0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7  2  5  4  1  6  0  3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0" name="Google Shape;650;p109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1" name="Google Shape;651;p109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2" name="Google Shape;652;p109"/>
          <p:cNvSpPr txBox="1"/>
          <p:nvPr/>
        </p:nvSpPr>
        <p:spPr>
          <a:xfrm>
            <a:off x="6802697" y="2980675"/>
            <a:ext cx="8223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1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2  5  4  1  6  0  3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8" name="Google Shape;658;p110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9" name="Google Shape;659;p110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0" name="Google Shape;660;p110"/>
          <p:cNvSpPr txBox="1"/>
          <p:nvPr/>
        </p:nvSpPr>
        <p:spPr>
          <a:xfrm>
            <a:off x="6802697" y="2980675"/>
            <a:ext cx="8223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1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5  4  1  6  0  3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6" name="Google Shape;666;p111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7" name="Google Shape;667;p111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8" name="Google Shape;668;p111"/>
          <p:cNvSpPr txBox="1"/>
          <p:nvPr/>
        </p:nvSpPr>
        <p:spPr>
          <a:xfrm>
            <a:off x="6802697" y="2980675"/>
            <a:ext cx="8223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7  2  5  4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4" name="Google Shape;674;p112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5" name="Google Shape;675;p112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6" name="Google Shape;676;p112"/>
          <p:cNvSpPr txBox="1"/>
          <p:nvPr/>
        </p:nvSpPr>
        <p:spPr>
          <a:xfrm>
            <a:off x="6802697" y="2980675"/>
            <a:ext cx="8223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7  2  5  4  1  6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2" name="Google Shape;682;p113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3" name="Google Shape;683;p113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4" name="Google Shape;684;p113"/>
          <p:cNvSpPr txBox="1"/>
          <p:nvPr/>
        </p:nvSpPr>
        <p:spPr>
          <a:xfrm>
            <a:off x="6802697" y="2980675"/>
            <a:ext cx="8223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2  5  4  1  6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0" name="Google Shape;690;p114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1" name="Google Shape;691;p114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2" name="Google Shape;692;p114"/>
          <p:cNvSpPr txBox="1"/>
          <p:nvPr/>
        </p:nvSpPr>
        <p:spPr>
          <a:xfrm>
            <a:off x="6802697" y="2980675"/>
            <a:ext cx="8223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2  5  4  1  6 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8" name="Google Shape;698;p115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9" name="Google Shape;699;p115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0" name="Google Shape;700;p115"/>
          <p:cNvSpPr txBox="1"/>
          <p:nvPr/>
        </p:nvSpPr>
        <p:spPr>
          <a:xfrm>
            <a:off x="6802697" y="2980675"/>
            <a:ext cx="8223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2  5  4  1  6  7  3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6" name="Google Shape;706;p116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7" name="Google Shape;707;p116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8" name="Google Shape;708;p116"/>
          <p:cNvSpPr txBox="1"/>
          <p:nvPr/>
        </p:nvSpPr>
        <p:spPr>
          <a:xfrm>
            <a:off x="6802697" y="2980675"/>
            <a:ext cx="8223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2  5  4  1  6  7  3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4" name="Google Shape;714;p117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5" name="Google Shape;715;p117"/>
          <p:cNvSpPr txBox="1"/>
          <p:nvPr/>
        </p:nvSpPr>
        <p:spPr>
          <a:xfrm>
            <a:off x="1559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6" name="Google Shape;716;p117"/>
          <p:cNvSpPr txBox="1"/>
          <p:nvPr/>
        </p:nvSpPr>
        <p:spPr>
          <a:xfrm>
            <a:off x="6802697" y="2980675"/>
            <a:ext cx="8223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2  5  4  1  6  7  3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2" name="Google Shape;722;p118"/>
          <p:cNvSpPr txBox="1"/>
          <p:nvPr/>
        </p:nvSpPr>
        <p:spPr>
          <a:xfrm>
            <a:off x="2321328" y="2980675"/>
            <a:ext cx="6987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3" name="Google Shape;723;p118"/>
          <p:cNvSpPr txBox="1"/>
          <p:nvPr/>
        </p:nvSpPr>
        <p:spPr>
          <a:xfrm>
            <a:off x="6802697" y="2980675"/>
            <a:ext cx="8223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1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1)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1) + 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2)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1) + 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2)</a:t>
            </a:r>
            <a:r>
              <a:rPr lang="en">
                <a:solidFill>
                  <a:schemeClr val="dk1"/>
                </a:solidFill>
              </a:rPr>
              <a:t> + 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– 3)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1) + 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2)</a:t>
            </a:r>
            <a:r>
              <a:rPr lang="en">
                <a:solidFill>
                  <a:schemeClr val="dk1"/>
                </a:solidFill>
              </a:rPr>
              <a:t> + 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– 3)</a:t>
            </a:r>
            <a:r>
              <a:rPr lang="en">
                <a:solidFill>
                  <a:srgbClr val="FFFFFF"/>
                </a:solidFill>
              </a:rPr>
              <a:t> + ... + 1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 + 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2) + 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3) + ... + 1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1)/2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 + 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2) + 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3) + ... + 1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1)/2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 baseline="30000">
                <a:solidFill>
                  <a:srgbClr val="FFFFFF"/>
                </a:solidFill>
              </a:rPr>
              <a:t>2</a:t>
            </a:r>
            <a:r>
              <a:rPr lang="en">
                <a:solidFill>
                  <a:srgbClr val="FFFFFF"/>
                </a:solidFill>
              </a:rPr>
              <a:t> – n)/2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 + 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2) + 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3) + ... + 1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1)/2</a:t>
            </a:r>
            <a:endParaRPr i="1"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 baseline="30000">
                <a:solidFill>
                  <a:srgbClr val="666666"/>
                </a:solidFill>
              </a:rPr>
              <a:t>2</a:t>
            </a:r>
            <a:r>
              <a:rPr lang="en">
                <a:solidFill>
                  <a:srgbClr val="666666"/>
                </a:solidFill>
              </a:rPr>
              <a:t> – n)/2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 baseline="30000">
                <a:solidFill>
                  <a:srgbClr val="FFFFFF"/>
                </a:solidFill>
              </a:rPr>
              <a:t>2</a:t>
            </a:r>
            <a:r>
              <a:rPr lang="en">
                <a:solidFill>
                  <a:srgbClr val="FFFFFF"/>
                </a:solidFill>
              </a:rPr>
              <a:t>/2 –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/2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 + 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2) + 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3) + ... + 1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1)/2</a:t>
            </a:r>
            <a:endParaRPr i="1"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 baseline="30000">
                <a:solidFill>
                  <a:srgbClr val="666666"/>
                </a:solidFill>
              </a:rPr>
              <a:t>2</a:t>
            </a:r>
            <a:r>
              <a:rPr lang="en">
                <a:solidFill>
                  <a:srgbClr val="666666"/>
                </a:solidFill>
              </a:rPr>
              <a:t> – n)/2</a:t>
            </a:r>
            <a:endParaRPr i="1"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 baseline="30000">
                <a:solidFill>
                  <a:srgbClr val="666666"/>
                </a:solidFill>
              </a:rPr>
              <a:t>2</a:t>
            </a:r>
            <a:r>
              <a:rPr lang="en">
                <a:solidFill>
                  <a:srgbClr val="666666"/>
                </a:solidFill>
              </a:rPr>
              <a:t>/2 – 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/2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1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r>
              <a:rPr lang="en">
                <a:solidFill>
                  <a:srgbClr val="666666"/>
                </a:solidFill>
              </a:rPr>
              <a:t>selection sort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i from 0 to 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Find smallest number between numbers[i] and numbers[n-1]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Swap smallest number with numbers[i]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3" name="Google Shape;783;p130"/>
          <p:cNvGraphicFramePr/>
          <p:nvPr/>
        </p:nvGraphicFramePr>
        <p:xfrm>
          <a:off x="-571500" y="-304800"/>
          <a:ext cx="10287000" cy="571500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[0]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[1]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[2]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[n-3]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[n-2]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[n-1]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84" name="Google Shape;784;p130"/>
          <p:cNvSpPr/>
          <p:nvPr/>
        </p:nvSpPr>
        <p:spPr>
          <a:xfrm>
            <a:off x="663324" y="249420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130"/>
          <p:cNvSpPr/>
          <p:nvPr/>
        </p:nvSpPr>
        <p:spPr>
          <a:xfrm>
            <a:off x="1842774" y="249420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130"/>
          <p:cNvSpPr/>
          <p:nvPr/>
        </p:nvSpPr>
        <p:spPr>
          <a:xfrm>
            <a:off x="2988825" y="251325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130"/>
          <p:cNvSpPr/>
          <p:nvPr/>
        </p:nvSpPr>
        <p:spPr>
          <a:xfrm>
            <a:off x="4168275" y="251325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130"/>
          <p:cNvSpPr/>
          <p:nvPr/>
        </p:nvSpPr>
        <p:spPr>
          <a:xfrm>
            <a:off x="5257824" y="2503725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130"/>
          <p:cNvSpPr/>
          <p:nvPr/>
        </p:nvSpPr>
        <p:spPr>
          <a:xfrm>
            <a:off x="6437274" y="2503725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130"/>
          <p:cNvSpPr/>
          <p:nvPr/>
        </p:nvSpPr>
        <p:spPr>
          <a:xfrm>
            <a:off x="7583325" y="2522775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Ω(1)              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r>
              <a:rPr lang="en">
                <a:solidFill>
                  <a:srgbClr val="666666"/>
                </a:solidFill>
              </a:rPr>
              <a:t>selection sort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Ω(1)              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Θ(1)              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r>
              <a:rPr lang="en">
                <a:solidFill>
                  <a:srgbClr val="666666"/>
                </a:solidFill>
              </a:rPr>
              <a:t>selection sort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Θ(1)              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bubble sort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0" name="Google Shape;820;p136"/>
          <p:cNvGraphicFramePr/>
          <p:nvPr/>
        </p:nvGraphicFramePr>
        <p:xfrm>
          <a:off x="-571500" y="-304800"/>
          <a:ext cx="10287000" cy="571500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[0]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[1]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[2]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[n-3]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[n-2]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[n-1]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21" name="Google Shape;821;p136"/>
          <p:cNvSpPr/>
          <p:nvPr/>
        </p:nvSpPr>
        <p:spPr>
          <a:xfrm>
            <a:off x="663324" y="249420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136"/>
          <p:cNvSpPr/>
          <p:nvPr/>
        </p:nvSpPr>
        <p:spPr>
          <a:xfrm>
            <a:off x="1842774" y="249420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36"/>
          <p:cNvSpPr/>
          <p:nvPr/>
        </p:nvSpPr>
        <p:spPr>
          <a:xfrm>
            <a:off x="2988825" y="251325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136"/>
          <p:cNvSpPr/>
          <p:nvPr/>
        </p:nvSpPr>
        <p:spPr>
          <a:xfrm>
            <a:off x="4168275" y="2513250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136"/>
          <p:cNvSpPr/>
          <p:nvPr/>
        </p:nvSpPr>
        <p:spPr>
          <a:xfrm>
            <a:off x="5257824" y="2503725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136"/>
          <p:cNvSpPr/>
          <p:nvPr/>
        </p:nvSpPr>
        <p:spPr>
          <a:xfrm>
            <a:off x="6437274" y="2503725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136"/>
          <p:cNvSpPr/>
          <p:nvPr/>
        </p:nvSpPr>
        <p:spPr>
          <a:xfrm>
            <a:off x="7583325" y="2522775"/>
            <a:ext cx="117000" cy="11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Repeat n times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i from 0 to n-2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numbers[i] and numbers[i+1] out of order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Swap them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Repeat n-1 times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i from 0 to n-2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numbers[i] and numbers[i+1] out of order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Swap them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3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7  2  5  4  1  6  0  3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4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7  2  5  4  1  6  0  3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8" name="Google Shape;848;p140"/>
          <p:cNvSpPr txBox="1"/>
          <p:nvPr/>
        </p:nvSpPr>
        <p:spPr>
          <a:xfrm>
            <a:off x="1544900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4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2  7  5  4  1  6  0  3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4" name="Google Shape;854;p141"/>
          <p:cNvSpPr txBox="1"/>
          <p:nvPr/>
        </p:nvSpPr>
        <p:spPr>
          <a:xfrm>
            <a:off x="1544900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4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2  7  5  4  1  6  0  3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0" name="Google Shape;860;p142"/>
          <p:cNvSpPr txBox="1"/>
          <p:nvPr/>
        </p:nvSpPr>
        <p:spPr>
          <a:xfrm>
            <a:off x="2288725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4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2  5  7  4  1  6  0  3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6" name="Google Shape;866;p143"/>
          <p:cNvSpPr txBox="1"/>
          <p:nvPr/>
        </p:nvSpPr>
        <p:spPr>
          <a:xfrm>
            <a:off x="2288725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4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2  5  7  4  1  6  0  3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2" name="Google Shape;872;p144"/>
          <p:cNvSpPr txBox="1"/>
          <p:nvPr/>
        </p:nvSpPr>
        <p:spPr>
          <a:xfrm>
            <a:off x="3036050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14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2  5  4  7  1  6  0  3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8" name="Google Shape;878;p145"/>
          <p:cNvSpPr txBox="1"/>
          <p:nvPr/>
        </p:nvSpPr>
        <p:spPr>
          <a:xfrm>
            <a:off x="3036050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4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2  5  4  7  1  6  0  3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4" name="Google Shape;884;p146"/>
          <p:cNvSpPr txBox="1"/>
          <p:nvPr/>
        </p:nvSpPr>
        <p:spPr>
          <a:xfrm>
            <a:off x="3798050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4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2  5  4  1  7  6  0  3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0" name="Google Shape;890;p147"/>
          <p:cNvSpPr txBox="1"/>
          <p:nvPr/>
        </p:nvSpPr>
        <p:spPr>
          <a:xfrm>
            <a:off x="3798050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2  5  4  1  7  6  0  3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6" name="Google Shape;896;p148"/>
          <p:cNvSpPr txBox="1"/>
          <p:nvPr/>
        </p:nvSpPr>
        <p:spPr>
          <a:xfrm>
            <a:off x="4560050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4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2  5  4  1  6  7  0  3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2" name="Google Shape;902;p149"/>
          <p:cNvSpPr txBox="1"/>
          <p:nvPr/>
        </p:nvSpPr>
        <p:spPr>
          <a:xfrm>
            <a:off x="4560050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5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2  5  4  1  6  7  0  3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8" name="Google Shape;908;p150"/>
          <p:cNvSpPr txBox="1"/>
          <p:nvPr/>
        </p:nvSpPr>
        <p:spPr>
          <a:xfrm>
            <a:off x="5303875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5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2  5  4  1  6  0  7  3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4" name="Google Shape;914;p151"/>
          <p:cNvSpPr txBox="1"/>
          <p:nvPr/>
        </p:nvSpPr>
        <p:spPr>
          <a:xfrm>
            <a:off x="5303875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5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2  5  4  1  6  0  7  3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0" name="Google Shape;920;p152"/>
          <p:cNvSpPr txBox="1"/>
          <p:nvPr/>
        </p:nvSpPr>
        <p:spPr>
          <a:xfrm>
            <a:off x="6065875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5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2  5  4  1  6  0  3  7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6" name="Google Shape;926;p153"/>
          <p:cNvSpPr txBox="1"/>
          <p:nvPr/>
        </p:nvSpPr>
        <p:spPr>
          <a:xfrm>
            <a:off x="6065875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5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2  5  4  1  6  0  3  7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2" name="Google Shape;932;p154"/>
          <p:cNvSpPr txBox="1"/>
          <p:nvPr/>
        </p:nvSpPr>
        <p:spPr>
          <a:xfrm>
            <a:off x="1544900" y="2980676"/>
            <a:ext cx="16539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  [i+1]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Repeat n-1 times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i from 0 to n-2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numbers[i] and numbers[i+1] out of order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Swap them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Repeat n-1 times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i from 0 to n-2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numbers[i] and numbers[i+1] out of order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Swap them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1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Repeat n-1 times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i from 0 to n-2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numbers[i] and numbers[i+1] out of order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Swap them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Repeat n-1 times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i from 0 to n-2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numbers[i] and numbers[i+1] out of order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Swap them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1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Repeat n-1 times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i from 0 to n-2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numbers[i] and numbers[i+1] out of order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Swap them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Repeat n-1 times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i from 0 to n-2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numbers[i] and numbers[i+1] out of order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Swap them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1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1) × 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1)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1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 × 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 baseline="30000">
                <a:solidFill>
                  <a:srgbClr val="FFFFFF"/>
                </a:solidFill>
              </a:rPr>
              <a:t>2</a:t>
            </a:r>
            <a:r>
              <a:rPr lang="en">
                <a:solidFill>
                  <a:srgbClr val="FFFFFF"/>
                </a:solidFill>
              </a:rPr>
              <a:t> – 1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– 1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+ 1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1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 × 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 baseline="30000">
                <a:solidFill>
                  <a:srgbClr val="666666"/>
                </a:solidFill>
              </a:rPr>
              <a:t>2</a:t>
            </a:r>
            <a:r>
              <a:rPr lang="en">
                <a:solidFill>
                  <a:srgbClr val="666666"/>
                </a:solidFill>
              </a:rPr>
              <a:t> – 1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+ 1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 baseline="30000">
                <a:solidFill>
                  <a:srgbClr val="FFFFFF"/>
                </a:solidFill>
              </a:rPr>
              <a:t>2</a:t>
            </a:r>
            <a:r>
              <a:rPr lang="en">
                <a:solidFill>
                  <a:srgbClr val="FFFFFF"/>
                </a:solidFill>
              </a:rPr>
              <a:t> – 2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+ 1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16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 × (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1)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 baseline="30000">
                <a:solidFill>
                  <a:srgbClr val="666666"/>
                </a:solidFill>
              </a:rPr>
              <a:t>2</a:t>
            </a:r>
            <a:r>
              <a:rPr lang="en">
                <a:solidFill>
                  <a:srgbClr val="666666"/>
                </a:solidFill>
              </a:rPr>
              <a:t> – 1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– 1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+ 1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 baseline="30000">
                <a:solidFill>
                  <a:srgbClr val="666666"/>
                </a:solidFill>
              </a:rPr>
              <a:t>2</a:t>
            </a:r>
            <a:r>
              <a:rPr lang="en">
                <a:solidFill>
                  <a:srgbClr val="666666"/>
                </a:solidFill>
              </a:rPr>
              <a:t> – 2</a:t>
            </a:r>
            <a:r>
              <a:rPr lang="en" i="1">
                <a:solidFill>
                  <a:srgbClr val="666666"/>
                </a:solidFill>
              </a:rPr>
              <a:t>n</a:t>
            </a:r>
            <a:r>
              <a:rPr lang="en">
                <a:solidFill>
                  <a:srgbClr val="666666"/>
                </a:solidFill>
              </a:rPr>
              <a:t> + 1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 baseline="30000">
                <a:solidFill>
                  <a:srgbClr val="FFFFFF"/>
                </a:solidFill>
              </a:rPr>
              <a:t>2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6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r>
              <a:rPr lang="en">
                <a:solidFill>
                  <a:srgbClr val="666666"/>
                </a:solidFill>
              </a:rPr>
              <a:t>bubble sort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6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Repeat n-1 times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i from 0 to n-2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numbers[i] and numbers[i+1] out of order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Swap them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16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Repeat n-1 times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For i from 0 to n-2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If numbers[i] and numbers[i+1] out of order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Swap them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no swaps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Quit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16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Ω(1)              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7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    </a:t>
            </a:r>
            <a:r>
              <a:rPr lang="en">
                <a:solidFill>
                  <a:srgbClr val="666666"/>
                </a:solidFill>
              </a:rPr>
              <a:t>bubble sort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Ω(1)              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7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</a:t>
            </a:r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17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no doors left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false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number behind middle door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true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Else if number &lt; middle door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Search left half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Else if number &gt; middle door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Search right half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1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no doors left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false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number behind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true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number &lt;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Search left half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number &gt; middle door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Search right half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174"/>
          <p:cNvSpPr txBox="1">
            <a:spLocks noGrp="1"/>
          </p:cNvSpPr>
          <p:nvPr>
            <p:ph type="body" idx="1"/>
          </p:nvPr>
        </p:nvSpPr>
        <p:spPr>
          <a:xfrm>
            <a:off x="311700" y="287850"/>
            <a:ext cx="8520600" cy="45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   Pick up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  Open to middle of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   Look at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   If person is on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       Call person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earlier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      Open to middle of left half of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       Go back to line 3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later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Open to middle of right half of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  Go back to line 3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Else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    Quit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175"/>
          <p:cNvSpPr txBox="1">
            <a:spLocks noGrp="1"/>
          </p:cNvSpPr>
          <p:nvPr>
            <p:ph type="body" idx="1"/>
          </p:nvPr>
        </p:nvSpPr>
        <p:spPr>
          <a:xfrm>
            <a:off x="311700" y="287850"/>
            <a:ext cx="8520600" cy="45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   Pick up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  Open to middle of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   Look at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   If person is on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       Call person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earlier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      Open to middle of left half of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    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Go back to line 3</a:t>
            </a:r>
            <a:endParaRPr sz="2200"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later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Open to middle of right half of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Go back to line 3</a:t>
            </a:r>
            <a:endParaRPr sz="2200"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Else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    Quit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176"/>
          <p:cNvSpPr txBox="1">
            <a:spLocks noGrp="1"/>
          </p:cNvSpPr>
          <p:nvPr>
            <p:ph type="body" idx="1"/>
          </p:nvPr>
        </p:nvSpPr>
        <p:spPr>
          <a:xfrm>
            <a:off x="311700" y="287850"/>
            <a:ext cx="8520600" cy="45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   Pick up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  Open to middle of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   Look at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   If person is on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       Call person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earlier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   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Open to middle of left half of book</a:t>
            </a:r>
            <a:endParaRPr sz="2200"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    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Go back to line 3</a:t>
            </a:r>
            <a:endParaRPr sz="2200"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later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Open to middle of right half of book</a:t>
            </a:r>
            <a:endParaRPr sz="2200"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</a:t>
            </a:r>
            <a:r>
              <a:rPr lang="en" sz="22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Go back to line 3</a:t>
            </a:r>
            <a:endParaRPr sz="2200"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Else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    Quit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177"/>
          <p:cNvSpPr txBox="1">
            <a:spLocks noGrp="1"/>
          </p:cNvSpPr>
          <p:nvPr>
            <p:ph type="body" idx="1"/>
          </p:nvPr>
        </p:nvSpPr>
        <p:spPr>
          <a:xfrm>
            <a:off x="311700" y="287850"/>
            <a:ext cx="8520600" cy="45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   Pick up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  Open to middle of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   Look at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   If person is on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       Call person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earlier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   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Search left half of book</a:t>
            </a:r>
            <a:endParaRPr sz="2200"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       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later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Search right half of book</a:t>
            </a:r>
            <a:endParaRPr sz="2200"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  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Else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    Quit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178"/>
          <p:cNvSpPr txBox="1">
            <a:spLocks noGrp="1"/>
          </p:cNvSpPr>
          <p:nvPr>
            <p:ph type="body" idx="1"/>
          </p:nvPr>
        </p:nvSpPr>
        <p:spPr>
          <a:xfrm>
            <a:off x="311700" y="287850"/>
            <a:ext cx="8520600" cy="45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   Pick up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  Open to middle of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   Look at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   If person is on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       Call person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earlier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      </a:t>
            </a:r>
            <a:r>
              <a:rPr lang="en" sz="22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Search left half of book</a:t>
            </a:r>
            <a:endParaRPr sz="2200"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later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       </a:t>
            </a:r>
            <a:r>
              <a:rPr lang="en" sz="22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Search right half of book</a:t>
            </a:r>
            <a:endParaRPr sz="2200"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Else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  Quit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2" name="Google Shape;1062;p1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7" name="Google Shape;1067;p1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2" name="Google Shape;1072;p1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Google Shape;1077;p1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2" name="Google Shape;1082;p1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8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google.com/search?q=recursion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18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 sort</a:t>
            </a:r>
            <a:endParaRPr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18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Sort left half of numbers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Sort right half of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Merge sorted halves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8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only one number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Quit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Sort left half of numbers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Sort right half of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Merge sorted halves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18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only one number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Quit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Sort left half of numbers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Sort right half of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Merge sorted halves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19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1  3  4  6        0  2  5  7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9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only one number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Quit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Sort left half of numbers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Sort right half of numbers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Merge sorted halves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9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6  3  4  1  5  2  7  0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7" name="Google Shape;1127;p193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2" name="Google Shape;1132;p194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7" name="Google Shape;1137;p195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38" name="Google Shape;1138;p195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3" name="Google Shape;1143;p196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44" name="Google Shape;1144;p196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45" name="Google Shape;1145;p196"/>
          <p:cNvGraphicFramePr/>
          <p:nvPr/>
        </p:nvGraphicFramePr>
        <p:xfrm>
          <a:off x="7435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0" name="Google Shape;1150;p197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51" name="Google Shape;1151;p197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52" name="Google Shape;1152;p197"/>
          <p:cNvGraphicFramePr/>
          <p:nvPr/>
        </p:nvGraphicFramePr>
        <p:xfrm>
          <a:off x="7435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53" name="Google Shape;1153;p197"/>
          <p:cNvGraphicFramePr/>
          <p:nvPr/>
        </p:nvGraphicFramePr>
        <p:xfrm>
          <a:off x="3606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8" name="Google Shape;1158;p198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59" name="Google Shape;1159;p198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60" name="Google Shape;1160;p198"/>
          <p:cNvGraphicFramePr/>
          <p:nvPr/>
        </p:nvGraphicFramePr>
        <p:xfrm>
          <a:off x="7435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61" name="Google Shape;1161;p198"/>
          <p:cNvGraphicFramePr/>
          <p:nvPr/>
        </p:nvGraphicFramePr>
        <p:xfrm>
          <a:off x="3606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62" name="Google Shape;1162;p198"/>
          <p:cNvGraphicFramePr/>
          <p:nvPr/>
        </p:nvGraphicFramePr>
        <p:xfrm>
          <a:off x="150920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7" name="Google Shape;1167;p199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68" name="Google Shape;1168;p199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69" name="Google Shape;1169;p199"/>
          <p:cNvGraphicFramePr/>
          <p:nvPr/>
        </p:nvGraphicFramePr>
        <p:xfrm>
          <a:off x="7435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0" name="Google Shape;1170;p199"/>
          <p:cNvGraphicFramePr/>
          <p:nvPr/>
        </p:nvGraphicFramePr>
        <p:xfrm>
          <a:off x="3606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5" name="Google Shape;1175;p200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6" name="Google Shape;1176;p200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7" name="Google Shape;1177;p200"/>
          <p:cNvGraphicFramePr/>
          <p:nvPr/>
        </p:nvGraphicFramePr>
        <p:xfrm>
          <a:off x="7435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2" name="Google Shape;1182;p201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3" name="Google Shape;1183;p201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4" name="Google Shape;1184;p201"/>
          <p:cNvGraphicFramePr/>
          <p:nvPr/>
        </p:nvGraphicFramePr>
        <p:xfrm>
          <a:off x="7435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5" name="Google Shape;1185;p201"/>
          <p:cNvGraphicFramePr/>
          <p:nvPr/>
        </p:nvGraphicFramePr>
        <p:xfrm>
          <a:off x="30406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0" name="Google Shape;1190;p202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91" name="Google Shape;1191;p202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92" name="Google Shape;1192;p202"/>
          <p:cNvGraphicFramePr/>
          <p:nvPr/>
        </p:nvGraphicFramePr>
        <p:xfrm>
          <a:off x="7435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93" name="Google Shape;1193;p202"/>
          <p:cNvGraphicFramePr/>
          <p:nvPr/>
        </p:nvGraphicFramePr>
        <p:xfrm>
          <a:off x="30406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94" name="Google Shape;1194;p202"/>
          <p:cNvGraphicFramePr/>
          <p:nvPr/>
        </p:nvGraphicFramePr>
        <p:xfrm>
          <a:off x="26577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9" name="Google Shape;1199;p203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00" name="Google Shape;1200;p203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01" name="Google Shape;1201;p203"/>
          <p:cNvGraphicFramePr/>
          <p:nvPr/>
        </p:nvGraphicFramePr>
        <p:xfrm>
          <a:off x="7435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02" name="Google Shape;1202;p203"/>
          <p:cNvGraphicFramePr/>
          <p:nvPr/>
        </p:nvGraphicFramePr>
        <p:xfrm>
          <a:off x="30406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03" name="Google Shape;1203;p203"/>
          <p:cNvGraphicFramePr/>
          <p:nvPr/>
        </p:nvGraphicFramePr>
        <p:xfrm>
          <a:off x="26577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04" name="Google Shape;1204;p203"/>
          <p:cNvGraphicFramePr/>
          <p:nvPr/>
        </p:nvGraphicFramePr>
        <p:xfrm>
          <a:off x="380630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9" name="Google Shape;1209;p204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10" name="Google Shape;1210;p204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11" name="Google Shape;1211;p204"/>
          <p:cNvGraphicFramePr/>
          <p:nvPr/>
        </p:nvGraphicFramePr>
        <p:xfrm>
          <a:off x="7435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12" name="Google Shape;1212;p204"/>
          <p:cNvGraphicFramePr/>
          <p:nvPr/>
        </p:nvGraphicFramePr>
        <p:xfrm>
          <a:off x="30406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13" name="Google Shape;1213;p204"/>
          <p:cNvGraphicFramePr/>
          <p:nvPr/>
        </p:nvGraphicFramePr>
        <p:xfrm>
          <a:off x="26577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8" name="Google Shape;1218;p205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19" name="Google Shape;1219;p205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0" name="Google Shape;1220;p205"/>
          <p:cNvGraphicFramePr/>
          <p:nvPr/>
        </p:nvGraphicFramePr>
        <p:xfrm>
          <a:off x="7435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1" name="Google Shape;1221;p205"/>
          <p:cNvGraphicFramePr/>
          <p:nvPr/>
        </p:nvGraphicFramePr>
        <p:xfrm>
          <a:off x="30406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6" name="Google Shape;1226;p206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7" name="Google Shape;1227;p206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8" name="Google Shape;1228;p206"/>
          <p:cNvGraphicFramePr/>
          <p:nvPr/>
        </p:nvGraphicFramePr>
        <p:xfrm>
          <a:off x="7435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9" name="Google Shape;1229;p206"/>
          <p:cNvGraphicFramePr/>
          <p:nvPr/>
        </p:nvGraphicFramePr>
        <p:xfrm>
          <a:off x="30406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4" name="Google Shape;1234;p207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35" name="Google Shape;1235;p207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36" name="Google Shape;1236;p207"/>
          <p:cNvGraphicFramePr/>
          <p:nvPr/>
        </p:nvGraphicFramePr>
        <p:xfrm>
          <a:off x="7435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37" name="Google Shape;1237;p207"/>
          <p:cNvGraphicFramePr/>
          <p:nvPr/>
        </p:nvGraphicFramePr>
        <p:xfrm>
          <a:off x="30406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2" name="Google Shape;1242;p208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3" name="Google Shape;1243;p208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4" name="Google Shape;1244;p208"/>
          <p:cNvGraphicFramePr/>
          <p:nvPr/>
        </p:nvGraphicFramePr>
        <p:xfrm>
          <a:off x="7435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9" name="Google Shape;1249;p209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50" name="Google Shape;1250;p209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5" name="Google Shape;1255;p210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56" name="Google Shape;1256;p210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57" name="Google Shape;1257;p210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2" name="Google Shape;1262;p211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63" name="Google Shape;1263;p211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64" name="Google Shape;1264;p211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65" name="Google Shape;1265;p211"/>
          <p:cNvGraphicFramePr/>
          <p:nvPr/>
        </p:nvGraphicFramePr>
        <p:xfrm>
          <a:off x="53377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0" name="Google Shape;1270;p212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1" name="Google Shape;1271;p212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2" name="Google Shape;1272;p212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3" name="Google Shape;1273;p212"/>
          <p:cNvGraphicFramePr/>
          <p:nvPr/>
        </p:nvGraphicFramePr>
        <p:xfrm>
          <a:off x="53377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4" name="Google Shape;1274;p212"/>
          <p:cNvGraphicFramePr/>
          <p:nvPr/>
        </p:nvGraphicFramePr>
        <p:xfrm>
          <a:off x="49548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9" name="Google Shape;1279;p213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80" name="Google Shape;1280;p213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81" name="Google Shape;1281;p213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82" name="Google Shape;1282;p213"/>
          <p:cNvGraphicFramePr/>
          <p:nvPr/>
        </p:nvGraphicFramePr>
        <p:xfrm>
          <a:off x="53377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83" name="Google Shape;1283;p213"/>
          <p:cNvGraphicFramePr/>
          <p:nvPr/>
        </p:nvGraphicFramePr>
        <p:xfrm>
          <a:off x="49548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84" name="Google Shape;1284;p213"/>
          <p:cNvGraphicFramePr/>
          <p:nvPr/>
        </p:nvGraphicFramePr>
        <p:xfrm>
          <a:off x="610340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9" name="Google Shape;1289;p214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90" name="Google Shape;1290;p214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91" name="Google Shape;1291;p214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92" name="Google Shape;1292;p214"/>
          <p:cNvGraphicFramePr/>
          <p:nvPr/>
        </p:nvGraphicFramePr>
        <p:xfrm>
          <a:off x="53377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93" name="Google Shape;1293;p214"/>
          <p:cNvGraphicFramePr/>
          <p:nvPr/>
        </p:nvGraphicFramePr>
        <p:xfrm>
          <a:off x="49548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8" name="Google Shape;1298;p215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99" name="Google Shape;1299;p215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00" name="Google Shape;1300;p215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01" name="Google Shape;1301;p215"/>
          <p:cNvGraphicFramePr/>
          <p:nvPr/>
        </p:nvGraphicFramePr>
        <p:xfrm>
          <a:off x="53377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6" name="Google Shape;1306;p216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07" name="Google Shape;1307;p216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08" name="Google Shape;1308;p216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09" name="Google Shape;1309;p216"/>
          <p:cNvGraphicFramePr/>
          <p:nvPr/>
        </p:nvGraphicFramePr>
        <p:xfrm>
          <a:off x="53377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10" name="Google Shape;1310;p216"/>
          <p:cNvGraphicFramePr/>
          <p:nvPr/>
        </p:nvGraphicFramePr>
        <p:xfrm>
          <a:off x="76348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5" name="Google Shape;1315;p217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16" name="Google Shape;1316;p217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17" name="Google Shape;1317;p217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18" name="Google Shape;1318;p217"/>
          <p:cNvGraphicFramePr/>
          <p:nvPr/>
        </p:nvGraphicFramePr>
        <p:xfrm>
          <a:off x="53377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19" name="Google Shape;1319;p217"/>
          <p:cNvGraphicFramePr/>
          <p:nvPr/>
        </p:nvGraphicFramePr>
        <p:xfrm>
          <a:off x="76348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20" name="Google Shape;1320;p217"/>
          <p:cNvGraphicFramePr/>
          <p:nvPr/>
        </p:nvGraphicFramePr>
        <p:xfrm>
          <a:off x="72519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5" name="Google Shape;1325;p218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26" name="Google Shape;1326;p218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27" name="Google Shape;1327;p218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28" name="Google Shape;1328;p218"/>
          <p:cNvGraphicFramePr/>
          <p:nvPr/>
        </p:nvGraphicFramePr>
        <p:xfrm>
          <a:off x="53377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29" name="Google Shape;1329;p218"/>
          <p:cNvGraphicFramePr/>
          <p:nvPr/>
        </p:nvGraphicFramePr>
        <p:xfrm>
          <a:off x="76348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30" name="Google Shape;1330;p218"/>
          <p:cNvGraphicFramePr/>
          <p:nvPr/>
        </p:nvGraphicFramePr>
        <p:xfrm>
          <a:off x="72519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31" name="Google Shape;1331;p218"/>
          <p:cNvGraphicFramePr/>
          <p:nvPr/>
        </p:nvGraphicFramePr>
        <p:xfrm>
          <a:off x="840050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6" name="Google Shape;1336;p219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37" name="Google Shape;1337;p219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38" name="Google Shape;1338;p219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39" name="Google Shape;1339;p219"/>
          <p:cNvGraphicFramePr/>
          <p:nvPr/>
        </p:nvGraphicFramePr>
        <p:xfrm>
          <a:off x="53377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40" name="Google Shape;1340;p219"/>
          <p:cNvGraphicFramePr/>
          <p:nvPr/>
        </p:nvGraphicFramePr>
        <p:xfrm>
          <a:off x="76348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41" name="Google Shape;1341;p219"/>
          <p:cNvGraphicFramePr/>
          <p:nvPr/>
        </p:nvGraphicFramePr>
        <p:xfrm>
          <a:off x="72519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6" name="Google Shape;1346;p220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47" name="Google Shape;1347;p220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48" name="Google Shape;1348;p220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49" name="Google Shape;1349;p220"/>
          <p:cNvGraphicFramePr/>
          <p:nvPr/>
        </p:nvGraphicFramePr>
        <p:xfrm>
          <a:off x="53377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50" name="Google Shape;1350;p220"/>
          <p:cNvGraphicFramePr/>
          <p:nvPr/>
        </p:nvGraphicFramePr>
        <p:xfrm>
          <a:off x="76348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5" name="Google Shape;1355;p221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56" name="Google Shape;1356;p221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57" name="Google Shape;1357;p221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58" name="Google Shape;1358;p221"/>
          <p:cNvGraphicFramePr/>
          <p:nvPr/>
        </p:nvGraphicFramePr>
        <p:xfrm>
          <a:off x="53377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59" name="Google Shape;1359;p221"/>
          <p:cNvGraphicFramePr/>
          <p:nvPr/>
        </p:nvGraphicFramePr>
        <p:xfrm>
          <a:off x="76348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4" name="Google Shape;1364;p222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65" name="Google Shape;1365;p222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66" name="Google Shape;1366;p222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67" name="Google Shape;1367;p222"/>
          <p:cNvGraphicFramePr/>
          <p:nvPr/>
        </p:nvGraphicFramePr>
        <p:xfrm>
          <a:off x="53377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68" name="Google Shape;1368;p222"/>
          <p:cNvGraphicFramePr/>
          <p:nvPr/>
        </p:nvGraphicFramePr>
        <p:xfrm>
          <a:off x="76348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3" name="Google Shape;1373;p223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74" name="Google Shape;1374;p223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75" name="Google Shape;1375;p223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76" name="Google Shape;1376;p223"/>
          <p:cNvGraphicFramePr/>
          <p:nvPr/>
        </p:nvGraphicFramePr>
        <p:xfrm>
          <a:off x="76348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1" name="Google Shape;1381;p224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82" name="Google Shape;1382;p224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83" name="Google Shape;1383;p224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8" name="Google Shape;1388;p225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89" name="Google Shape;1389;p225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90" name="Google Shape;1390;p225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5" name="Google Shape;1395;p226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96" name="Google Shape;1396;p226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97" name="Google Shape;1397;p226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2" name="Google Shape;1402;p227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03" name="Google Shape;1403;p227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04" name="Google Shape;1404;p227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9" name="Google Shape;1409;p228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10" name="Google Shape;1410;p228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11" name="Google Shape;1411;p228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6" name="Google Shape;1416;p229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17" name="Google Shape;1417;p229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18" name="Google Shape;1418;p229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3" name="Google Shape;1423;p230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24" name="Google Shape;1424;p230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25" name="Google Shape;1425;p230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0" name="Google Shape;1430;p231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31" name="Google Shape;1431;p231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6" name="Google Shape;1436;p232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1" name="Google Shape;1441;p233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2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1" name="Google Shape;1451;p235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52" name="Google Shape;1452;p235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53" name="Google Shape;1453;p235"/>
          <p:cNvGraphicFramePr/>
          <p:nvPr/>
        </p:nvGraphicFramePr>
        <p:xfrm>
          <a:off x="7435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54" name="Google Shape;1454;p235"/>
          <p:cNvGraphicFramePr/>
          <p:nvPr/>
        </p:nvGraphicFramePr>
        <p:xfrm>
          <a:off x="3606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55" name="Google Shape;1455;p235"/>
          <p:cNvGraphicFramePr/>
          <p:nvPr/>
        </p:nvGraphicFramePr>
        <p:xfrm>
          <a:off x="150920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56" name="Google Shape;1456;p235"/>
          <p:cNvGraphicFramePr/>
          <p:nvPr/>
        </p:nvGraphicFramePr>
        <p:xfrm>
          <a:off x="30406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57" name="Google Shape;1457;p235"/>
          <p:cNvGraphicFramePr/>
          <p:nvPr/>
        </p:nvGraphicFramePr>
        <p:xfrm>
          <a:off x="26577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58" name="Google Shape;1458;p235"/>
          <p:cNvGraphicFramePr/>
          <p:nvPr/>
        </p:nvGraphicFramePr>
        <p:xfrm>
          <a:off x="380630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59" name="Google Shape;1459;p235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60" name="Google Shape;1460;p235"/>
          <p:cNvGraphicFramePr/>
          <p:nvPr/>
        </p:nvGraphicFramePr>
        <p:xfrm>
          <a:off x="53377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61" name="Google Shape;1461;p235"/>
          <p:cNvGraphicFramePr/>
          <p:nvPr/>
        </p:nvGraphicFramePr>
        <p:xfrm>
          <a:off x="49548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62" name="Google Shape;1462;p235"/>
          <p:cNvGraphicFramePr/>
          <p:nvPr/>
        </p:nvGraphicFramePr>
        <p:xfrm>
          <a:off x="610340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63" name="Google Shape;1463;p235"/>
          <p:cNvGraphicFramePr/>
          <p:nvPr/>
        </p:nvGraphicFramePr>
        <p:xfrm>
          <a:off x="76348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64" name="Google Shape;1464;p235"/>
          <p:cNvGraphicFramePr/>
          <p:nvPr/>
        </p:nvGraphicFramePr>
        <p:xfrm>
          <a:off x="72519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65" name="Google Shape;1465;p235"/>
          <p:cNvGraphicFramePr/>
          <p:nvPr/>
        </p:nvGraphicFramePr>
        <p:xfrm>
          <a:off x="840050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0" name="Google Shape;1470;p236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71" name="Google Shape;1471;p236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72" name="Google Shape;1472;p236"/>
          <p:cNvGraphicFramePr/>
          <p:nvPr/>
        </p:nvGraphicFramePr>
        <p:xfrm>
          <a:off x="7435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73" name="Google Shape;1473;p236"/>
          <p:cNvGraphicFramePr/>
          <p:nvPr/>
        </p:nvGraphicFramePr>
        <p:xfrm>
          <a:off x="3606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74" name="Google Shape;1474;p236"/>
          <p:cNvGraphicFramePr/>
          <p:nvPr/>
        </p:nvGraphicFramePr>
        <p:xfrm>
          <a:off x="150920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75" name="Google Shape;1475;p236"/>
          <p:cNvGraphicFramePr/>
          <p:nvPr/>
        </p:nvGraphicFramePr>
        <p:xfrm>
          <a:off x="30406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76" name="Google Shape;1476;p236"/>
          <p:cNvGraphicFramePr/>
          <p:nvPr/>
        </p:nvGraphicFramePr>
        <p:xfrm>
          <a:off x="26577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77" name="Google Shape;1477;p236"/>
          <p:cNvGraphicFramePr/>
          <p:nvPr/>
        </p:nvGraphicFramePr>
        <p:xfrm>
          <a:off x="380630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78" name="Google Shape;1478;p236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79" name="Google Shape;1479;p236"/>
          <p:cNvGraphicFramePr/>
          <p:nvPr/>
        </p:nvGraphicFramePr>
        <p:xfrm>
          <a:off x="53377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80" name="Google Shape;1480;p236"/>
          <p:cNvGraphicFramePr/>
          <p:nvPr/>
        </p:nvGraphicFramePr>
        <p:xfrm>
          <a:off x="49548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81" name="Google Shape;1481;p236"/>
          <p:cNvGraphicFramePr/>
          <p:nvPr/>
        </p:nvGraphicFramePr>
        <p:xfrm>
          <a:off x="610340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82" name="Google Shape;1482;p236"/>
          <p:cNvGraphicFramePr/>
          <p:nvPr/>
        </p:nvGraphicFramePr>
        <p:xfrm>
          <a:off x="76348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83" name="Google Shape;1483;p236"/>
          <p:cNvGraphicFramePr/>
          <p:nvPr/>
        </p:nvGraphicFramePr>
        <p:xfrm>
          <a:off x="72519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84" name="Google Shape;1484;p236"/>
          <p:cNvGraphicFramePr/>
          <p:nvPr/>
        </p:nvGraphicFramePr>
        <p:xfrm>
          <a:off x="840050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23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</a:t>
            </a:r>
            <a:r>
              <a:rPr lang="en" baseline="-25000"/>
              <a:t>2</a:t>
            </a:r>
            <a:r>
              <a:rPr lang="en"/>
              <a:t> </a:t>
            </a:r>
            <a:r>
              <a:rPr lang="en" i="1"/>
              <a:t>n</a:t>
            </a:r>
            <a:endParaRPr i="1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23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</a:t>
            </a:r>
            <a:r>
              <a:rPr lang="en" baseline="-25000"/>
              <a:t>2</a:t>
            </a:r>
            <a:r>
              <a:rPr lang="en"/>
              <a:t> 8</a:t>
            </a:r>
            <a:endParaRPr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23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</a:t>
            </a:r>
            <a:r>
              <a:rPr lang="en" baseline="-25000"/>
              <a:t>2</a:t>
            </a:r>
            <a:r>
              <a:rPr lang="en"/>
              <a:t> 2</a:t>
            </a:r>
            <a:r>
              <a:rPr lang="en" baseline="30000"/>
              <a:t>3</a:t>
            </a:r>
            <a:endParaRPr baseline="3000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24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 baseline="3000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9" name="Google Shape;1509;p241"/>
          <p:cNvGraphicFramePr/>
          <p:nvPr/>
        </p:nvGraphicFramePr>
        <p:xfrm>
          <a:off x="3040600" y="777175"/>
          <a:ext cx="30628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10" name="Google Shape;1510;p241"/>
          <p:cNvGraphicFramePr/>
          <p:nvPr/>
        </p:nvGraphicFramePr>
        <p:xfrm>
          <a:off x="15092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11" name="Google Shape;1511;p241"/>
          <p:cNvGraphicFramePr/>
          <p:nvPr/>
        </p:nvGraphicFramePr>
        <p:xfrm>
          <a:off x="7435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12" name="Google Shape;1512;p241"/>
          <p:cNvGraphicFramePr/>
          <p:nvPr/>
        </p:nvGraphicFramePr>
        <p:xfrm>
          <a:off x="3606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13" name="Google Shape;1513;p241"/>
          <p:cNvGraphicFramePr/>
          <p:nvPr/>
        </p:nvGraphicFramePr>
        <p:xfrm>
          <a:off x="150920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14" name="Google Shape;1514;p241"/>
          <p:cNvGraphicFramePr/>
          <p:nvPr/>
        </p:nvGraphicFramePr>
        <p:xfrm>
          <a:off x="30406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15" name="Google Shape;1515;p241"/>
          <p:cNvGraphicFramePr/>
          <p:nvPr/>
        </p:nvGraphicFramePr>
        <p:xfrm>
          <a:off x="26577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16" name="Google Shape;1516;p241"/>
          <p:cNvGraphicFramePr/>
          <p:nvPr/>
        </p:nvGraphicFramePr>
        <p:xfrm>
          <a:off x="380630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17" name="Google Shape;1517;p241"/>
          <p:cNvGraphicFramePr/>
          <p:nvPr/>
        </p:nvGraphicFramePr>
        <p:xfrm>
          <a:off x="6103400" y="1664875"/>
          <a:ext cx="15314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18" name="Google Shape;1518;p241"/>
          <p:cNvGraphicFramePr/>
          <p:nvPr/>
        </p:nvGraphicFramePr>
        <p:xfrm>
          <a:off x="53377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19" name="Google Shape;1519;p241"/>
          <p:cNvGraphicFramePr/>
          <p:nvPr/>
        </p:nvGraphicFramePr>
        <p:xfrm>
          <a:off x="49548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20" name="Google Shape;1520;p241"/>
          <p:cNvGraphicFramePr/>
          <p:nvPr/>
        </p:nvGraphicFramePr>
        <p:xfrm>
          <a:off x="610340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21" name="Google Shape;1521;p241"/>
          <p:cNvGraphicFramePr/>
          <p:nvPr/>
        </p:nvGraphicFramePr>
        <p:xfrm>
          <a:off x="7634800" y="2590925"/>
          <a:ext cx="76570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22" name="Google Shape;1522;p241"/>
          <p:cNvGraphicFramePr/>
          <p:nvPr/>
        </p:nvGraphicFramePr>
        <p:xfrm>
          <a:off x="725195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23" name="Google Shape;1523;p241"/>
          <p:cNvGraphicFramePr/>
          <p:nvPr/>
        </p:nvGraphicFramePr>
        <p:xfrm>
          <a:off x="8400500" y="3631025"/>
          <a:ext cx="382850" cy="731490"/>
        </p:xfrm>
        <a:graphic>
          <a:graphicData uri="http://schemas.openxmlformats.org/drawingml/2006/table">
            <a:tbl>
              <a:tblPr>
                <a:noFill/>
                <a:tableStyleId>{C2152C16-7A14-4FC3-AA19-C3280A4AE550}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3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24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n</a:t>
            </a:r>
            <a:r>
              <a:rPr lang="en"/>
              <a:t> log</a:t>
            </a:r>
            <a:r>
              <a:rPr lang="en" baseline="-25000"/>
              <a:t>2</a:t>
            </a:r>
            <a:r>
              <a:rPr lang="en"/>
              <a:t> </a:t>
            </a:r>
            <a:r>
              <a:rPr lang="en" i="1"/>
              <a:t>n</a:t>
            </a:r>
            <a:endParaRPr i="1" baseline="3000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24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n</a:t>
            </a:r>
            <a:r>
              <a:rPr lang="en"/>
              <a:t> log </a:t>
            </a:r>
            <a:r>
              <a:rPr lang="en" i="1"/>
              <a:t>n</a:t>
            </a:r>
            <a:endParaRPr i="1" baseline="3000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2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</a:t>
            </a:r>
            <a:r>
              <a:rPr lang="en">
                <a:solidFill>
                  <a:srgbClr val="666666"/>
                </a:solidFill>
              </a:rPr>
              <a:t>merge sort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2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</a:t>
            </a:r>
            <a:r>
              <a:rPr lang="en">
                <a:solidFill>
                  <a:srgbClr val="666666"/>
                </a:solidFill>
              </a:rPr>
              <a:t>merge sort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Ω(log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Ω(1)              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2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</a:t>
            </a:r>
            <a:r>
              <a:rPr lang="en">
                <a:solidFill>
                  <a:srgbClr val="666666"/>
                </a:solidFill>
              </a:rPr>
              <a:t>merge sort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Θ(log 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Θ(1)              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Visualization and Comparison of Sorting Algorithms">
            <a:hlinkClick r:id="" action="ppaction://media"/>
            <a:extLst>
              <a:ext uri="{FF2B5EF4-FFF2-40B4-BE49-F238E27FC236}">
                <a16:creationId xmlns:a16="http://schemas.microsoft.com/office/drawing/2014/main" id="{74A5D13D-5094-F3FB-2487-91CE580324A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21920" y="95883"/>
            <a:ext cx="8869680" cy="50109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F8A318-5D23-47ED-41E1-E0EE2A7A5CA5}"/>
              </a:ext>
            </a:extLst>
          </p:cNvPr>
          <p:cNvSpPr txBox="1"/>
          <p:nvPr/>
        </p:nvSpPr>
        <p:spPr>
          <a:xfrm>
            <a:off x="921001" y="2110085"/>
            <a:ext cx="7301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5400" dirty="0">
                <a:solidFill>
                  <a:schemeClr val="tx1"/>
                </a:solidFill>
              </a:rPr>
              <a:t>Computing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3780</Words>
  <Application>Microsoft Office PowerPoint</Application>
  <PresentationFormat>On-screen Show (16:9)</PresentationFormat>
  <Paragraphs>1245</Paragraphs>
  <Slides>213</Slides>
  <Notes>213</Notes>
  <HiddenSlides>2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213</vt:i4>
      </vt:variant>
    </vt:vector>
  </HeadingPairs>
  <TitlesOfParts>
    <vt:vector size="217" baseType="lpstr">
      <vt:lpstr>Arial</vt:lpstr>
      <vt:lpstr>Consolas</vt:lpstr>
      <vt:lpstr>Simple Dark</vt:lpstr>
      <vt:lpstr>Simple Dark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searching</vt:lpstr>
      <vt:lpstr>PowerPoint Presentation</vt:lpstr>
      <vt:lpstr>PowerPoint Presentation</vt:lpstr>
      <vt:lpstr>PowerPoint Presentation</vt:lpstr>
      <vt:lpstr>algorithm</vt:lpstr>
      <vt:lpstr>PowerPoint Presentation</vt:lpstr>
      <vt:lpstr>PowerPoint Presentation</vt:lpstr>
      <vt:lpstr>linear search</vt:lpstr>
      <vt:lpstr>PowerPoint Presentation</vt:lpstr>
      <vt:lpstr>PowerPoint Presentation</vt:lpstr>
      <vt:lpstr>PowerPoint Presentation</vt:lpstr>
      <vt:lpstr>PowerPoint Presentation</vt:lpstr>
      <vt:lpstr>binary search</vt:lpstr>
      <vt:lpstr>PowerPoint Presentation</vt:lpstr>
      <vt:lpstr>PowerPoint Presentation</vt:lpstr>
      <vt:lpstr>PowerPoint Presentation</vt:lpstr>
      <vt:lpstr>PowerPoint Presentation</vt:lpstr>
      <vt:lpstr>running time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</vt:lpstr>
      <vt:lpstr>PowerPoint Presentation</vt:lpstr>
      <vt:lpstr>PowerPoint Presentation</vt:lpstr>
      <vt:lpstr>PowerPoint Presentation</vt:lpstr>
      <vt:lpstr>Ω</vt:lpstr>
      <vt:lpstr>PowerPoint Presentation</vt:lpstr>
      <vt:lpstr>PowerPoint Presentation</vt:lpstr>
      <vt:lpstr>PowerPoint Presentation</vt:lpstr>
      <vt:lpstr>Θ</vt:lpstr>
      <vt:lpstr>PowerPoint Presentation</vt:lpstr>
      <vt:lpstr>asymptotic notation</vt:lpstr>
      <vt:lpstr>linear search</vt:lpstr>
      <vt:lpstr>string.h</vt:lpstr>
      <vt:lpstr>manual.cs50.io/#string.h</vt:lpstr>
      <vt:lpstr>strcmp</vt:lpstr>
      <vt:lpstr>data structures</vt:lpstr>
      <vt:lpstr>PowerPoint Presentation</vt:lpstr>
      <vt:lpstr>PowerPoint Presentation</vt:lpstr>
      <vt:lpstr>PowerPoint Presentation</vt:lpstr>
      <vt:lpstr>PowerPoint Presentation</vt:lpstr>
      <vt:lpstr>sorting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7  2  5  4  1  6  0  3</vt:lpstr>
      <vt:lpstr>PowerPoint Presentation</vt:lpstr>
      <vt:lpstr>selection sort</vt:lpstr>
      <vt:lpstr>PowerPoint Presentation</vt:lpstr>
      <vt:lpstr>PowerPoint Presentation</vt:lpstr>
      <vt:lpstr>7  2  5  4  1  6  0  3</vt:lpstr>
      <vt:lpstr>7  2  5  4  1  6  0  3</vt:lpstr>
      <vt:lpstr>7  2  5  4  1  6  0  3</vt:lpstr>
      <vt:lpstr>7  2  5  4  1  6  0  3</vt:lpstr>
      <vt:lpstr>7  2  5  4  1  6  0  3</vt:lpstr>
      <vt:lpstr>7  2  5  4  1  6  0  3</vt:lpstr>
      <vt:lpstr>7  2  5  4  1  6  0  3</vt:lpstr>
      <vt:lpstr>7  2  5  4  1  6  0  3</vt:lpstr>
      <vt:lpstr>0  2  5  4  1  6  7  3</vt:lpstr>
      <vt:lpstr>0  2  5  4  1  6  7  3</vt:lpstr>
      <vt:lpstr>0  2  5  4  1  6  7  3</vt:lpstr>
      <vt:lpstr>0  2  5  4  1  6  7  3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bubble sort</vt:lpstr>
      <vt:lpstr>PowerPoint Presentation</vt:lpstr>
      <vt:lpstr>PowerPoint Presentation</vt:lpstr>
      <vt:lpstr>PowerPoint Presentation</vt:lpstr>
      <vt:lpstr>7  2  5  4  1  6  0  3</vt:lpstr>
      <vt:lpstr>7  2  5  4  1  6  0  3</vt:lpstr>
      <vt:lpstr>2  7  5  4  1  6  0  3</vt:lpstr>
      <vt:lpstr>2  7  5  4  1  6  0  3</vt:lpstr>
      <vt:lpstr>2  5  7  4  1  6  0  3</vt:lpstr>
      <vt:lpstr>2  5  7  4  1  6  0  3</vt:lpstr>
      <vt:lpstr>2  5  4  7  1  6  0  3</vt:lpstr>
      <vt:lpstr>2  5  4  7  1  6  0  3</vt:lpstr>
      <vt:lpstr>2  5  4  1  7  6  0  3</vt:lpstr>
      <vt:lpstr>2  5  4  1  7  6  0  3</vt:lpstr>
      <vt:lpstr>2  5  4  1  6  7  0  3</vt:lpstr>
      <vt:lpstr>2  5  4  1  6  7  0  3</vt:lpstr>
      <vt:lpstr>2  5  4  1  6  0  7  3</vt:lpstr>
      <vt:lpstr>2  5  4  1  6  0  7  3</vt:lpstr>
      <vt:lpstr>2  5  4  1  6  0  3  7</vt:lpstr>
      <vt:lpstr>2  5  4  1  6  0  3  7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recursion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google.com/search?q=recursion </vt:lpstr>
      <vt:lpstr>merge sort</vt:lpstr>
      <vt:lpstr>PowerPoint Presentation</vt:lpstr>
      <vt:lpstr>PowerPoint Presentation</vt:lpstr>
      <vt:lpstr>PowerPoint Presentation</vt:lpstr>
      <vt:lpstr>1  3  4  6        0  2  5  7</vt:lpstr>
      <vt:lpstr>PowerPoint Presentation</vt:lpstr>
      <vt:lpstr>6  3  4  1  5  2  7  0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log2 n</vt:lpstr>
      <vt:lpstr>log2 8</vt:lpstr>
      <vt:lpstr>log2 23</vt:lpstr>
      <vt:lpstr>3</vt:lpstr>
      <vt:lpstr>PowerPoint Presentation</vt:lpstr>
      <vt:lpstr>n log2 n</vt:lpstr>
      <vt:lpstr>n log 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 Harris</cp:lastModifiedBy>
  <cp:revision>5</cp:revision>
  <dcterms:modified xsi:type="dcterms:W3CDTF">2025-10-15T13:55:14Z</dcterms:modified>
</cp:coreProperties>
</file>