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0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350" r:id="rId18"/>
    <p:sldId id="351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352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82352A-AF1A-44E8-9E8A-BBF323E7C0F3}">
  <a:tblStyle styleId="{B882352A-AF1A-44E8-9E8A-BBF323E7C0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254" autoAdjust="0"/>
  </p:normalViewPr>
  <p:slideViewPr>
    <p:cSldViewPr snapToGrid="0">
      <p:cViewPr varScale="1">
        <p:scale>
          <a:sx n="133" d="100"/>
          <a:sy n="133" d="100"/>
        </p:scale>
        <p:origin x="98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5g5bRE3WF2PgkCm9LhKn2hdOmTxhk9aX_U06TMYcu0A/edit?usp=sharing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ocs.google.com/spreadsheets/d/1Ey_E4W1LsHYp2MPWMqv8Q8IFNDcoAth_hUQNx3j3uV8/edit?usp=sharing" TargetMode="External"/><Relationship Id="rId4" Type="http://schemas.openxmlformats.org/officeDocument/2006/relationships/hyperlink" Target="https://docs.google.com/spreadsheets/d/1tETwE0k0tERu1p1aOt8Rfitot1k3f77ywS8kicBPqdg/edit?usp=sharing" TargetMode="Externa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p/CmUv48DLvxd/" TargetMode="External"/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xkcd.com/327/" TargetMode="External"/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726aa6700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726aa6700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656b02730f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656b02730f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a3e0bd9f2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a3e0bd9f2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favorites{0,1,2,3,4}.py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Check these out to handle data in csv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94ab6f8964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94ab6f8964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favorites{5,6,7,8}.py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C</a:t>
            </a:r>
            <a:r>
              <a:rPr lang="en" dirty="0">
                <a:solidFill>
                  <a:schemeClr val="dk1"/>
                </a:solidFill>
              </a:rPr>
              <a:t>heck these out to look at dictionary use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3e0bd9f2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3e0bd9f2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Store data; relate data to other data ;D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56b02730f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56b02730f_1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Structured query language 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656b02730f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656b02730f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656b02730f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656b02730f_1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b4e9944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0b4e9944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(READ) is actually SELECT, the others are the same!!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656b02730f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656b02730f_1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b4e9944f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0b4e9944f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b4e9944f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b4e9944fb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a3e0bd9f2b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a3e0bd9f2b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Think of a “spreadsheet”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 SQL a table is a sheet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82da9ab1cbbaab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482da9ab1cbbaab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Lite SQL version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Runs from a file does not need server software running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Use as a command line programme – other aspects the same as different versions of SQL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750c39d97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f750c39d97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94ab6f8964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94ab6f8964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favorites.csv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0BB69DFB-2D45-69A1-651B-F1923BEB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94ab6f8964_0_155:notes">
            <a:extLst>
              <a:ext uri="{FF2B5EF4-FFF2-40B4-BE49-F238E27FC236}">
                <a16:creationId xmlns:a16="http://schemas.microsoft.com/office/drawing/2014/main" id="{5DF1DA3C-CA1F-6611-E4D2-C22C4E2EC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94ab6f8964_0_155:notes">
            <a:extLst>
              <a:ext uri="{FF2B5EF4-FFF2-40B4-BE49-F238E27FC236}">
                <a16:creationId xmlns:a16="http://schemas.microsoft.com/office/drawing/2014/main" id="{80D268C2-D688-50B8-490C-F32A003A30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favorites.csv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05364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4C30FB5A-A756-7995-14E8-B510D718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94ab6f8964_0_155:notes">
            <a:extLst>
              <a:ext uri="{FF2B5EF4-FFF2-40B4-BE49-F238E27FC236}">
                <a16:creationId xmlns:a16="http://schemas.microsoft.com/office/drawing/2014/main" id="{B80F1A8B-6457-3BE1-2D21-780B53A27F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94ab6f8964_0_155:notes">
            <a:extLst>
              <a:ext uri="{FF2B5EF4-FFF2-40B4-BE49-F238E27FC236}">
                <a16:creationId xmlns:a16="http://schemas.microsoft.com/office/drawing/2014/main" id="{83B74CBD-3E86-7187-8884-4966DEEBE5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favorites.csv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44060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3e0bd9f2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3e0bd9f2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f7562e1027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f7562e1027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dirty="0"/>
              <a:t>SELECT * FROM favorites;</a:t>
            </a: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dirty="0"/>
              <a:t>SELECT language FROM favorites;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endParaRPr lang="en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dirty="0"/>
              <a:t>R</a:t>
            </a:r>
            <a:r>
              <a:rPr lang="en" dirty="0"/>
              <a:t>eads data from the database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f7562e1027_1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f7562e1027_1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DISTINCT language FROM favorites;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Char char="●"/>
            </a:pPr>
            <a:r>
              <a:rPr lang="en"/>
              <a:t>SELECT COUNT(DISTINCT language) FROM favorites;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f7562e1027_1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f7562e1027_1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 AND problem = 'Hello, World';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 AND (problem = 'Hello, World' OR problem = 'Hello, It''s Me');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 AND problem LIKE 'Hello, %';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b4e9944f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0b4e9944f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language, COUNT(*) FROM favorites GROUP BY language;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0b4e9944fb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0b4e9944fb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b4e9944f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0b4e9944fb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0b4e9944fb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0b4e9944fb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0b4e9944fb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0b4e9944fb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D565569C-A333-B7A1-2723-32C6A9A6E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0b4e9944fb_0_75:notes">
            <a:extLst>
              <a:ext uri="{FF2B5EF4-FFF2-40B4-BE49-F238E27FC236}">
                <a16:creationId xmlns:a16="http://schemas.microsoft.com/office/drawing/2014/main" id="{A57E738C-B24F-98CE-6B2D-2DA445905D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0b4e9944fb_0_75:notes">
            <a:extLst>
              <a:ext uri="{FF2B5EF4-FFF2-40B4-BE49-F238E27FC236}">
                <a16:creationId xmlns:a16="http://schemas.microsoft.com/office/drawing/2014/main" id="{9E68B9E5-E396-722B-6F00-CA9F619869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126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b4e9944fb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0b4e9944fb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language, COUNT(*) FROM favorites GROUP BY language ORDER BY COUNT(*) DESC;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language, COUNT(*) AS n FROM favorites GROUP BY language ORDER BY n DESC;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language, COUNT(*) AS n FROM favorites GROUP BY language ORDER BY n DESC LIMIT 1;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a3e0bd9f2b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a3e0bd9f2b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INSERT INTO favorites (language, problem) VALUES('SQL', 'Fiftyville');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favorites;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94ab6f8964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94ab6f8964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f750c39d97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f750c39d97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DELETE FROM favorites WHERE Timestamp IS NULL;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f750c39d9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f750c39d97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UPDATE favorites SET language = 'SQL', problem = 'Fiftyville';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favorites;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DELETE FROM favorites;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favorites;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726aa6700f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726aa6700f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https://docs.google.com/spreadsheets/d/15g5bRE3WF2PgkCm9LhKn2hdOmTxhk9aX_U06TMYcu0A/edit?usp=sharing</a:t>
            </a:r>
            <a:r>
              <a:rPr lang="en"/>
              <a:t>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https://docs.google.com/spreadsheets/d/1tETwE0k0tERu1p1aOt8Rfitot1k3f77ywS8kicBPqdg/edit?usp=sharing</a:t>
            </a:r>
            <a:r>
              <a:rPr lang="en"/>
              <a:t>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https://docs.google.com/spreadsheets/d/1Ey_E4W1LsHYp2MPWMqv8Q8IFNDcoAth_hUQNx3j3uV8/edit?usp=sharing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94ab6f8964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94ab6f8964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94ab6f8964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94ab6f8964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LIMIT 10;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ratings LIMIT 10;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94ab6f8964_0_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94ab6f8964_0_5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94ab6f8964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94ab6f8964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.schema shows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.schema ratings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94ab6f8964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94ab6f8964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94ab6f8964_0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94ab6f8964_0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94ab6f8964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94ab6f8964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ratings WHERE rating &gt;= 6.0 LIMIT 10;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show_id FROM ratings WHERE rating &gt;= 6.0 LIMIT 10;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shows WHERE id IN (SELECT show_id FROM ratings WHERE rating &gt;= 6.0) LIMIT 10;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title FROM shows WHERE id IN (SELECT show_id FROM ratings WHERE rating &gt;= 6.0) LIMIT 10;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94ab6f8964_0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94ab6f8964_0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94ab6f8964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94ab6f8964_0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94ab6f8964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94ab6f8964_0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94ab6f8964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94ab6f8964_0_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*  FROM shows JOIN ratings ON shows.id = ratings.show_id WHERE rating &gt;= 6.0 LIMIT 10;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94ab6f8964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94ab6f8964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94ab6f8964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94ab6f8964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94ab6f8964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94ab6f8964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title, rating FROM shows JOIN ratings ON shows.id = ratings.show_id WHERE rating &gt;= 6.0 LIMIT 10;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94ab6f8964_0_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94ab6f8964_0_6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94ab6f8964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94ab6f8964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genres LIMIT 10;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id = 63881;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94ab6f8964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94ab6f8964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.schema genres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genre FROM genres WHERE show_id = 63881;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genre FROM genres WHERE show_id = (SELECT id FROM shows WHERE title = 'Catweazle');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94ab6f8964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94ab6f8964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94ab6f8964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94ab6f8964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94ab6f8964_0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94ab6f8964_0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* FROM shows JOIN genres ON shows.id = genres.show_id WHERE id = 63881;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94ab6f8964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94ab6f8964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94ab6f8964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94ab6f8964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94ab6f8964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94ab6f8964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94ab6f8964_0_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94ab6f8964_0_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title, genre FROM shows JOIN genres ON shows.id = genres.show_id WHERE id = 63881;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94ab6f8964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94ab6f8964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genre FROM shows JOIN genres ON shows.id = genres.show_id WHERE id = 63881;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94ab6f8964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94ab6f8964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94ab6f8964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94ab6f8964_0_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94ab6f8964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94ab6f8964_0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 AND year = 2005;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name FROM people WHERE id IN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(SELECT person_id FROM stars WHERE show_id =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(SELECT id FROM shows WHERE title = 'The Office' AND year = 2005));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 WHERE id IN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(SELECT show_id FROM stars WHERE person_id =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(SELECT id FROM people WHERE name = 'Steve Carell'));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JOIN stars ON shows.id = stars.show_id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JOIN people ON stars.person_id = people.id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WHERE name = 'Steve Carell';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shows, stars, people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WHERE shows.id = stars.show_id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people.id = stars.person_id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name = 'Steve Carell';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94ab6f8964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94ab6f8964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.schema writers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56b02730f_1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56b02730f_1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.timer ON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a3e0bd9f2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a3e0bd9f2b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CREATE INDEX title_index ON shows (title);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Office';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656b02730f_1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656b02730f_1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656b02730f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656b02730f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shows, stars, people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shows.id = stars.show_id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people.id = stars.person_id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name = 'Steve Carell';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 WHERE id IN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(SELECT show_id FROM stars WHERE person_id =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(SELECT id FROM people WHERE name = 'Steve Carell'));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CREATE INDEX name_index ON people (name);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CREATE INDEX person_index ON stars (person_id);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 WHERE id IN 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(SELECT show_id FROM stars WHERE person_id = 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(SELECT id FROM people WHERE name = 'Steve Carell'));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726aa6700f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726aa6700f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726aa6700f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726aa6700f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favorites8.py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46aa91968a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46aa91968a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MILK STORY (lock or note)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0b4e9944f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0b4e9944f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https://www.instagram.com/p/CmUv48DLvxd/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656b02730f_1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656b02730f_1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46aa91968a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46aa91968a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a3e0bd9f2b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a3e0bd9f2b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726aa6700f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726aa6700f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726aa6700f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1726aa6700f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726aa6700f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726aa6700f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726aa6700f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726aa6700f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726aa6700f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726aa6700f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726aa6700f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726aa6700f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726aa6700f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726aa6700f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0b4e9944f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0b4e9944f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94ab6f8964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94ab6f8964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726aa6700f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726aa6700f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726aa6700f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726aa6700f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726aa6700f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726aa6700f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726aa6700f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726aa6700f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https://xkcd.com/327/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726aa6700f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726aa6700f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cs50.readthedocs.io/libraries/cs50/python/#cs50.SQL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457470-869F-3131-BECA-F5A378ABE6C9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flat-file database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Google Shape;100;p22"/>
          <p:cNvGraphicFramePr/>
          <p:nvPr/>
        </p:nvGraphicFramePr>
        <p:xfrm>
          <a:off x="952500" y="895375"/>
          <a:ext cx="7239000" cy="350514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key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database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CREATE, INSERT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CREATE, INSERT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DELETE, DROP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CREATE, INSERT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DELETE, DROP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TABLE table (column type, ...);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sqlite3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sqlite3 FILE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DFEE0C-6FAE-9E0F-C677-D9F30B72E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010" y="718122"/>
            <a:ext cx="7192379" cy="16480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.mode csv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.import FILE TABLE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EA579B-0B95-1E61-4A61-266AE243B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384" y="347264"/>
            <a:ext cx="7030431" cy="19433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4C887D29-8796-3634-C34C-5EC0088C8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>
            <a:extLst>
              <a:ext uri="{FF2B5EF4-FFF2-40B4-BE49-F238E27FC236}">
                <a16:creationId xmlns:a16="http://schemas.microsoft.com/office/drawing/2014/main" id="{9EA3009C-1C57-FAE9-A236-B9E4DFB710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.mode csv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.import FILE TABLE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5A1CA0-CBFC-0846-35D8-4C2CD0F3C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047" y="444412"/>
            <a:ext cx="6839905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453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02CD9EDD-EAD7-6129-F74D-A8165A23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>
            <a:extLst>
              <a:ext uri="{FF2B5EF4-FFF2-40B4-BE49-F238E27FC236}">
                <a16:creationId xmlns:a16="http://schemas.microsoft.com/office/drawing/2014/main" id="{5B8390A8-164E-E137-27E0-A32801393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.mode csv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.import FILE TABLE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807369-DA52-E875-E007-79AC63180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090" y="254217"/>
            <a:ext cx="6954220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055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.schema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0F2C12-0F93-3EEF-CFD9-B87CA3095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732" y="627401"/>
            <a:ext cx="6706536" cy="17718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 columns FROM table;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0EA1B9-2F81-717B-00FE-47DBA15E2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186" y="633938"/>
            <a:ext cx="4858428" cy="1600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985D15-B82E-F5FA-EDE7-72581B81C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482" y="2002674"/>
            <a:ext cx="4858428" cy="268225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AVG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DISTINCT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LOWER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UPPER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08F3BE-A535-5026-AB7E-FBB90242E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200" y="331791"/>
            <a:ext cx="4201746" cy="19644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E854EA-881A-6D72-94DE-12B9CD44E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921" y="2685700"/>
            <a:ext cx="4348304" cy="18831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LIKE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A681F8-97E6-306A-0441-2EBB15509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200" y="385438"/>
            <a:ext cx="4287947" cy="153407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39"/>
          <p:cNvGraphicFramePr/>
          <p:nvPr/>
        </p:nvGraphicFramePr>
        <p:xfrm>
          <a:off x="3474475" y="1779350"/>
          <a:ext cx="1097525" cy="277347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9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40"/>
          <p:cNvGraphicFramePr/>
          <p:nvPr/>
        </p:nvGraphicFramePr>
        <p:xfrm>
          <a:off x="3474475" y="1779350"/>
          <a:ext cx="1097525" cy="277347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9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C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" name="Google Shape;195;p41"/>
          <p:cNvGraphicFramePr/>
          <p:nvPr/>
        </p:nvGraphicFramePr>
        <p:xfrm>
          <a:off x="3474475" y="1779350"/>
          <a:ext cx="1097525" cy="277347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9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Python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42"/>
          <p:cNvGraphicFramePr/>
          <p:nvPr/>
        </p:nvGraphicFramePr>
        <p:xfrm>
          <a:off x="3474475" y="1779350"/>
          <a:ext cx="1097525" cy="277347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9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highlight>
                            <a:schemeClr val="dk1"/>
                          </a:highlight>
                        </a:rPr>
                        <a:t>SQL</a:t>
                      </a:r>
                      <a:endParaRPr>
                        <a:solidFill>
                          <a:srgbClr val="21212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" name="Google Shape;205;p43"/>
          <p:cNvGraphicFramePr/>
          <p:nvPr/>
        </p:nvGraphicFramePr>
        <p:xfrm>
          <a:off x="3474475" y="1779350"/>
          <a:ext cx="2195050" cy="158484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9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COUNT(*)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8992445-AD4A-B0F1-20DD-5D5883643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78" y="301302"/>
            <a:ext cx="8554644" cy="12288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170E44B0-A25E-8962-4040-669058636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" name="Google Shape;205;p43">
            <a:extLst>
              <a:ext uri="{FF2B5EF4-FFF2-40B4-BE49-F238E27FC236}">
                <a16:creationId xmlns:a16="http://schemas.microsoft.com/office/drawing/2014/main" id="{7B8A32DB-2663-03C7-FF4F-FA99E02A9ABA}"/>
              </a:ext>
            </a:extLst>
          </p:cNvPr>
          <p:cNvGraphicFramePr/>
          <p:nvPr/>
        </p:nvGraphicFramePr>
        <p:xfrm>
          <a:off x="3474475" y="1779350"/>
          <a:ext cx="2195050" cy="158484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9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COUNT(*)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873A7AB-04CF-F539-D4F9-11091CD0F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78" y="301302"/>
            <a:ext cx="8554644" cy="1228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B4C86C-89A7-5148-60F9-C008EB1D2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2340"/>
            <a:ext cx="9144000" cy="483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870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LIKE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INSERT INTO table (column, ...) VALUES(value, ...);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DELETE FROM table WHERE condition;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 table SET column = value WHERE condition;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IMDb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51"/>
          <p:cNvSpPr/>
          <p:nvPr/>
        </p:nvSpPr>
        <p:spPr>
          <a:xfrm>
            <a:off x="165830" y="416325"/>
            <a:ext cx="36885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51"/>
          <p:cNvSpPr/>
          <p:nvPr/>
        </p:nvSpPr>
        <p:spPr>
          <a:xfrm>
            <a:off x="5945557" y="1627556"/>
            <a:ext cx="66900" cy="306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51"/>
          <p:cNvSpPr/>
          <p:nvPr/>
        </p:nvSpPr>
        <p:spPr>
          <a:xfrm>
            <a:off x="5982584" y="29761"/>
            <a:ext cx="3118200" cy="157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51"/>
          <p:cNvSpPr/>
          <p:nvPr/>
        </p:nvSpPr>
        <p:spPr>
          <a:xfrm>
            <a:off x="3326450" y="3236496"/>
            <a:ext cx="3118200" cy="190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one-to-one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3"/>
          <p:cNvSpPr/>
          <p:nvPr/>
        </p:nvSpPr>
        <p:spPr>
          <a:xfrm>
            <a:off x="165830" y="416325"/>
            <a:ext cx="36885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53"/>
          <p:cNvSpPr/>
          <p:nvPr/>
        </p:nvSpPr>
        <p:spPr>
          <a:xfrm>
            <a:off x="5945557" y="1627556"/>
            <a:ext cx="66900" cy="306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53"/>
          <p:cNvSpPr/>
          <p:nvPr/>
        </p:nvSpPr>
        <p:spPr>
          <a:xfrm>
            <a:off x="5982584" y="29761"/>
            <a:ext cx="3118200" cy="157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53"/>
          <p:cNvSpPr/>
          <p:nvPr/>
        </p:nvSpPr>
        <p:spPr>
          <a:xfrm>
            <a:off x="3326450" y="3236496"/>
            <a:ext cx="3118200" cy="190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BLOB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NUMERIC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REAL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NOT NULL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UNIQUE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PRIMARY KEY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FOREIGN KEY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JOIN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58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9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9" name="Google Shape;289;p58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" name="Google Shape;294;p59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9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5" name="Google Shape;295;p59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0" name="Google Shape;300;p60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9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1" name="Google Shape;301;p60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" name="Google Shape;306;p61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9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7" name="Google Shape;307;p61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2" name="Google Shape;312;p62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9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3" name="Google Shape;313;p62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" name="Google Shape;318;p63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9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9" name="Google Shape;319;p63"/>
          <p:cNvGraphicFramePr/>
          <p:nvPr/>
        </p:nvGraphicFramePr>
        <p:xfrm>
          <a:off x="32618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65"/>
          <p:cNvSpPr/>
          <p:nvPr/>
        </p:nvSpPr>
        <p:spPr>
          <a:xfrm>
            <a:off x="165830" y="416325"/>
            <a:ext cx="36885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65"/>
          <p:cNvSpPr/>
          <p:nvPr/>
        </p:nvSpPr>
        <p:spPr>
          <a:xfrm>
            <a:off x="6012346" y="1575941"/>
            <a:ext cx="3118200" cy="354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65"/>
          <p:cNvSpPr/>
          <p:nvPr/>
        </p:nvSpPr>
        <p:spPr>
          <a:xfrm>
            <a:off x="5940543" y="1602891"/>
            <a:ext cx="3118200" cy="354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65"/>
          <p:cNvSpPr/>
          <p:nvPr/>
        </p:nvSpPr>
        <p:spPr>
          <a:xfrm>
            <a:off x="3326450" y="3236496"/>
            <a:ext cx="3118200" cy="190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one-to-many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3" name="Google Shape;343;p67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4" name="Google Shape;344;p67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9" name="Google Shape;349;p68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0" name="Google Shape;350;p68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5" name="Google Shape;355;p69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6" name="Google Shape;356;p69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1" name="Google Shape;361;p70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2" name="Google Shape;362;p70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Google Shape;367;p71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8" name="Google Shape;368;p71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3" name="Google Shape;373;p72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4" name="Google Shape;374;p72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" name="Google Shape;379;p73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0" name="Google Shape;380;p73"/>
          <p:cNvGraphicFramePr/>
          <p:nvPr/>
        </p:nvGraphicFramePr>
        <p:xfrm>
          <a:off x="3243175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5" name="Google Shape;385;p74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{B882352A-AF1A-44E8-9E8A-BBF323E7C0F3}</a:tableStyleId>
              </a:tblPr>
              <a:tblGrid>
                <a:gridCol w="10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76"/>
          <p:cNvSpPr/>
          <p:nvPr/>
        </p:nvSpPr>
        <p:spPr>
          <a:xfrm>
            <a:off x="5671034" y="0"/>
            <a:ext cx="34542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76"/>
          <p:cNvSpPr/>
          <p:nvPr/>
        </p:nvSpPr>
        <p:spPr>
          <a:xfrm>
            <a:off x="3179884" y="2884300"/>
            <a:ext cx="2975100" cy="203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76"/>
          <p:cNvSpPr/>
          <p:nvPr/>
        </p:nvSpPr>
        <p:spPr>
          <a:xfrm>
            <a:off x="2465619" y="1435234"/>
            <a:ext cx="360600" cy="242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76"/>
          <p:cNvSpPr/>
          <p:nvPr/>
        </p:nvSpPr>
        <p:spPr>
          <a:xfrm>
            <a:off x="2787585" y="1549953"/>
            <a:ext cx="360600" cy="242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many-to-many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indexes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INDEX name ON table (column, ...);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8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B-trees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8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SQL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uFill>
                  <a:noFill/>
                </a:uFill>
                <a:hlinkClick r:id="rId3"/>
              </a:rPr>
              <a:t>cs50.readthedocs.io/libraries/cs50/python/#cs50.SQL</a:t>
            </a:r>
            <a:r>
              <a:rPr lang="en" sz="2700"/>
              <a:t> </a:t>
            </a:r>
            <a:endParaRPr sz="27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8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race conditions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1412" y="0"/>
            <a:ext cx="3621163" cy="514350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db.execute("SELECT likes FROM posts WHERE id = ?", id);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likes = rows[0]["likes"]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db.execute("UPDATE posts SET likes = ? WHERE id = ?", likes + 1, id);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8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BEGIN TRANSACTION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COMMIT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ROLLBACK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db.execute("BEGIN TRANSACTION")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rows = db.execute("SELECT likes FROM posts WHERE id = ?", id);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likes = rows[0]["likes"]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db.execute("UPDATE posts SET likes = ? WHERE id = ?", likes + 1, id);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db.execute("COMMIT")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injection attacks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9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f"SELECT * FROM users WHERE username = '{username}' AND password = '{password}'")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rows = db.execute(f"SELECT * FROM users WHERE username = </a:t>
            </a:r>
            <a:r>
              <a:rPr lang="en" sz="1100" u="sng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'malan@harvard.edu'--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'{password}'")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9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ows = db.execute(f"SELECT * FROM users WHERE username = </a:t>
            </a:r>
            <a:r>
              <a:rPr lang="en" sz="1100" u="sng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'malan@harvard.edu'</a:t>
            </a:r>
            <a:r>
              <a:rPr lang="en" sz="1100" u="sng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" sz="11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0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ows = db.execute(f"</a:t>
            </a:r>
            <a:r>
              <a:rPr lang="en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SELECT * FROM users WHERE username = </a:t>
            </a:r>
            <a:r>
              <a:rPr lang="en" sz="1100" u="sng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'malan@harvard.edu'</a:t>
            </a:r>
            <a:r>
              <a:rPr lang="en" sz="1100" u="sng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" sz="11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0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ows = db.execute(f"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SELECT * FROM users WHERE username = </a:t>
            </a:r>
            <a:r>
              <a:rPr lang="en" sz="1100" u="sng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'malan@harvard.edu''--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3538"/>
            <a:ext cx="9144000" cy="357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13" y="1277975"/>
            <a:ext cx="8406375" cy="25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702F78-2816-2D3E-4FAD-2336EF671F00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1656</TotalTime>
  <Words>1749</Words>
  <Application>Microsoft Office PowerPoint</Application>
  <PresentationFormat>On-screen Show (16:9)</PresentationFormat>
  <Paragraphs>429</Paragraphs>
  <Slides>88</Slides>
  <Notes>88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Consolas</vt:lpstr>
      <vt:lpstr>Simple Dark</vt:lpstr>
      <vt:lpstr>PowerPoint Presentation</vt:lpstr>
      <vt:lpstr>flat-file database</vt:lpstr>
      <vt:lpstr>CSV</vt:lpstr>
      <vt:lpstr>PowerPoint Presentation</vt:lpstr>
      <vt:lpstr>relational database</vt:lpstr>
      <vt:lpstr>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sqlite3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IMDb</vt:lpstr>
      <vt:lpstr>PowerPoint Presentation</vt:lpstr>
      <vt:lpstr>PowerPoint Presentation</vt:lpstr>
      <vt:lpstr>one-to-one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one-to-many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many-to-many</vt:lpstr>
      <vt:lpstr>PowerPoint Presentation</vt:lpstr>
      <vt:lpstr>indexes</vt:lpstr>
      <vt:lpstr>PowerPoint Presentation</vt:lpstr>
      <vt:lpstr>B-trees</vt:lpstr>
      <vt:lpstr>PowerPoint Presentation</vt:lpstr>
      <vt:lpstr>PowerPoint Presentation</vt:lpstr>
      <vt:lpstr>cs50.readthedocs.io/libraries/cs50/python/#cs50.SQL </vt:lpstr>
      <vt:lpstr>race conditions</vt:lpstr>
      <vt:lpstr>PowerPoint Presentation</vt:lpstr>
      <vt:lpstr>PowerPoint Presentation</vt:lpstr>
      <vt:lpstr>PowerPoint Presentation</vt:lpstr>
      <vt:lpstr>PowerPoint Presentation</vt:lpstr>
      <vt:lpstr>SQL injection attacks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6</cp:revision>
  <dcterms:modified xsi:type="dcterms:W3CDTF">2025-11-10T13:54:16Z</dcterms:modified>
</cp:coreProperties>
</file>