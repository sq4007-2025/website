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0693400" cy="7556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1428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rtlCol="0" anchor="ctr">
            <a:normAutofit/>
          </a:bodyPr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 rtlCol="0">
            <a:normAutofit/>
          </a:bodyPr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E8FD0B7A-F5DD-4F40-B4CB-3B2C354B893A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3613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6" y="2210522"/>
            <a:ext cx="6247482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So far, all the programs we’ve been writing in the</a:t>
            </a:r>
          </a:p>
        </p:txBody>
      </p:sp>
      <p:sp>
        <p:nvSpPr>
          <p:cNvPr id="6" name="New shape"/>
          <p:cNvSpPr/>
          <p:nvPr/>
        </p:nvSpPr>
        <p:spPr>
          <a:xfrm>
            <a:off x="2153297" y="2509226"/>
            <a:ext cx="438882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course have been written inside of</a:t>
            </a:r>
          </a:p>
        </p:txBody>
      </p:sp>
      <p:sp>
        <p:nvSpPr>
          <p:cNvPr id="7" name="New shape"/>
          <p:cNvSpPr/>
          <p:nvPr/>
        </p:nvSpPr>
        <p:spPr>
          <a:xfrm>
            <a:off x="6586610" y="2509226"/>
            <a:ext cx="103062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main()</a:t>
            </a:r>
          </a:p>
        </p:txBody>
      </p:sp>
      <p:sp>
        <p:nvSpPr>
          <p:cNvPr id="8" name="New shape"/>
          <p:cNvSpPr/>
          <p:nvPr/>
        </p:nvSpPr>
        <p:spPr>
          <a:xfrm>
            <a:off x="7619882" y="2509226"/>
            <a:ext cx="7871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9" name="New shape"/>
          <p:cNvSpPr/>
          <p:nvPr/>
        </p:nvSpPr>
        <p:spPr>
          <a:xfrm>
            <a:off x="1895740" y="3456271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0" name="New shape"/>
          <p:cNvSpPr/>
          <p:nvPr/>
        </p:nvSpPr>
        <p:spPr>
          <a:xfrm>
            <a:off x="2153296" y="3330661"/>
            <a:ext cx="619393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That hasn’t been a problem yet, but it could be if</a:t>
            </a:r>
          </a:p>
        </p:txBody>
      </p:sp>
      <p:sp>
        <p:nvSpPr>
          <p:cNvPr id="11" name="New shape"/>
          <p:cNvSpPr/>
          <p:nvPr/>
        </p:nvSpPr>
        <p:spPr>
          <a:xfrm>
            <a:off x="2153296" y="3629366"/>
            <a:ext cx="511831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our programs start to become unwieldy.</a:t>
            </a:r>
          </a:p>
        </p:txBody>
      </p:sp>
      <p:sp>
        <p:nvSpPr>
          <p:cNvPr id="12" name="New shape"/>
          <p:cNvSpPr/>
          <p:nvPr/>
        </p:nvSpPr>
        <p:spPr>
          <a:xfrm>
            <a:off x="1895740" y="4574887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3" name="New shape"/>
          <p:cNvSpPr/>
          <p:nvPr/>
        </p:nvSpPr>
        <p:spPr>
          <a:xfrm>
            <a:off x="2153296" y="4449276"/>
            <a:ext cx="643679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Cand nearly all languages developed since allow us</a:t>
            </a:r>
          </a:p>
        </p:txBody>
      </p:sp>
      <p:sp>
        <p:nvSpPr>
          <p:cNvPr id="14" name="New shape"/>
          <p:cNvSpPr/>
          <p:nvPr/>
        </p:nvSpPr>
        <p:spPr>
          <a:xfrm>
            <a:off x="2153296" y="4749505"/>
            <a:ext cx="100346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to write</a:t>
            </a:r>
          </a:p>
        </p:txBody>
      </p:sp>
      <p:sp>
        <p:nvSpPr>
          <p:cNvPr id="15" name="New shape"/>
          <p:cNvSpPr/>
          <p:nvPr/>
        </p:nvSpPr>
        <p:spPr>
          <a:xfrm>
            <a:off x="3220096" y="4749505"/>
            <a:ext cx="1209864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b="1">
                <a:solidFill>
                  <a:srgbClr val="000000"/>
                </a:solidFill>
                <a:latin typeface="Calibri"/>
              </a:rPr>
              <a:t>functions</a:t>
            </a:r>
          </a:p>
        </p:txBody>
      </p:sp>
      <p:sp>
        <p:nvSpPr>
          <p:cNvPr id="16" name="New shape"/>
          <p:cNvSpPr/>
          <p:nvPr/>
        </p:nvSpPr>
        <p:spPr>
          <a:xfrm>
            <a:off x="4430151" y="4699909"/>
            <a:ext cx="3511859" cy="42473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, sometimes also known as</a:t>
            </a:r>
          </a:p>
        </p:txBody>
      </p:sp>
      <p:sp>
        <p:nvSpPr>
          <p:cNvPr id="17" name="New shape"/>
          <p:cNvSpPr/>
          <p:nvPr/>
        </p:nvSpPr>
        <p:spPr>
          <a:xfrm>
            <a:off x="2153296" y="5048209"/>
            <a:ext cx="14621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b="1">
                <a:solidFill>
                  <a:srgbClr val="000000"/>
                </a:solidFill>
                <a:latin typeface="Calibri"/>
              </a:rPr>
              <a:t>procedures</a:t>
            </a:r>
          </a:p>
        </p:txBody>
      </p:sp>
      <p:sp>
        <p:nvSpPr>
          <p:cNvPr id="18" name="New shape"/>
          <p:cNvSpPr/>
          <p:nvPr/>
        </p:nvSpPr>
        <p:spPr>
          <a:xfrm>
            <a:off x="3607192" y="5048209"/>
            <a:ext cx="7810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,</a:t>
            </a:r>
          </a:p>
        </p:txBody>
      </p:sp>
      <p:sp>
        <p:nvSpPr>
          <p:cNvPr id="19" name="New shape"/>
          <p:cNvSpPr/>
          <p:nvPr/>
        </p:nvSpPr>
        <p:spPr>
          <a:xfrm>
            <a:off x="3751972" y="5048209"/>
            <a:ext cx="114731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b="1">
                <a:solidFill>
                  <a:srgbClr val="000000"/>
                </a:solidFill>
                <a:latin typeface="Calibri"/>
              </a:rPr>
              <a:t>methods</a:t>
            </a:r>
          </a:p>
        </p:txBody>
      </p:sp>
      <p:sp>
        <p:nvSpPr>
          <p:cNvPr id="20" name="New shape"/>
          <p:cNvSpPr/>
          <p:nvPr/>
        </p:nvSpPr>
        <p:spPr>
          <a:xfrm>
            <a:off x="4896495" y="5048209"/>
            <a:ext cx="422102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, or</a:t>
            </a:r>
          </a:p>
        </p:txBody>
      </p:sp>
      <p:sp>
        <p:nvSpPr>
          <p:cNvPr id="21" name="New shape"/>
          <p:cNvSpPr/>
          <p:nvPr/>
        </p:nvSpPr>
        <p:spPr>
          <a:xfrm>
            <a:off x="5384175" y="5048209"/>
            <a:ext cx="154089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b="1">
                <a:solidFill>
                  <a:srgbClr val="000000"/>
                </a:solidFill>
                <a:latin typeface="Calibri"/>
              </a:rPr>
              <a:t>subroutines</a:t>
            </a:r>
          </a:p>
        </p:txBody>
      </p:sp>
      <p:sp>
        <p:nvSpPr>
          <p:cNvPr id="22" name="New shape"/>
          <p:cNvSpPr/>
          <p:nvPr/>
        </p:nvSpPr>
        <p:spPr>
          <a:xfrm>
            <a:off x="6920366" y="5048209"/>
            <a:ext cx="7871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23" name="New shape"/>
          <p:cNvSpPr/>
          <p:nvPr/>
        </p:nvSpPr>
        <p:spPr>
          <a:xfrm>
            <a:off x="1895740" y="5993729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4" name="New shape"/>
          <p:cNvSpPr/>
          <p:nvPr/>
        </p:nvSpPr>
        <p:spPr>
          <a:xfrm>
            <a:off x="2153296" y="5868120"/>
            <a:ext cx="480223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Let’s see what functions are all about.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245496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What is a function?</a:t>
            </a:r>
          </a:p>
        </p:txBody>
      </p:sp>
      <p:sp>
        <p:nvSpPr>
          <p:cNvPr id="6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7" name="New shape"/>
          <p:cNvSpPr/>
          <p:nvPr/>
        </p:nvSpPr>
        <p:spPr>
          <a:xfrm>
            <a:off x="2453525" y="2686080"/>
            <a:ext cx="16137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8" name="New shape"/>
          <p:cNvSpPr/>
          <p:nvPr/>
        </p:nvSpPr>
        <p:spPr>
          <a:xfrm>
            <a:off x="2677552" y="2686080"/>
            <a:ext cx="106273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i="1">
                <a:solidFill>
                  <a:srgbClr val="000000"/>
                </a:solidFill>
                <a:latin typeface="Calibri"/>
              </a:rPr>
              <a:t>black box</a:t>
            </a:r>
          </a:p>
        </p:txBody>
      </p:sp>
      <p:sp>
        <p:nvSpPr>
          <p:cNvPr id="9" name="New shape"/>
          <p:cNvSpPr/>
          <p:nvPr/>
        </p:nvSpPr>
        <p:spPr>
          <a:xfrm>
            <a:off x="3797692" y="2639342"/>
            <a:ext cx="4244175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with a set of 0+ inputs and 1 output.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3438022" y="4445508"/>
            <a:ext cx="3819144" cy="484632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3433449" y="4440936"/>
            <a:ext cx="382981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5346070" y="3838956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17114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5346070" y="4991100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5317114" y="5475732"/>
            <a:ext cx="60960" cy="609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4375282" y="3838956"/>
            <a:ext cx="6096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4347849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315334" y="3838956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6287902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pic>
        <p:nvPicPr>
          <p:cNvPr id="13" name="New picture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3438022" y="4445508"/>
            <a:ext cx="3819144" cy="484632"/>
          </a:xfrm>
          <a:prstGeom prst="rect">
            <a:avLst/>
          </a:prstGeom>
          <a:ln w="0">
            <a:noFill/>
          </a:ln>
        </p:spPr>
      </p:pic>
      <p:sp>
        <p:nvSpPr>
          <p:cNvPr id="14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15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153297" y="2241002"/>
            <a:ext cx="245496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What is a function?</a:t>
            </a:r>
          </a:p>
        </p:txBody>
      </p:sp>
      <p:sp>
        <p:nvSpPr>
          <p:cNvPr id="17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8" name="New shape"/>
          <p:cNvSpPr/>
          <p:nvPr/>
        </p:nvSpPr>
        <p:spPr>
          <a:xfrm>
            <a:off x="2453525" y="2686080"/>
            <a:ext cx="16137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19" name="New shape"/>
          <p:cNvSpPr/>
          <p:nvPr/>
        </p:nvSpPr>
        <p:spPr>
          <a:xfrm>
            <a:off x="2677552" y="2686080"/>
            <a:ext cx="106273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i="1">
                <a:solidFill>
                  <a:srgbClr val="000000"/>
                </a:solidFill>
                <a:latin typeface="Calibri"/>
              </a:rPr>
              <a:t>black box</a:t>
            </a:r>
          </a:p>
        </p:txBody>
      </p:sp>
      <p:sp>
        <p:nvSpPr>
          <p:cNvPr id="20" name="New shape"/>
          <p:cNvSpPr/>
          <p:nvPr/>
        </p:nvSpPr>
        <p:spPr>
          <a:xfrm>
            <a:off x="3797692" y="2639342"/>
            <a:ext cx="4244175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with a set of 0+ inputs and 1 output.</a:t>
            </a:r>
          </a:p>
        </p:txBody>
      </p:sp>
      <p:sp>
        <p:nvSpPr>
          <p:cNvPr id="21" name="New shape"/>
          <p:cNvSpPr/>
          <p:nvPr/>
        </p:nvSpPr>
        <p:spPr>
          <a:xfrm>
            <a:off x="4260988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a</a:t>
            </a:r>
          </a:p>
        </p:txBody>
      </p:sp>
      <p:sp>
        <p:nvSpPr>
          <p:cNvPr id="22" name="New shape"/>
          <p:cNvSpPr/>
          <p:nvPr/>
        </p:nvSpPr>
        <p:spPr>
          <a:xfrm>
            <a:off x="5259208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b</a:t>
            </a:r>
          </a:p>
        </p:txBody>
      </p:sp>
      <p:sp>
        <p:nvSpPr>
          <p:cNvPr id="23" name="New shape"/>
          <p:cNvSpPr/>
          <p:nvPr/>
        </p:nvSpPr>
        <p:spPr>
          <a:xfrm>
            <a:off x="6258951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c</a:t>
            </a:r>
          </a:p>
        </p:txBody>
      </p:sp>
      <p:sp>
        <p:nvSpPr>
          <p:cNvPr id="24" name="New shape"/>
          <p:cNvSpPr/>
          <p:nvPr/>
        </p:nvSpPr>
        <p:spPr>
          <a:xfrm>
            <a:off x="5268351" y="5637046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3438022" y="4445508"/>
            <a:ext cx="3819144" cy="484632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3433449" y="4440936"/>
            <a:ext cx="382981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5346070" y="3838956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17114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5346070" y="4991100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5317114" y="5475732"/>
            <a:ext cx="60960" cy="609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4375282" y="3838956"/>
            <a:ext cx="6096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4347849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315334" y="3838956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6287902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pic>
        <p:nvPicPr>
          <p:cNvPr id="13" name="New picture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3438022" y="4445508"/>
            <a:ext cx="3819144" cy="484632"/>
          </a:xfrm>
          <a:prstGeom prst="rect">
            <a:avLst/>
          </a:prstGeom>
          <a:ln w="0">
            <a:noFill/>
          </a:ln>
        </p:spPr>
      </p:pic>
      <p:sp>
        <p:nvSpPr>
          <p:cNvPr id="14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15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153297" y="2241002"/>
            <a:ext cx="245496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What is a function?</a:t>
            </a:r>
          </a:p>
        </p:txBody>
      </p:sp>
      <p:sp>
        <p:nvSpPr>
          <p:cNvPr id="17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8" name="New shape"/>
          <p:cNvSpPr/>
          <p:nvPr/>
        </p:nvSpPr>
        <p:spPr>
          <a:xfrm>
            <a:off x="2453525" y="2686080"/>
            <a:ext cx="16137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19" name="New shape"/>
          <p:cNvSpPr/>
          <p:nvPr/>
        </p:nvSpPr>
        <p:spPr>
          <a:xfrm>
            <a:off x="2677552" y="2686080"/>
            <a:ext cx="106273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i="1">
                <a:solidFill>
                  <a:srgbClr val="000000"/>
                </a:solidFill>
                <a:latin typeface="Calibri"/>
              </a:rPr>
              <a:t>black box</a:t>
            </a:r>
          </a:p>
        </p:txBody>
      </p:sp>
      <p:sp>
        <p:nvSpPr>
          <p:cNvPr id="20" name="New shape"/>
          <p:cNvSpPr/>
          <p:nvPr/>
        </p:nvSpPr>
        <p:spPr>
          <a:xfrm>
            <a:off x="3797692" y="2639342"/>
            <a:ext cx="4244175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with a set of 0+ inputs and 1 output.</a:t>
            </a:r>
          </a:p>
        </p:txBody>
      </p:sp>
      <p:sp>
        <p:nvSpPr>
          <p:cNvPr id="21" name="New shape"/>
          <p:cNvSpPr/>
          <p:nvPr/>
        </p:nvSpPr>
        <p:spPr>
          <a:xfrm>
            <a:off x="4260988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3</a:t>
            </a:r>
          </a:p>
        </p:txBody>
      </p:sp>
      <p:sp>
        <p:nvSpPr>
          <p:cNvPr id="22" name="New shape"/>
          <p:cNvSpPr/>
          <p:nvPr/>
        </p:nvSpPr>
        <p:spPr>
          <a:xfrm>
            <a:off x="5259208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6</a:t>
            </a:r>
          </a:p>
        </p:txBody>
      </p:sp>
      <p:sp>
        <p:nvSpPr>
          <p:cNvPr id="23" name="New shape"/>
          <p:cNvSpPr/>
          <p:nvPr/>
        </p:nvSpPr>
        <p:spPr>
          <a:xfrm>
            <a:off x="6258951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7</a:t>
            </a:r>
          </a:p>
        </p:txBody>
      </p:sp>
      <p:sp>
        <p:nvSpPr>
          <p:cNvPr id="24" name="New shape"/>
          <p:cNvSpPr/>
          <p:nvPr/>
        </p:nvSpPr>
        <p:spPr>
          <a:xfrm>
            <a:off x="5176912" y="5637046"/>
            <a:ext cx="333485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3438022" y="4445508"/>
            <a:ext cx="3819144" cy="484632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3433449" y="4440936"/>
            <a:ext cx="382981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5346070" y="4991100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17114" y="5475732"/>
            <a:ext cx="60960" cy="609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4678558" y="3838956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4651125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6012058" y="3838956"/>
            <a:ext cx="4572" cy="4953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984626" y="4325112"/>
            <a:ext cx="60960" cy="59436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pic>
        <p:nvPicPr>
          <p:cNvPr id="11" name="New picture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3438022" y="4445508"/>
            <a:ext cx="3819144" cy="484632"/>
          </a:xfrm>
          <a:prstGeom prst="rect">
            <a:avLst/>
          </a:prstGeom>
          <a:ln w="0">
            <a:noFill/>
          </a:ln>
        </p:spPr>
      </p:pic>
      <p:sp>
        <p:nvSpPr>
          <p:cNvPr id="12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13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4" name="New shape"/>
          <p:cNvSpPr/>
          <p:nvPr/>
        </p:nvSpPr>
        <p:spPr>
          <a:xfrm>
            <a:off x="2153297" y="2241002"/>
            <a:ext cx="245496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What is a function?</a:t>
            </a:r>
          </a:p>
        </p:txBody>
      </p:sp>
      <p:sp>
        <p:nvSpPr>
          <p:cNvPr id="15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453525" y="2686080"/>
            <a:ext cx="16137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17" name="New shape"/>
          <p:cNvSpPr/>
          <p:nvPr/>
        </p:nvSpPr>
        <p:spPr>
          <a:xfrm>
            <a:off x="2677552" y="2686080"/>
            <a:ext cx="106273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i="1">
                <a:solidFill>
                  <a:srgbClr val="000000"/>
                </a:solidFill>
                <a:latin typeface="Calibri"/>
              </a:rPr>
              <a:t>black box</a:t>
            </a:r>
          </a:p>
        </p:txBody>
      </p:sp>
      <p:sp>
        <p:nvSpPr>
          <p:cNvPr id="18" name="New shape"/>
          <p:cNvSpPr/>
          <p:nvPr/>
        </p:nvSpPr>
        <p:spPr>
          <a:xfrm>
            <a:off x="3797692" y="2639342"/>
            <a:ext cx="4244175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with a set of 0+ inputs and 1 output.</a:t>
            </a:r>
          </a:p>
        </p:txBody>
      </p:sp>
      <p:sp>
        <p:nvSpPr>
          <p:cNvPr id="19" name="New shape"/>
          <p:cNvSpPr/>
          <p:nvPr/>
        </p:nvSpPr>
        <p:spPr>
          <a:xfrm>
            <a:off x="4571884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4</a:t>
            </a:r>
          </a:p>
        </p:txBody>
      </p:sp>
      <p:sp>
        <p:nvSpPr>
          <p:cNvPr id="20" name="New shape"/>
          <p:cNvSpPr/>
          <p:nvPr/>
        </p:nvSpPr>
        <p:spPr>
          <a:xfrm>
            <a:off x="5903859" y="3514114"/>
            <a:ext cx="166742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5</a:t>
            </a:r>
          </a:p>
        </p:txBody>
      </p:sp>
      <p:sp>
        <p:nvSpPr>
          <p:cNvPr id="21" name="New shape"/>
          <p:cNvSpPr/>
          <p:nvPr/>
        </p:nvSpPr>
        <p:spPr>
          <a:xfrm>
            <a:off x="5176912" y="5637046"/>
            <a:ext cx="333485" cy="31601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388">
                <a:solidFill>
                  <a:srgbClr val="00990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154470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Why call it a</a:t>
            </a:r>
          </a:p>
        </p:txBody>
      </p:sp>
      <p:sp>
        <p:nvSpPr>
          <p:cNvPr id="6" name="New shape"/>
          <p:cNvSpPr/>
          <p:nvPr/>
        </p:nvSpPr>
        <p:spPr>
          <a:xfrm>
            <a:off x="3761116" y="2241002"/>
            <a:ext cx="119049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>
                <a:solidFill>
                  <a:srgbClr val="000000"/>
                </a:solidFill>
                <a:latin typeface="Calibri"/>
              </a:rPr>
              <a:t>black box</a:t>
            </a:r>
          </a:p>
        </p:txBody>
      </p:sp>
      <p:sp>
        <p:nvSpPr>
          <p:cNvPr id="7" name="New shape"/>
          <p:cNvSpPr/>
          <p:nvPr/>
        </p:nvSpPr>
        <p:spPr>
          <a:xfrm>
            <a:off x="4945264" y="2241002"/>
            <a:ext cx="14461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?</a:t>
            </a:r>
          </a:p>
        </p:txBody>
      </p:sp>
      <p:sp>
        <p:nvSpPr>
          <p:cNvPr id="8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9" name="New shape"/>
          <p:cNvSpPr/>
          <p:nvPr/>
        </p:nvSpPr>
        <p:spPr>
          <a:xfrm>
            <a:off x="2453525" y="2686080"/>
            <a:ext cx="592795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If we aren’t writing the functions ourselves,we don’t</a:t>
            </a:r>
          </a:p>
        </p:txBody>
      </p:sp>
      <p:sp>
        <p:nvSpPr>
          <p:cNvPr id="10" name="New shape"/>
          <p:cNvSpPr/>
          <p:nvPr/>
        </p:nvSpPr>
        <p:spPr>
          <a:xfrm>
            <a:off x="2453525" y="2987832"/>
            <a:ext cx="522078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need to know the underlying implementation.</a:t>
            </a:r>
          </a:p>
        </p:txBody>
      </p:sp>
      <p:sp>
        <p:nvSpPr>
          <p:cNvPr id="11" name="New shape"/>
          <p:cNvSpPr/>
          <p:nvPr/>
        </p:nvSpPr>
        <p:spPr>
          <a:xfrm>
            <a:off x="4146688" y="3874514"/>
            <a:ext cx="171434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FF0000"/>
                </a:solidFill>
                <a:latin typeface="Consolas"/>
              </a:rPr>
              <a:t>mult(a, b):</a:t>
            </a:r>
          </a:p>
        </p:txBody>
      </p:sp>
      <p:sp>
        <p:nvSpPr>
          <p:cNvPr id="12" name="New shape"/>
          <p:cNvSpPr/>
          <p:nvPr/>
        </p:nvSpPr>
        <p:spPr>
          <a:xfrm>
            <a:off x="4613032" y="4214364"/>
            <a:ext cx="187019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output a * 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154470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Why call it a</a:t>
            </a:r>
          </a:p>
        </p:txBody>
      </p:sp>
      <p:sp>
        <p:nvSpPr>
          <p:cNvPr id="6" name="New shape"/>
          <p:cNvSpPr/>
          <p:nvPr/>
        </p:nvSpPr>
        <p:spPr>
          <a:xfrm>
            <a:off x="3761116" y="2241002"/>
            <a:ext cx="119049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>
                <a:solidFill>
                  <a:srgbClr val="000000"/>
                </a:solidFill>
                <a:latin typeface="Calibri"/>
              </a:rPr>
              <a:t>black box</a:t>
            </a:r>
          </a:p>
        </p:txBody>
      </p:sp>
      <p:sp>
        <p:nvSpPr>
          <p:cNvPr id="7" name="New shape"/>
          <p:cNvSpPr/>
          <p:nvPr/>
        </p:nvSpPr>
        <p:spPr>
          <a:xfrm>
            <a:off x="4945264" y="2241002"/>
            <a:ext cx="14461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?</a:t>
            </a:r>
          </a:p>
        </p:txBody>
      </p:sp>
      <p:sp>
        <p:nvSpPr>
          <p:cNvPr id="8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9" name="New shape"/>
          <p:cNvSpPr/>
          <p:nvPr/>
        </p:nvSpPr>
        <p:spPr>
          <a:xfrm>
            <a:off x="2453525" y="2686080"/>
            <a:ext cx="592795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If we aren’t writing the functions ourselves,we don’t</a:t>
            </a:r>
          </a:p>
        </p:txBody>
      </p:sp>
      <p:sp>
        <p:nvSpPr>
          <p:cNvPr id="10" name="New shape"/>
          <p:cNvSpPr/>
          <p:nvPr/>
        </p:nvSpPr>
        <p:spPr>
          <a:xfrm>
            <a:off x="2453525" y="2987832"/>
            <a:ext cx="522078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need to know the underlying implementation.</a:t>
            </a:r>
          </a:p>
        </p:txBody>
      </p:sp>
      <p:sp>
        <p:nvSpPr>
          <p:cNvPr id="11" name="New shape"/>
          <p:cNvSpPr/>
          <p:nvPr/>
        </p:nvSpPr>
        <p:spPr>
          <a:xfrm>
            <a:off x="3628528" y="3874514"/>
            <a:ext cx="171434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FF0000"/>
                </a:solidFill>
                <a:latin typeface="Consolas"/>
              </a:rPr>
              <a:t>mult(a, b):</a:t>
            </a:r>
          </a:p>
        </p:txBody>
      </p:sp>
      <p:sp>
        <p:nvSpPr>
          <p:cNvPr id="12" name="New shape"/>
          <p:cNvSpPr/>
          <p:nvPr/>
        </p:nvSpPr>
        <p:spPr>
          <a:xfrm>
            <a:off x="4094872" y="4214364"/>
            <a:ext cx="2493596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set counter to 0</a:t>
            </a:r>
          </a:p>
        </p:txBody>
      </p:sp>
      <p:sp>
        <p:nvSpPr>
          <p:cNvPr id="13" name="New shape"/>
          <p:cNvSpPr/>
          <p:nvPr/>
        </p:nvSpPr>
        <p:spPr>
          <a:xfrm>
            <a:off x="4094872" y="4552693"/>
            <a:ext cx="218189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repeat b times</a:t>
            </a:r>
          </a:p>
        </p:txBody>
      </p:sp>
      <p:sp>
        <p:nvSpPr>
          <p:cNvPr id="14" name="New shape"/>
          <p:cNvSpPr/>
          <p:nvPr/>
        </p:nvSpPr>
        <p:spPr>
          <a:xfrm>
            <a:off x="4561216" y="4892545"/>
            <a:ext cx="2493596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add a to counter</a:t>
            </a:r>
          </a:p>
        </p:txBody>
      </p:sp>
      <p:sp>
        <p:nvSpPr>
          <p:cNvPr id="15" name="New shape"/>
          <p:cNvSpPr/>
          <p:nvPr/>
        </p:nvSpPr>
        <p:spPr>
          <a:xfrm>
            <a:off x="4094872" y="5230873"/>
            <a:ext cx="218189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output counter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154470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Why call it a</a:t>
            </a:r>
          </a:p>
        </p:txBody>
      </p:sp>
      <p:sp>
        <p:nvSpPr>
          <p:cNvPr id="6" name="New shape"/>
          <p:cNvSpPr/>
          <p:nvPr/>
        </p:nvSpPr>
        <p:spPr>
          <a:xfrm>
            <a:off x="3761116" y="2241002"/>
            <a:ext cx="119049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>
                <a:solidFill>
                  <a:srgbClr val="000000"/>
                </a:solidFill>
                <a:latin typeface="Calibri"/>
              </a:rPr>
              <a:t>black box</a:t>
            </a:r>
          </a:p>
        </p:txBody>
      </p:sp>
      <p:sp>
        <p:nvSpPr>
          <p:cNvPr id="7" name="New shape"/>
          <p:cNvSpPr/>
          <p:nvPr/>
        </p:nvSpPr>
        <p:spPr>
          <a:xfrm>
            <a:off x="4945264" y="2241002"/>
            <a:ext cx="14461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?</a:t>
            </a:r>
          </a:p>
        </p:txBody>
      </p:sp>
      <p:sp>
        <p:nvSpPr>
          <p:cNvPr id="8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9" name="New shape"/>
          <p:cNvSpPr/>
          <p:nvPr/>
        </p:nvSpPr>
        <p:spPr>
          <a:xfrm>
            <a:off x="2453525" y="2686080"/>
            <a:ext cx="592795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If we aren’t writing the functions ourselves,we don’t</a:t>
            </a:r>
          </a:p>
        </p:txBody>
      </p:sp>
      <p:sp>
        <p:nvSpPr>
          <p:cNvPr id="10" name="New shape"/>
          <p:cNvSpPr/>
          <p:nvPr/>
        </p:nvSpPr>
        <p:spPr>
          <a:xfrm>
            <a:off x="2453525" y="2987832"/>
            <a:ext cx="522078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need to know the underlying implementation.</a:t>
            </a:r>
          </a:p>
        </p:txBody>
      </p:sp>
      <p:sp>
        <p:nvSpPr>
          <p:cNvPr id="11" name="New shape"/>
          <p:cNvSpPr/>
          <p:nvPr/>
        </p:nvSpPr>
        <p:spPr>
          <a:xfrm>
            <a:off x="2195969" y="3923064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2" name="New shape"/>
          <p:cNvSpPr/>
          <p:nvPr/>
        </p:nvSpPr>
        <p:spPr>
          <a:xfrm>
            <a:off x="2453525" y="3764054"/>
            <a:ext cx="5726952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That’s part of the contract of using functions. The</a:t>
            </a:r>
          </a:p>
        </p:txBody>
      </p:sp>
      <p:sp>
        <p:nvSpPr>
          <p:cNvPr id="13" name="New shape"/>
          <p:cNvSpPr/>
          <p:nvPr/>
        </p:nvSpPr>
        <p:spPr>
          <a:xfrm>
            <a:off x="2453524" y="4065806"/>
            <a:ext cx="6115649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Behavior is typically predictable based on that name.</a:t>
            </a:r>
          </a:p>
        </p:txBody>
      </p:sp>
      <p:sp>
        <p:nvSpPr>
          <p:cNvPr id="14" name="New shape"/>
          <p:cNvSpPr/>
          <p:nvPr/>
        </p:nvSpPr>
        <p:spPr>
          <a:xfrm>
            <a:off x="2453525" y="4412772"/>
            <a:ext cx="570298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That’s why most functions have clear, obvious(ish)</a:t>
            </a:r>
          </a:p>
        </p:txBody>
      </p:sp>
      <p:sp>
        <p:nvSpPr>
          <p:cNvPr id="15" name="New shape"/>
          <p:cNvSpPr/>
          <p:nvPr/>
        </p:nvSpPr>
        <p:spPr>
          <a:xfrm>
            <a:off x="2453525" y="4666262"/>
            <a:ext cx="3983783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names, and are well-documented.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914030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Functions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6" y="2241002"/>
            <a:ext cx="249234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Why use functions?</a:t>
            </a:r>
          </a:p>
        </p:txBody>
      </p:sp>
      <p:sp>
        <p:nvSpPr>
          <p:cNvPr id="6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7" name="New shape"/>
          <p:cNvSpPr/>
          <p:nvPr/>
        </p:nvSpPr>
        <p:spPr>
          <a:xfrm>
            <a:off x="2453525" y="2686080"/>
            <a:ext cx="145056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Organization</a:t>
            </a:r>
          </a:p>
        </p:txBody>
      </p:sp>
      <p:sp>
        <p:nvSpPr>
          <p:cNvPr id="8" name="New shape"/>
          <p:cNvSpPr/>
          <p:nvPr/>
        </p:nvSpPr>
        <p:spPr>
          <a:xfrm>
            <a:off x="2497720" y="3195039"/>
            <a:ext cx="66223" cy="11433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86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9" name="New shape"/>
          <p:cNvSpPr/>
          <p:nvPr/>
        </p:nvSpPr>
        <p:spPr>
          <a:xfrm>
            <a:off x="2755277" y="3096108"/>
            <a:ext cx="5674279" cy="2556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932">
                <a:solidFill>
                  <a:srgbClr val="000000"/>
                </a:solidFill>
                <a:latin typeface="Calibri"/>
              </a:rPr>
              <a:t>Functionshelp break upa complicated problem into more</a:t>
            </a:r>
          </a:p>
        </p:txBody>
      </p:sp>
      <p:sp>
        <p:nvSpPr>
          <p:cNvPr id="10" name="New shape"/>
          <p:cNvSpPr/>
          <p:nvPr/>
        </p:nvSpPr>
        <p:spPr>
          <a:xfrm>
            <a:off x="2755277" y="3359759"/>
            <a:ext cx="2201925" cy="2556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932">
                <a:solidFill>
                  <a:srgbClr val="000000"/>
                </a:solidFill>
                <a:latin typeface="Calibri"/>
              </a:rPr>
              <a:t>manageable subparts.</a:t>
            </a:r>
          </a:p>
        </p:txBody>
      </p:sp>
      <p:sp>
        <p:nvSpPr>
          <p:cNvPr id="11" name="New shape"/>
          <p:cNvSpPr/>
          <p:nvPr/>
        </p:nvSpPr>
        <p:spPr>
          <a:xfrm>
            <a:off x="2195969" y="3851435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2" name="New shape"/>
          <p:cNvSpPr/>
          <p:nvPr/>
        </p:nvSpPr>
        <p:spPr>
          <a:xfrm>
            <a:off x="2453525" y="3739165"/>
            <a:ext cx="15389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Simplification</a:t>
            </a:r>
          </a:p>
        </p:txBody>
      </p:sp>
      <p:sp>
        <p:nvSpPr>
          <p:cNvPr id="13" name="New shape"/>
          <p:cNvSpPr/>
          <p:nvPr/>
        </p:nvSpPr>
        <p:spPr>
          <a:xfrm>
            <a:off x="2497720" y="4246599"/>
            <a:ext cx="66223" cy="11433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86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4" name="New shape"/>
          <p:cNvSpPr/>
          <p:nvPr/>
        </p:nvSpPr>
        <p:spPr>
          <a:xfrm>
            <a:off x="2755277" y="4103755"/>
            <a:ext cx="4894225" cy="3434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932" dirty="0">
                <a:solidFill>
                  <a:srgbClr val="000000"/>
                </a:solidFill>
                <a:latin typeface="Calibri"/>
              </a:rPr>
              <a:t>Smaller components </a:t>
            </a:r>
            <a:r>
              <a:rPr lang="en-US" sz="1932" dirty="0" err="1">
                <a:solidFill>
                  <a:srgbClr val="000000"/>
                </a:solidFill>
                <a:latin typeface="Calibri"/>
              </a:rPr>
              <a:t>tendto</a:t>
            </a:r>
            <a:r>
              <a:rPr lang="en-US" sz="1932" dirty="0">
                <a:solidFill>
                  <a:srgbClr val="000000"/>
                </a:solidFill>
                <a:latin typeface="Calibri"/>
              </a:rPr>
              <a:t> be easier to design,</a:t>
            </a:r>
          </a:p>
        </p:txBody>
      </p:sp>
      <p:sp>
        <p:nvSpPr>
          <p:cNvPr id="15" name="New shape"/>
          <p:cNvSpPr/>
          <p:nvPr/>
        </p:nvSpPr>
        <p:spPr>
          <a:xfrm>
            <a:off x="2755276" y="4368931"/>
            <a:ext cx="2432012" cy="3434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932" dirty="0">
                <a:solidFill>
                  <a:srgbClr val="000000"/>
                </a:solidFill>
                <a:latin typeface="Calibri"/>
              </a:rPr>
              <a:t>implement, and debug.</a:t>
            </a:r>
          </a:p>
        </p:txBody>
      </p:sp>
      <p:sp>
        <p:nvSpPr>
          <p:cNvPr id="16" name="New shape"/>
          <p:cNvSpPr/>
          <p:nvPr/>
        </p:nvSpPr>
        <p:spPr>
          <a:xfrm>
            <a:off x="2195969" y="4904519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7" name="New shape"/>
          <p:cNvSpPr/>
          <p:nvPr/>
        </p:nvSpPr>
        <p:spPr>
          <a:xfrm>
            <a:off x="2453525" y="4792248"/>
            <a:ext cx="123622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Reusability</a:t>
            </a:r>
          </a:p>
        </p:txBody>
      </p:sp>
      <p:sp>
        <p:nvSpPr>
          <p:cNvPr id="18" name="New shape"/>
          <p:cNvSpPr/>
          <p:nvPr/>
        </p:nvSpPr>
        <p:spPr>
          <a:xfrm>
            <a:off x="2497720" y="5299682"/>
            <a:ext cx="66223" cy="11433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86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9" name="New shape"/>
          <p:cNvSpPr/>
          <p:nvPr/>
        </p:nvSpPr>
        <p:spPr>
          <a:xfrm>
            <a:off x="2755277" y="5156839"/>
            <a:ext cx="5651099" cy="3434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932" dirty="0">
                <a:solidFill>
                  <a:srgbClr val="000000"/>
                </a:solidFill>
                <a:latin typeface="Calibri"/>
              </a:rPr>
              <a:t>Functions can be recycled; you only need to write them</a:t>
            </a:r>
          </a:p>
        </p:txBody>
      </p:sp>
      <p:sp>
        <p:nvSpPr>
          <p:cNvPr id="20" name="New shape"/>
          <p:cNvSpPr/>
          <p:nvPr/>
        </p:nvSpPr>
        <p:spPr>
          <a:xfrm>
            <a:off x="2755277" y="5422015"/>
            <a:ext cx="4653262" cy="3434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932" dirty="0">
                <a:solidFill>
                  <a:srgbClr val="000000"/>
                </a:solidFill>
                <a:latin typeface="Calibri"/>
              </a:rPr>
              <a:t>once, but can use them as often as you need!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Times New Roman"/>
        <a:font script="Hebr" typeface="Times New Roman"/>
        <a:font script="Deva" typeface="Mangal"/>
        <a:font script="Uigh" typeface="Microsoft Uighur"/>
        <a:font script="Ethi" typeface="Nyala"/>
        <a:font script="Yiii" typeface="Microsoft Yi Baiti"/>
        <a:font script="Khmr" typeface="MoolBoran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Angsana New"/>
        <a:font script="Guru" typeface="Raavi"/>
        <a:font script="Viet" typeface="Times New Roman"/>
        <a:font script="Hang" typeface="맑은 고딕"/>
        <a:font script="Hant" typeface="新細明體"/>
        <a:font script="Gujr" typeface="Shruti"/>
      </a:majorFont>
      <a:min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Arial"/>
        <a:font script="Hebr" typeface="Arial"/>
        <a:font script="Deva" typeface="Mangal"/>
        <a:font script="Uigh" typeface="Microsoft Uighur"/>
        <a:font script="Ethi" typeface="Nyala"/>
        <a:font script="Yiii" typeface="Microsoft Yi Baiti"/>
        <a:font script="Khmr" typeface="DaunPenh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Cordia New"/>
        <a:font script="Guru" typeface="Raavi"/>
        <a:font script="Viet" typeface="Arial"/>
        <a:font script="Hang" typeface="맑은 고딕"/>
        <a:font script="Hant" typeface="新細明體"/>
        <a:font script="Gujr" typeface="Shruti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383</Words>
  <Application>Microsoft Office PowerPoint</Application>
  <PresentationFormat>Custom</PresentationFormat>
  <Paragraphs>116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Ed Harris</cp:lastModifiedBy>
  <cp:revision>2</cp:revision>
  <dcterms:created xsi:type="dcterms:W3CDTF">2025-07-22T13:59:21Z</dcterms:created>
  <dcterms:modified xsi:type="dcterms:W3CDTF">2025-10-11T09:42:59Z</dcterms:modified>
</cp:coreProperties>
</file>