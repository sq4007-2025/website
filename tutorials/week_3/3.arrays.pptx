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66" r:id="rId5"/>
    <p:sldId id="267" r:id="rId6"/>
    <p:sldId id="268" r:id="rId7"/>
    <p:sldId id="269" r:id="rId8"/>
    <p:sldId id="263" r:id="rId9"/>
    <p:sldId id="264" r:id="rId10"/>
    <p:sldId id="265" r:id="rId11"/>
  </p:sldIdLst>
  <p:sldSz cx="10693400" cy="7556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1428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lIns="91440" tIns="45720" rIns="91440" bIns="45720" rtlCol="0" anchor="ctr">
            <a:normAutofit/>
          </a:bodyPr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lIns="91440" tIns="45720" rIns="91440" bIns="45720" rtlCol="0">
            <a:normAutofit/>
          </a:bodyPr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125173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Arrays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125173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Arrays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7" y="2241002"/>
            <a:ext cx="321755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Arrays are a fundamental</a:t>
            </a:r>
          </a:p>
        </p:txBody>
      </p:sp>
      <p:sp>
        <p:nvSpPr>
          <p:cNvPr id="6" name="New shape"/>
          <p:cNvSpPr/>
          <p:nvPr/>
        </p:nvSpPr>
        <p:spPr>
          <a:xfrm>
            <a:off x="5411607" y="2241002"/>
            <a:ext cx="184095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b="1">
                <a:solidFill>
                  <a:srgbClr val="000000"/>
                </a:solidFill>
                <a:latin typeface="Calibri"/>
              </a:rPr>
              <a:t>data structure</a:t>
            </a:r>
          </a:p>
        </p:txBody>
      </p:sp>
      <p:sp>
        <p:nvSpPr>
          <p:cNvPr id="7" name="New shape"/>
          <p:cNvSpPr/>
          <p:nvPr/>
        </p:nvSpPr>
        <p:spPr>
          <a:xfrm>
            <a:off x="7238882" y="2241002"/>
            <a:ext cx="1262036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, and they</a:t>
            </a:r>
          </a:p>
        </p:txBody>
      </p:sp>
      <p:sp>
        <p:nvSpPr>
          <p:cNvPr id="8" name="New shape"/>
          <p:cNvSpPr/>
          <p:nvPr/>
        </p:nvSpPr>
        <p:spPr>
          <a:xfrm>
            <a:off x="2153296" y="2577805"/>
            <a:ext cx="2706063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are extremely useful!</a:t>
            </a:r>
          </a:p>
        </p:txBody>
      </p:sp>
      <p:sp>
        <p:nvSpPr>
          <p:cNvPr id="9" name="New shape"/>
          <p:cNvSpPr/>
          <p:nvPr/>
        </p:nvSpPr>
        <p:spPr>
          <a:xfrm>
            <a:off x="1895740" y="3598003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0" name="New shape"/>
          <p:cNvSpPr/>
          <p:nvPr/>
        </p:nvSpPr>
        <p:spPr>
          <a:xfrm>
            <a:off x="2153296" y="3472393"/>
            <a:ext cx="617669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We use arrays to hold values of the same type at</a:t>
            </a:r>
          </a:p>
        </p:txBody>
      </p:sp>
      <p:sp>
        <p:nvSpPr>
          <p:cNvPr id="11" name="New shape"/>
          <p:cNvSpPr/>
          <p:nvPr/>
        </p:nvSpPr>
        <p:spPr>
          <a:xfrm>
            <a:off x="2153296" y="3759601"/>
            <a:ext cx="3952364" cy="42473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dirty="0">
                <a:solidFill>
                  <a:srgbClr val="000000"/>
                </a:solidFill>
                <a:latin typeface="Calibri"/>
              </a:rPr>
              <a:t>contiguous memory locations.</a:t>
            </a:r>
          </a:p>
        </p:txBody>
      </p:sp>
      <p:sp>
        <p:nvSpPr>
          <p:cNvPr id="12" name="New shape"/>
          <p:cNvSpPr/>
          <p:nvPr/>
        </p:nvSpPr>
        <p:spPr>
          <a:xfrm>
            <a:off x="1895740" y="4829394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3" name="New shape"/>
          <p:cNvSpPr/>
          <p:nvPr/>
        </p:nvSpPr>
        <p:spPr>
          <a:xfrm>
            <a:off x="2153296" y="4703784"/>
            <a:ext cx="6494611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One way to analogize the notion of array is to think</a:t>
            </a:r>
          </a:p>
        </p:txBody>
      </p:sp>
      <p:sp>
        <p:nvSpPr>
          <p:cNvPr id="14" name="New shape"/>
          <p:cNvSpPr/>
          <p:nvPr/>
        </p:nvSpPr>
        <p:spPr>
          <a:xfrm>
            <a:off x="2153296" y="5040588"/>
            <a:ext cx="6265178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of your local post office, which usually has a large</a:t>
            </a:r>
          </a:p>
        </p:txBody>
      </p:sp>
      <p:sp>
        <p:nvSpPr>
          <p:cNvPr id="15" name="New shape"/>
          <p:cNvSpPr/>
          <p:nvPr/>
        </p:nvSpPr>
        <p:spPr>
          <a:xfrm>
            <a:off x="2153296" y="5377392"/>
            <a:ext cx="3250356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bank of post office boxes.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1889638" y="2372868"/>
            <a:ext cx="3457956" cy="339852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5347594" y="2372868"/>
            <a:ext cx="3457956" cy="339852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1889638" y="2712720"/>
            <a:ext cx="3457956" cy="6065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5347594" y="2712720"/>
            <a:ext cx="3457956" cy="6065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5347594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1885066" y="2712720"/>
            <a:ext cx="6926580" cy="0"/>
          </a:xfrm>
          <a:prstGeom prst="line">
            <a:avLst/>
          </a:prstGeom>
          <a:ln w="3031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1889638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8805550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/>
          <p:cNvSpPr/>
          <p:nvPr/>
        </p:nvSpPr>
        <p:spPr>
          <a:xfrm>
            <a:off x="1885066" y="237286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/>
          <p:cNvSpPr/>
          <p:nvPr/>
        </p:nvSpPr>
        <p:spPr>
          <a:xfrm>
            <a:off x="1811921" y="1356565"/>
            <a:ext cx="125173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Arrays</a:t>
            </a:r>
          </a:p>
        </p:txBody>
      </p:sp>
      <p:sp>
        <p:nvSpPr>
          <p:cNvPr id="26" name="New shape"/>
          <p:cNvSpPr/>
          <p:nvPr/>
        </p:nvSpPr>
        <p:spPr>
          <a:xfrm>
            <a:off x="3323728" y="2454413"/>
            <a:ext cx="59678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Arrays</a:t>
            </a:r>
          </a:p>
        </p:txBody>
      </p:sp>
      <p:sp>
        <p:nvSpPr>
          <p:cNvPr id="27" name="New shape"/>
          <p:cNvSpPr/>
          <p:nvPr/>
        </p:nvSpPr>
        <p:spPr>
          <a:xfrm>
            <a:off x="6280288" y="2454413"/>
            <a:ext cx="160185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Post Office Boxes</a:t>
            </a:r>
          </a:p>
        </p:txBody>
      </p:sp>
      <p:sp>
        <p:nvSpPr>
          <p:cNvPr id="28" name="New shape"/>
          <p:cNvSpPr/>
          <p:nvPr/>
        </p:nvSpPr>
        <p:spPr>
          <a:xfrm>
            <a:off x="1962797" y="2792742"/>
            <a:ext cx="245537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An</a:t>
            </a:r>
          </a:p>
        </p:txBody>
      </p:sp>
      <p:sp>
        <p:nvSpPr>
          <p:cNvPr id="29" name="New shape"/>
          <p:cNvSpPr/>
          <p:nvPr/>
        </p:nvSpPr>
        <p:spPr>
          <a:xfrm>
            <a:off x="2258453" y="2792742"/>
            <a:ext cx="48303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array</a:t>
            </a:r>
          </a:p>
        </p:txBody>
      </p:sp>
      <p:sp>
        <p:nvSpPr>
          <p:cNvPr id="30" name="New shape"/>
          <p:cNvSpPr/>
          <p:nvPr/>
        </p:nvSpPr>
        <p:spPr>
          <a:xfrm>
            <a:off x="2782708" y="2792742"/>
            <a:ext cx="210607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is a block of contiguous</a:t>
            </a:r>
          </a:p>
        </p:txBody>
      </p:sp>
      <p:sp>
        <p:nvSpPr>
          <p:cNvPr id="31" name="New shape"/>
          <p:cNvSpPr/>
          <p:nvPr/>
        </p:nvSpPr>
        <p:spPr>
          <a:xfrm>
            <a:off x="1962797" y="3017469"/>
            <a:ext cx="1811843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space in memory…</a:t>
            </a:r>
          </a:p>
        </p:txBody>
      </p:sp>
      <p:sp>
        <p:nvSpPr>
          <p:cNvPr id="32" name="New shape"/>
          <p:cNvSpPr/>
          <p:nvPr/>
        </p:nvSpPr>
        <p:spPr>
          <a:xfrm>
            <a:off x="5420751" y="2792742"/>
            <a:ext cx="12874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</a:t>
            </a:r>
          </a:p>
        </p:txBody>
      </p:sp>
      <p:sp>
        <p:nvSpPr>
          <p:cNvPr id="33" name="New shape"/>
          <p:cNvSpPr/>
          <p:nvPr/>
        </p:nvSpPr>
        <p:spPr>
          <a:xfrm>
            <a:off x="5600583" y="2792742"/>
            <a:ext cx="905660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mail bank</a:t>
            </a:r>
          </a:p>
        </p:txBody>
      </p:sp>
      <p:sp>
        <p:nvSpPr>
          <p:cNvPr id="34" name="New shape"/>
          <p:cNvSpPr/>
          <p:nvPr/>
        </p:nvSpPr>
        <p:spPr>
          <a:xfrm>
            <a:off x="6553082" y="2750770"/>
            <a:ext cx="2110386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Is a large space on the</a:t>
            </a:r>
          </a:p>
        </p:txBody>
      </p:sp>
      <p:sp>
        <p:nvSpPr>
          <p:cNvPr id="35" name="New shape"/>
          <p:cNvSpPr/>
          <p:nvPr/>
        </p:nvSpPr>
        <p:spPr>
          <a:xfrm>
            <a:off x="5420751" y="3017469"/>
            <a:ext cx="2259978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Wall of the post office…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4DE00-D06C-5284-9D51-93644E84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>
            <a:extLst>
              <a:ext uri="{FF2B5EF4-FFF2-40B4-BE49-F238E27FC236}">
                <a16:creationId xmlns:a16="http://schemas.microsoft.com/office/drawing/2014/main" id="{1C5BF94E-0240-AAD1-8CF5-232B5867F265}"/>
              </a:ext>
            </a:extLst>
          </p:cNvPr>
          <p:cNvSpPr/>
          <p:nvPr/>
        </p:nvSpPr>
        <p:spPr>
          <a:xfrm>
            <a:off x="1889638" y="2372868"/>
            <a:ext cx="3457956" cy="339852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>
            <a:extLst>
              <a:ext uri="{FF2B5EF4-FFF2-40B4-BE49-F238E27FC236}">
                <a16:creationId xmlns:a16="http://schemas.microsoft.com/office/drawing/2014/main" id="{652D9CF7-0DAC-B609-C5E1-873FA4E59C3B}"/>
              </a:ext>
            </a:extLst>
          </p:cNvPr>
          <p:cNvSpPr/>
          <p:nvPr/>
        </p:nvSpPr>
        <p:spPr>
          <a:xfrm>
            <a:off x="5347594" y="2372868"/>
            <a:ext cx="3457956" cy="339852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>
            <a:extLst>
              <a:ext uri="{FF2B5EF4-FFF2-40B4-BE49-F238E27FC236}">
                <a16:creationId xmlns:a16="http://schemas.microsoft.com/office/drawing/2014/main" id="{A13DE3EF-D356-2F5E-87F3-4BE788AACDDA}"/>
              </a:ext>
            </a:extLst>
          </p:cNvPr>
          <p:cNvSpPr/>
          <p:nvPr/>
        </p:nvSpPr>
        <p:spPr>
          <a:xfrm>
            <a:off x="1889638" y="2712720"/>
            <a:ext cx="3457956" cy="6065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>
            <a:extLst>
              <a:ext uri="{FF2B5EF4-FFF2-40B4-BE49-F238E27FC236}">
                <a16:creationId xmlns:a16="http://schemas.microsoft.com/office/drawing/2014/main" id="{4E81705B-981A-3D14-3307-1CDB2786154D}"/>
              </a:ext>
            </a:extLst>
          </p:cNvPr>
          <p:cNvSpPr/>
          <p:nvPr/>
        </p:nvSpPr>
        <p:spPr>
          <a:xfrm>
            <a:off x="5347594" y="2712720"/>
            <a:ext cx="3457956" cy="6065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>
            <a:extLst>
              <a:ext uri="{FF2B5EF4-FFF2-40B4-BE49-F238E27FC236}">
                <a16:creationId xmlns:a16="http://schemas.microsoft.com/office/drawing/2014/main" id="{1486B05F-284D-4FA6-AF8B-CE27C73D56D4}"/>
              </a:ext>
            </a:extLst>
          </p:cNvPr>
          <p:cNvSpPr/>
          <p:nvPr/>
        </p:nvSpPr>
        <p:spPr>
          <a:xfrm>
            <a:off x="1889638" y="3319272"/>
            <a:ext cx="3457956" cy="8732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>
            <a:extLst>
              <a:ext uri="{FF2B5EF4-FFF2-40B4-BE49-F238E27FC236}">
                <a16:creationId xmlns:a16="http://schemas.microsoft.com/office/drawing/2014/main" id="{ADD63DD5-D18C-8BAD-3C40-68C7ECEE5456}"/>
              </a:ext>
            </a:extLst>
          </p:cNvPr>
          <p:cNvSpPr/>
          <p:nvPr/>
        </p:nvSpPr>
        <p:spPr>
          <a:xfrm>
            <a:off x="5347594" y="3319272"/>
            <a:ext cx="3457956" cy="8732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>
            <a:extLst>
              <a:ext uri="{FF2B5EF4-FFF2-40B4-BE49-F238E27FC236}">
                <a16:creationId xmlns:a16="http://schemas.microsoft.com/office/drawing/2014/main" id="{70838E40-920F-2F55-B710-6C19E451B23B}"/>
              </a:ext>
            </a:extLst>
          </p:cNvPr>
          <p:cNvSpPr/>
          <p:nvPr/>
        </p:nvSpPr>
        <p:spPr>
          <a:xfrm>
            <a:off x="5347594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>
            <a:extLst>
              <a:ext uri="{FF2B5EF4-FFF2-40B4-BE49-F238E27FC236}">
                <a16:creationId xmlns:a16="http://schemas.microsoft.com/office/drawing/2014/main" id="{D4E21256-5D59-456F-85D1-DD02EB05AEED}"/>
              </a:ext>
            </a:extLst>
          </p:cNvPr>
          <p:cNvSpPr/>
          <p:nvPr/>
        </p:nvSpPr>
        <p:spPr>
          <a:xfrm>
            <a:off x="1885066" y="2712720"/>
            <a:ext cx="6926580" cy="0"/>
          </a:xfrm>
          <a:prstGeom prst="line">
            <a:avLst/>
          </a:prstGeom>
          <a:ln w="3031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>
            <a:extLst>
              <a:ext uri="{FF2B5EF4-FFF2-40B4-BE49-F238E27FC236}">
                <a16:creationId xmlns:a16="http://schemas.microsoft.com/office/drawing/2014/main" id="{8481A935-854A-979C-D433-85A9504C7115}"/>
              </a:ext>
            </a:extLst>
          </p:cNvPr>
          <p:cNvSpPr/>
          <p:nvPr/>
        </p:nvSpPr>
        <p:spPr>
          <a:xfrm>
            <a:off x="1885066" y="3319272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>
            <a:extLst>
              <a:ext uri="{FF2B5EF4-FFF2-40B4-BE49-F238E27FC236}">
                <a16:creationId xmlns:a16="http://schemas.microsoft.com/office/drawing/2014/main" id="{39DB9F3E-4420-8F0F-A460-3885EB759413}"/>
              </a:ext>
            </a:extLst>
          </p:cNvPr>
          <p:cNvSpPr/>
          <p:nvPr/>
        </p:nvSpPr>
        <p:spPr>
          <a:xfrm>
            <a:off x="1889638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>
            <a:extLst>
              <a:ext uri="{FF2B5EF4-FFF2-40B4-BE49-F238E27FC236}">
                <a16:creationId xmlns:a16="http://schemas.microsoft.com/office/drawing/2014/main" id="{5629C815-DDBD-0AD6-3BE7-31BAACC0A85E}"/>
              </a:ext>
            </a:extLst>
          </p:cNvPr>
          <p:cNvSpPr/>
          <p:nvPr/>
        </p:nvSpPr>
        <p:spPr>
          <a:xfrm>
            <a:off x="8805550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>
            <a:extLst>
              <a:ext uri="{FF2B5EF4-FFF2-40B4-BE49-F238E27FC236}">
                <a16:creationId xmlns:a16="http://schemas.microsoft.com/office/drawing/2014/main" id="{525ECA52-7B8D-0F8E-0298-BA8D81760C54}"/>
              </a:ext>
            </a:extLst>
          </p:cNvPr>
          <p:cNvSpPr/>
          <p:nvPr/>
        </p:nvSpPr>
        <p:spPr>
          <a:xfrm>
            <a:off x="1885066" y="237286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>
            <a:extLst>
              <a:ext uri="{FF2B5EF4-FFF2-40B4-BE49-F238E27FC236}">
                <a16:creationId xmlns:a16="http://schemas.microsoft.com/office/drawing/2014/main" id="{E34B1E40-8AFA-85F5-9295-6BFCC1B9C301}"/>
              </a:ext>
            </a:extLst>
          </p:cNvPr>
          <p:cNvSpPr/>
          <p:nvPr/>
        </p:nvSpPr>
        <p:spPr>
          <a:xfrm>
            <a:off x="1811921" y="1356565"/>
            <a:ext cx="125173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Arrays</a:t>
            </a:r>
          </a:p>
        </p:txBody>
      </p:sp>
      <p:sp>
        <p:nvSpPr>
          <p:cNvPr id="26" name="New shape">
            <a:extLst>
              <a:ext uri="{FF2B5EF4-FFF2-40B4-BE49-F238E27FC236}">
                <a16:creationId xmlns:a16="http://schemas.microsoft.com/office/drawing/2014/main" id="{37B410EF-08FB-8F31-DFFA-57CB3EE4E70A}"/>
              </a:ext>
            </a:extLst>
          </p:cNvPr>
          <p:cNvSpPr/>
          <p:nvPr/>
        </p:nvSpPr>
        <p:spPr>
          <a:xfrm>
            <a:off x="3323728" y="2454413"/>
            <a:ext cx="59678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Arrays</a:t>
            </a:r>
          </a:p>
        </p:txBody>
      </p:sp>
      <p:sp>
        <p:nvSpPr>
          <p:cNvPr id="27" name="New shape">
            <a:extLst>
              <a:ext uri="{FF2B5EF4-FFF2-40B4-BE49-F238E27FC236}">
                <a16:creationId xmlns:a16="http://schemas.microsoft.com/office/drawing/2014/main" id="{05956E3C-5637-CF59-F7D0-D91E12492B0A}"/>
              </a:ext>
            </a:extLst>
          </p:cNvPr>
          <p:cNvSpPr/>
          <p:nvPr/>
        </p:nvSpPr>
        <p:spPr>
          <a:xfrm>
            <a:off x="6280288" y="2454413"/>
            <a:ext cx="160185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Post Office Boxes</a:t>
            </a:r>
          </a:p>
        </p:txBody>
      </p:sp>
      <p:sp>
        <p:nvSpPr>
          <p:cNvPr id="28" name="New shape">
            <a:extLst>
              <a:ext uri="{FF2B5EF4-FFF2-40B4-BE49-F238E27FC236}">
                <a16:creationId xmlns:a16="http://schemas.microsoft.com/office/drawing/2014/main" id="{366DD781-F25C-6E18-BE3F-F730DA218215}"/>
              </a:ext>
            </a:extLst>
          </p:cNvPr>
          <p:cNvSpPr/>
          <p:nvPr/>
        </p:nvSpPr>
        <p:spPr>
          <a:xfrm>
            <a:off x="1962797" y="2792742"/>
            <a:ext cx="245537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An</a:t>
            </a:r>
          </a:p>
        </p:txBody>
      </p:sp>
      <p:sp>
        <p:nvSpPr>
          <p:cNvPr id="29" name="New shape">
            <a:extLst>
              <a:ext uri="{FF2B5EF4-FFF2-40B4-BE49-F238E27FC236}">
                <a16:creationId xmlns:a16="http://schemas.microsoft.com/office/drawing/2014/main" id="{67110BBB-C933-67BD-C472-2AA592EE3AC9}"/>
              </a:ext>
            </a:extLst>
          </p:cNvPr>
          <p:cNvSpPr/>
          <p:nvPr/>
        </p:nvSpPr>
        <p:spPr>
          <a:xfrm>
            <a:off x="2258453" y="2792742"/>
            <a:ext cx="48303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array</a:t>
            </a:r>
          </a:p>
        </p:txBody>
      </p:sp>
      <p:sp>
        <p:nvSpPr>
          <p:cNvPr id="30" name="New shape">
            <a:extLst>
              <a:ext uri="{FF2B5EF4-FFF2-40B4-BE49-F238E27FC236}">
                <a16:creationId xmlns:a16="http://schemas.microsoft.com/office/drawing/2014/main" id="{20323B01-E55E-BCCD-2DE7-683EDC2D5FB5}"/>
              </a:ext>
            </a:extLst>
          </p:cNvPr>
          <p:cNvSpPr/>
          <p:nvPr/>
        </p:nvSpPr>
        <p:spPr>
          <a:xfrm>
            <a:off x="2782708" y="2792742"/>
            <a:ext cx="210607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is a block of contiguous</a:t>
            </a:r>
          </a:p>
        </p:txBody>
      </p:sp>
      <p:sp>
        <p:nvSpPr>
          <p:cNvPr id="31" name="New shape">
            <a:extLst>
              <a:ext uri="{FF2B5EF4-FFF2-40B4-BE49-F238E27FC236}">
                <a16:creationId xmlns:a16="http://schemas.microsoft.com/office/drawing/2014/main" id="{E1C1F831-BA6C-C8A8-886E-E8A6CE4D5C50}"/>
              </a:ext>
            </a:extLst>
          </p:cNvPr>
          <p:cNvSpPr/>
          <p:nvPr/>
        </p:nvSpPr>
        <p:spPr>
          <a:xfrm>
            <a:off x="1962797" y="3017469"/>
            <a:ext cx="1811843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space in memory…</a:t>
            </a:r>
          </a:p>
        </p:txBody>
      </p:sp>
      <p:sp>
        <p:nvSpPr>
          <p:cNvPr id="32" name="New shape">
            <a:extLst>
              <a:ext uri="{FF2B5EF4-FFF2-40B4-BE49-F238E27FC236}">
                <a16:creationId xmlns:a16="http://schemas.microsoft.com/office/drawing/2014/main" id="{790DA0D3-6BE3-1DD8-BBD7-5DF1C4453E9A}"/>
              </a:ext>
            </a:extLst>
          </p:cNvPr>
          <p:cNvSpPr/>
          <p:nvPr/>
        </p:nvSpPr>
        <p:spPr>
          <a:xfrm>
            <a:off x="5420751" y="2792742"/>
            <a:ext cx="12874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</a:t>
            </a:r>
          </a:p>
        </p:txBody>
      </p:sp>
      <p:sp>
        <p:nvSpPr>
          <p:cNvPr id="33" name="New shape">
            <a:extLst>
              <a:ext uri="{FF2B5EF4-FFF2-40B4-BE49-F238E27FC236}">
                <a16:creationId xmlns:a16="http://schemas.microsoft.com/office/drawing/2014/main" id="{DD42CAB5-26BF-AE1E-B5BD-4999955F3295}"/>
              </a:ext>
            </a:extLst>
          </p:cNvPr>
          <p:cNvSpPr/>
          <p:nvPr/>
        </p:nvSpPr>
        <p:spPr>
          <a:xfrm>
            <a:off x="5600583" y="2792742"/>
            <a:ext cx="905660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mail bank</a:t>
            </a:r>
          </a:p>
        </p:txBody>
      </p:sp>
      <p:sp>
        <p:nvSpPr>
          <p:cNvPr id="34" name="New shape">
            <a:extLst>
              <a:ext uri="{FF2B5EF4-FFF2-40B4-BE49-F238E27FC236}">
                <a16:creationId xmlns:a16="http://schemas.microsoft.com/office/drawing/2014/main" id="{A73A2702-E517-4CF4-63B1-8CB86EDB0F3A}"/>
              </a:ext>
            </a:extLst>
          </p:cNvPr>
          <p:cNvSpPr/>
          <p:nvPr/>
        </p:nvSpPr>
        <p:spPr>
          <a:xfrm>
            <a:off x="6553082" y="2750770"/>
            <a:ext cx="2110386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Is a large space on the</a:t>
            </a:r>
          </a:p>
        </p:txBody>
      </p:sp>
      <p:sp>
        <p:nvSpPr>
          <p:cNvPr id="35" name="New shape">
            <a:extLst>
              <a:ext uri="{FF2B5EF4-FFF2-40B4-BE49-F238E27FC236}">
                <a16:creationId xmlns:a16="http://schemas.microsoft.com/office/drawing/2014/main" id="{230E9BF3-264B-814C-EA4A-515401124985}"/>
              </a:ext>
            </a:extLst>
          </p:cNvPr>
          <p:cNvSpPr/>
          <p:nvPr/>
        </p:nvSpPr>
        <p:spPr>
          <a:xfrm>
            <a:off x="5420751" y="3017469"/>
            <a:ext cx="2259978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Wall of the post office…</a:t>
            </a:r>
          </a:p>
        </p:txBody>
      </p:sp>
      <p:sp>
        <p:nvSpPr>
          <p:cNvPr id="36" name="New shape">
            <a:extLst>
              <a:ext uri="{FF2B5EF4-FFF2-40B4-BE49-F238E27FC236}">
                <a16:creationId xmlns:a16="http://schemas.microsoft.com/office/drawing/2014/main" id="{06FA2FC3-4CDA-86D3-6546-E61C8F43B186}"/>
              </a:ext>
            </a:extLst>
          </p:cNvPr>
          <p:cNvSpPr/>
          <p:nvPr/>
        </p:nvSpPr>
        <p:spPr>
          <a:xfrm>
            <a:off x="1962796" y="3357321"/>
            <a:ext cx="3157788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…which has been partitioned into</a:t>
            </a:r>
          </a:p>
        </p:txBody>
      </p:sp>
      <p:sp>
        <p:nvSpPr>
          <p:cNvPr id="37" name="New shape">
            <a:extLst>
              <a:ext uri="{FF2B5EF4-FFF2-40B4-BE49-F238E27FC236}">
                <a16:creationId xmlns:a16="http://schemas.microsoft.com/office/drawing/2014/main" id="{128DFFB0-F22A-51BD-B49F-07C9CD6EE7A4}"/>
              </a:ext>
            </a:extLst>
          </p:cNvPr>
          <p:cNvSpPr/>
          <p:nvPr/>
        </p:nvSpPr>
        <p:spPr>
          <a:xfrm>
            <a:off x="1962796" y="3624021"/>
            <a:ext cx="2990627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small, identically-sized blocks of</a:t>
            </a:r>
          </a:p>
        </p:txBody>
      </p:sp>
      <p:sp>
        <p:nvSpPr>
          <p:cNvPr id="38" name="New shape">
            <a:extLst>
              <a:ext uri="{FF2B5EF4-FFF2-40B4-BE49-F238E27FC236}">
                <a16:creationId xmlns:a16="http://schemas.microsoft.com/office/drawing/2014/main" id="{6FE296B9-4AD1-770B-678A-4179FE42E908}"/>
              </a:ext>
            </a:extLst>
          </p:cNvPr>
          <p:cNvSpPr/>
          <p:nvPr/>
        </p:nvSpPr>
        <p:spPr>
          <a:xfrm>
            <a:off x="1962796" y="3932693"/>
            <a:ext cx="109491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space called</a:t>
            </a:r>
          </a:p>
        </p:txBody>
      </p:sp>
      <p:sp>
        <p:nvSpPr>
          <p:cNvPr id="39" name="New shape">
            <a:extLst>
              <a:ext uri="{FF2B5EF4-FFF2-40B4-BE49-F238E27FC236}">
                <a16:creationId xmlns:a16="http://schemas.microsoft.com/office/drawing/2014/main" id="{75E05D84-7658-892B-2BD7-1F142C3A7FEB}"/>
              </a:ext>
            </a:extLst>
          </p:cNvPr>
          <p:cNvSpPr/>
          <p:nvPr/>
        </p:nvSpPr>
        <p:spPr>
          <a:xfrm>
            <a:off x="3102748" y="3932693"/>
            <a:ext cx="85655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elements</a:t>
            </a:r>
          </a:p>
        </p:txBody>
      </p:sp>
      <p:sp>
        <p:nvSpPr>
          <p:cNvPr id="40" name="New shape">
            <a:extLst>
              <a:ext uri="{FF2B5EF4-FFF2-40B4-BE49-F238E27FC236}">
                <a16:creationId xmlns:a16="http://schemas.microsoft.com/office/drawing/2014/main" id="{C12094CC-154D-CB8E-1F89-6D61D1E1C77D}"/>
              </a:ext>
            </a:extLst>
          </p:cNvPr>
          <p:cNvSpPr/>
          <p:nvPr/>
        </p:nvSpPr>
        <p:spPr>
          <a:xfrm>
            <a:off x="3960760" y="3932693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41" name="New shape">
            <a:extLst>
              <a:ext uri="{FF2B5EF4-FFF2-40B4-BE49-F238E27FC236}">
                <a16:creationId xmlns:a16="http://schemas.microsoft.com/office/drawing/2014/main" id="{2447B590-450E-5445-0DF6-0DA21E4EC363}"/>
              </a:ext>
            </a:extLst>
          </p:cNvPr>
          <p:cNvSpPr/>
          <p:nvPr/>
        </p:nvSpPr>
        <p:spPr>
          <a:xfrm>
            <a:off x="5420751" y="3357321"/>
            <a:ext cx="3157788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…which has been partitioned into</a:t>
            </a:r>
          </a:p>
        </p:txBody>
      </p:sp>
      <p:sp>
        <p:nvSpPr>
          <p:cNvPr id="42" name="New shape">
            <a:extLst>
              <a:ext uri="{FF2B5EF4-FFF2-40B4-BE49-F238E27FC236}">
                <a16:creationId xmlns:a16="http://schemas.microsoft.com/office/drawing/2014/main" id="{C8E8574E-1C53-6464-3434-EB892F2051B3}"/>
              </a:ext>
            </a:extLst>
          </p:cNvPr>
          <p:cNvSpPr/>
          <p:nvPr/>
        </p:nvSpPr>
        <p:spPr>
          <a:xfrm>
            <a:off x="5420751" y="3624021"/>
            <a:ext cx="2990627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small, identically-sized blocks of</a:t>
            </a:r>
          </a:p>
        </p:txBody>
      </p:sp>
      <p:sp>
        <p:nvSpPr>
          <p:cNvPr id="43" name="New shape">
            <a:extLst>
              <a:ext uri="{FF2B5EF4-FFF2-40B4-BE49-F238E27FC236}">
                <a16:creationId xmlns:a16="http://schemas.microsoft.com/office/drawing/2014/main" id="{C05119B0-8B54-0C65-7025-E73E44C04D61}"/>
              </a:ext>
            </a:extLst>
          </p:cNvPr>
          <p:cNvSpPr/>
          <p:nvPr/>
        </p:nvSpPr>
        <p:spPr>
          <a:xfrm>
            <a:off x="5420751" y="3932693"/>
            <a:ext cx="109491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space called</a:t>
            </a:r>
          </a:p>
        </p:txBody>
      </p:sp>
      <p:sp>
        <p:nvSpPr>
          <p:cNvPr id="44" name="New shape">
            <a:extLst>
              <a:ext uri="{FF2B5EF4-FFF2-40B4-BE49-F238E27FC236}">
                <a16:creationId xmlns:a16="http://schemas.microsoft.com/office/drawing/2014/main" id="{EB3697B6-27A1-FD47-B682-81C7EA5138FF}"/>
              </a:ext>
            </a:extLst>
          </p:cNvPr>
          <p:cNvSpPr/>
          <p:nvPr/>
        </p:nvSpPr>
        <p:spPr>
          <a:xfrm>
            <a:off x="6560702" y="3932693"/>
            <a:ext cx="1566871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post office boxes</a:t>
            </a:r>
          </a:p>
        </p:txBody>
      </p:sp>
      <p:sp>
        <p:nvSpPr>
          <p:cNvPr id="45" name="New shape">
            <a:extLst>
              <a:ext uri="{FF2B5EF4-FFF2-40B4-BE49-F238E27FC236}">
                <a16:creationId xmlns:a16="http://schemas.microsoft.com/office/drawing/2014/main" id="{9A3FAE7D-17B8-C6BF-E61A-1006904218EA}"/>
              </a:ext>
            </a:extLst>
          </p:cNvPr>
          <p:cNvSpPr/>
          <p:nvPr/>
        </p:nvSpPr>
        <p:spPr>
          <a:xfrm>
            <a:off x="8116706" y="3932693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550276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5BC1A-CC61-5FB0-E3E9-38517125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>
            <a:extLst>
              <a:ext uri="{FF2B5EF4-FFF2-40B4-BE49-F238E27FC236}">
                <a16:creationId xmlns:a16="http://schemas.microsoft.com/office/drawing/2014/main" id="{755791A0-A7A3-06D0-2024-E6C8E28E3EFB}"/>
              </a:ext>
            </a:extLst>
          </p:cNvPr>
          <p:cNvSpPr/>
          <p:nvPr/>
        </p:nvSpPr>
        <p:spPr>
          <a:xfrm>
            <a:off x="1889638" y="2372868"/>
            <a:ext cx="3457956" cy="339852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>
            <a:extLst>
              <a:ext uri="{FF2B5EF4-FFF2-40B4-BE49-F238E27FC236}">
                <a16:creationId xmlns:a16="http://schemas.microsoft.com/office/drawing/2014/main" id="{0DAFD940-055B-2047-9320-E69A1B51C027}"/>
              </a:ext>
            </a:extLst>
          </p:cNvPr>
          <p:cNvSpPr/>
          <p:nvPr/>
        </p:nvSpPr>
        <p:spPr>
          <a:xfrm>
            <a:off x="5347594" y="2372868"/>
            <a:ext cx="3457956" cy="339852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>
            <a:extLst>
              <a:ext uri="{FF2B5EF4-FFF2-40B4-BE49-F238E27FC236}">
                <a16:creationId xmlns:a16="http://schemas.microsoft.com/office/drawing/2014/main" id="{6A7E3784-4782-D841-00C6-2AC41A40A1E6}"/>
              </a:ext>
            </a:extLst>
          </p:cNvPr>
          <p:cNvSpPr/>
          <p:nvPr/>
        </p:nvSpPr>
        <p:spPr>
          <a:xfrm>
            <a:off x="1889638" y="2712720"/>
            <a:ext cx="3457956" cy="6065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>
            <a:extLst>
              <a:ext uri="{FF2B5EF4-FFF2-40B4-BE49-F238E27FC236}">
                <a16:creationId xmlns:a16="http://schemas.microsoft.com/office/drawing/2014/main" id="{9D26A319-9C9B-065A-C7BA-FADC4E741C8B}"/>
              </a:ext>
            </a:extLst>
          </p:cNvPr>
          <p:cNvSpPr/>
          <p:nvPr/>
        </p:nvSpPr>
        <p:spPr>
          <a:xfrm>
            <a:off x="5347594" y="2712720"/>
            <a:ext cx="3457956" cy="6065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>
            <a:extLst>
              <a:ext uri="{FF2B5EF4-FFF2-40B4-BE49-F238E27FC236}">
                <a16:creationId xmlns:a16="http://schemas.microsoft.com/office/drawing/2014/main" id="{18A21303-DD1D-2EEC-C1DC-C234D49BA747}"/>
              </a:ext>
            </a:extLst>
          </p:cNvPr>
          <p:cNvSpPr/>
          <p:nvPr/>
        </p:nvSpPr>
        <p:spPr>
          <a:xfrm>
            <a:off x="1889638" y="3319272"/>
            <a:ext cx="3457956" cy="8732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>
            <a:extLst>
              <a:ext uri="{FF2B5EF4-FFF2-40B4-BE49-F238E27FC236}">
                <a16:creationId xmlns:a16="http://schemas.microsoft.com/office/drawing/2014/main" id="{AA4E805E-2836-109B-D8C5-134136989C7C}"/>
              </a:ext>
            </a:extLst>
          </p:cNvPr>
          <p:cNvSpPr/>
          <p:nvPr/>
        </p:nvSpPr>
        <p:spPr>
          <a:xfrm>
            <a:off x="5347594" y="3319272"/>
            <a:ext cx="3457956" cy="8732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>
            <a:extLst>
              <a:ext uri="{FF2B5EF4-FFF2-40B4-BE49-F238E27FC236}">
                <a16:creationId xmlns:a16="http://schemas.microsoft.com/office/drawing/2014/main" id="{0C62C753-F1F9-3A8C-CA7F-960575079F68}"/>
              </a:ext>
            </a:extLst>
          </p:cNvPr>
          <p:cNvSpPr/>
          <p:nvPr/>
        </p:nvSpPr>
        <p:spPr>
          <a:xfrm>
            <a:off x="1889638" y="4192524"/>
            <a:ext cx="3457956" cy="605028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>
            <a:extLst>
              <a:ext uri="{FF2B5EF4-FFF2-40B4-BE49-F238E27FC236}">
                <a16:creationId xmlns:a16="http://schemas.microsoft.com/office/drawing/2014/main" id="{BF1A9DA3-00BC-C23B-5B20-B8AAAD62FB8A}"/>
              </a:ext>
            </a:extLst>
          </p:cNvPr>
          <p:cNvSpPr/>
          <p:nvPr/>
        </p:nvSpPr>
        <p:spPr>
          <a:xfrm>
            <a:off x="5347594" y="4192524"/>
            <a:ext cx="3457956" cy="605028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>
            <a:extLst>
              <a:ext uri="{FF2B5EF4-FFF2-40B4-BE49-F238E27FC236}">
                <a16:creationId xmlns:a16="http://schemas.microsoft.com/office/drawing/2014/main" id="{65E49532-A656-6A06-1284-0197A7ECCE60}"/>
              </a:ext>
            </a:extLst>
          </p:cNvPr>
          <p:cNvSpPr/>
          <p:nvPr/>
        </p:nvSpPr>
        <p:spPr>
          <a:xfrm>
            <a:off x="5347594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>
            <a:extLst>
              <a:ext uri="{FF2B5EF4-FFF2-40B4-BE49-F238E27FC236}">
                <a16:creationId xmlns:a16="http://schemas.microsoft.com/office/drawing/2014/main" id="{7A5CDE13-6078-403F-E927-DDB30FF84CFC}"/>
              </a:ext>
            </a:extLst>
          </p:cNvPr>
          <p:cNvSpPr/>
          <p:nvPr/>
        </p:nvSpPr>
        <p:spPr>
          <a:xfrm>
            <a:off x="1885066" y="2712720"/>
            <a:ext cx="6926580" cy="0"/>
          </a:xfrm>
          <a:prstGeom prst="line">
            <a:avLst/>
          </a:prstGeom>
          <a:ln w="3031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>
            <a:extLst>
              <a:ext uri="{FF2B5EF4-FFF2-40B4-BE49-F238E27FC236}">
                <a16:creationId xmlns:a16="http://schemas.microsoft.com/office/drawing/2014/main" id="{073CDED2-09DB-933E-F7A2-A5359783315F}"/>
              </a:ext>
            </a:extLst>
          </p:cNvPr>
          <p:cNvSpPr/>
          <p:nvPr/>
        </p:nvSpPr>
        <p:spPr>
          <a:xfrm>
            <a:off x="1885066" y="3319272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>
            <a:extLst>
              <a:ext uri="{FF2B5EF4-FFF2-40B4-BE49-F238E27FC236}">
                <a16:creationId xmlns:a16="http://schemas.microsoft.com/office/drawing/2014/main" id="{FC107519-193E-A751-0FC4-B8B161173EA0}"/>
              </a:ext>
            </a:extLst>
          </p:cNvPr>
          <p:cNvSpPr/>
          <p:nvPr/>
        </p:nvSpPr>
        <p:spPr>
          <a:xfrm>
            <a:off x="1885066" y="4192524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>
            <a:extLst>
              <a:ext uri="{FF2B5EF4-FFF2-40B4-BE49-F238E27FC236}">
                <a16:creationId xmlns:a16="http://schemas.microsoft.com/office/drawing/2014/main" id="{28C2FEC8-A32E-66DE-F239-0789B15F7C1B}"/>
              </a:ext>
            </a:extLst>
          </p:cNvPr>
          <p:cNvSpPr/>
          <p:nvPr/>
        </p:nvSpPr>
        <p:spPr>
          <a:xfrm>
            <a:off x="1889638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>
            <a:extLst>
              <a:ext uri="{FF2B5EF4-FFF2-40B4-BE49-F238E27FC236}">
                <a16:creationId xmlns:a16="http://schemas.microsoft.com/office/drawing/2014/main" id="{7AE35D16-82E8-AC6B-1188-669C2829ECEB}"/>
              </a:ext>
            </a:extLst>
          </p:cNvPr>
          <p:cNvSpPr/>
          <p:nvPr/>
        </p:nvSpPr>
        <p:spPr>
          <a:xfrm>
            <a:off x="8805550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>
            <a:extLst>
              <a:ext uri="{FF2B5EF4-FFF2-40B4-BE49-F238E27FC236}">
                <a16:creationId xmlns:a16="http://schemas.microsoft.com/office/drawing/2014/main" id="{44DA2258-F4E6-6CB1-A6EF-38B8F86949BF}"/>
              </a:ext>
            </a:extLst>
          </p:cNvPr>
          <p:cNvSpPr/>
          <p:nvPr/>
        </p:nvSpPr>
        <p:spPr>
          <a:xfrm>
            <a:off x="1885066" y="237286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>
            <a:extLst>
              <a:ext uri="{FF2B5EF4-FFF2-40B4-BE49-F238E27FC236}">
                <a16:creationId xmlns:a16="http://schemas.microsoft.com/office/drawing/2014/main" id="{29655375-41D7-10E5-B36E-D90E114A51A5}"/>
              </a:ext>
            </a:extLst>
          </p:cNvPr>
          <p:cNvSpPr/>
          <p:nvPr/>
        </p:nvSpPr>
        <p:spPr>
          <a:xfrm>
            <a:off x="1811921" y="1356565"/>
            <a:ext cx="125173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Arrays</a:t>
            </a:r>
          </a:p>
        </p:txBody>
      </p:sp>
      <p:sp>
        <p:nvSpPr>
          <p:cNvPr id="26" name="New shape">
            <a:extLst>
              <a:ext uri="{FF2B5EF4-FFF2-40B4-BE49-F238E27FC236}">
                <a16:creationId xmlns:a16="http://schemas.microsoft.com/office/drawing/2014/main" id="{ACA5877E-1C0F-06FD-B270-E4E3CD12041B}"/>
              </a:ext>
            </a:extLst>
          </p:cNvPr>
          <p:cNvSpPr/>
          <p:nvPr/>
        </p:nvSpPr>
        <p:spPr>
          <a:xfrm>
            <a:off x="3323728" y="2454413"/>
            <a:ext cx="59678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Arrays</a:t>
            </a:r>
          </a:p>
        </p:txBody>
      </p:sp>
      <p:sp>
        <p:nvSpPr>
          <p:cNvPr id="27" name="New shape">
            <a:extLst>
              <a:ext uri="{FF2B5EF4-FFF2-40B4-BE49-F238E27FC236}">
                <a16:creationId xmlns:a16="http://schemas.microsoft.com/office/drawing/2014/main" id="{9042F02E-7DCB-69D6-0786-746EFF9B247C}"/>
              </a:ext>
            </a:extLst>
          </p:cNvPr>
          <p:cNvSpPr/>
          <p:nvPr/>
        </p:nvSpPr>
        <p:spPr>
          <a:xfrm>
            <a:off x="6280288" y="2454413"/>
            <a:ext cx="160185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Post Office Boxes</a:t>
            </a:r>
          </a:p>
        </p:txBody>
      </p:sp>
      <p:sp>
        <p:nvSpPr>
          <p:cNvPr id="28" name="New shape">
            <a:extLst>
              <a:ext uri="{FF2B5EF4-FFF2-40B4-BE49-F238E27FC236}">
                <a16:creationId xmlns:a16="http://schemas.microsoft.com/office/drawing/2014/main" id="{44DC94A8-8AE4-03B7-8A12-AD1A6D6C96EB}"/>
              </a:ext>
            </a:extLst>
          </p:cNvPr>
          <p:cNvSpPr/>
          <p:nvPr/>
        </p:nvSpPr>
        <p:spPr>
          <a:xfrm>
            <a:off x="1962797" y="2792742"/>
            <a:ext cx="245537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An</a:t>
            </a:r>
          </a:p>
        </p:txBody>
      </p:sp>
      <p:sp>
        <p:nvSpPr>
          <p:cNvPr id="29" name="New shape">
            <a:extLst>
              <a:ext uri="{FF2B5EF4-FFF2-40B4-BE49-F238E27FC236}">
                <a16:creationId xmlns:a16="http://schemas.microsoft.com/office/drawing/2014/main" id="{1C773C4D-6BF4-6F5A-7B8E-709B781E07DF}"/>
              </a:ext>
            </a:extLst>
          </p:cNvPr>
          <p:cNvSpPr/>
          <p:nvPr/>
        </p:nvSpPr>
        <p:spPr>
          <a:xfrm>
            <a:off x="2258453" y="2792742"/>
            <a:ext cx="48303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array</a:t>
            </a:r>
          </a:p>
        </p:txBody>
      </p:sp>
      <p:sp>
        <p:nvSpPr>
          <p:cNvPr id="30" name="New shape">
            <a:extLst>
              <a:ext uri="{FF2B5EF4-FFF2-40B4-BE49-F238E27FC236}">
                <a16:creationId xmlns:a16="http://schemas.microsoft.com/office/drawing/2014/main" id="{BA07BB04-E832-0F65-B2BB-E0802E380C26}"/>
              </a:ext>
            </a:extLst>
          </p:cNvPr>
          <p:cNvSpPr/>
          <p:nvPr/>
        </p:nvSpPr>
        <p:spPr>
          <a:xfrm>
            <a:off x="2782708" y="2792742"/>
            <a:ext cx="210607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is a block of contiguous</a:t>
            </a:r>
          </a:p>
        </p:txBody>
      </p:sp>
      <p:sp>
        <p:nvSpPr>
          <p:cNvPr id="31" name="New shape">
            <a:extLst>
              <a:ext uri="{FF2B5EF4-FFF2-40B4-BE49-F238E27FC236}">
                <a16:creationId xmlns:a16="http://schemas.microsoft.com/office/drawing/2014/main" id="{ACE556B8-6293-D979-0D4F-4D89F9063DD7}"/>
              </a:ext>
            </a:extLst>
          </p:cNvPr>
          <p:cNvSpPr/>
          <p:nvPr/>
        </p:nvSpPr>
        <p:spPr>
          <a:xfrm>
            <a:off x="1962797" y="3017469"/>
            <a:ext cx="1811843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space in memory…</a:t>
            </a:r>
          </a:p>
        </p:txBody>
      </p:sp>
      <p:sp>
        <p:nvSpPr>
          <p:cNvPr id="32" name="New shape">
            <a:extLst>
              <a:ext uri="{FF2B5EF4-FFF2-40B4-BE49-F238E27FC236}">
                <a16:creationId xmlns:a16="http://schemas.microsoft.com/office/drawing/2014/main" id="{9EA2CE46-723A-A543-A3DA-CDF24AA42A7B}"/>
              </a:ext>
            </a:extLst>
          </p:cNvPr>
          <p:cNvSpPr/>
          <p:nvPr/>
        </p:nvSpPr>
        <p:spPr>
          <a:xfrm>
            <a:off x="5420751" y="2792742"/>
            <a:ext cx="12874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</a:t>
            </a:r>
          </a:p>
        </p:txBody>
      </p:sp>
      <p:sp>
        <p:nvSpPr>
          <p:cNvPr id="33" name="New shape">
            <a:extLst>
              <a:ext uri="{FF2B5EF4-FFF2-40B4-BE49-F238E27FC236}">
                <a16:creationId xmlns:a16="http://schemas.microsoft.com/office/drawing/2014/main" id="{8D3E63EC-D49E-BB44-1721-EC26FCC305DA}"/>
              </a:ext>
            </a:extLst>
          </p:cNvPr>
          <p:cNvSpPr/>
          <p:nvPr/>
        </p:nvSpPr>
        <p:spPr>
          <a:xfrm>
            <a:off x="5600583" y="2792742"/>
            <a:ext cx="905660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mail bank</a:t>
            </a:r>
          </a:p>
        </p:txBody>
      </p:sp>
      <p:sp>
        <p:nvSpPr>
          <p:cNvPr id="34" name="New shape">
            <a:extLst>
              <a:ext uri="{FF2B5EF4-FFF2-40B4-BE49-F238E27FC236}">
                <a16:creationId xmlns:a16="http://schemas.microsoft.com/office/drawing/2014/main" id="{281594F1-05E0-48C1-1C2F-0F1FCA1F63F6}"/>
              </a:ext>
            </a:extLst>
          </p:cNvPr>
          <p:cNvSpPr/>
          <p:nvPr/>
        </p:nvSpPr>
        <p:spPr>
          <a:xfrm>
            <a:off x="6553082" y="2750770"/>
            <a:ext cx="2110386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Is a large space on the</a:t>
            </a:r>
          </a:p>
        </p:txBody>
      </p:sp>
      <p:sp>
        <p:nvSpPr>
          <p:cNvPr id="35" name="New shape">
            <a:extLst>
              <a:ext uri="{FF2B5EF4-FFF2-40B4-BE49-F238E27FC236}">
                <a16:creationId xmlns:a16="http://schemas.microsoft.com/office/drawing/2014/main" id="{5BF85D34-0D96-EC71-6028-6A481453D435}"/>
              </a:ext>
            </a:extLst>
          </p:cNvPr>
          <p:cNvSpPr/>
          <p:nvPr/>
        </p:nvSpPr>
        <p:spPr>
          <a:xfrm>
            <a:off x="5420751" y="3017469"/>
            <a:ext cx="2259978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Wall of the post office…</a:t>
            </a:r>
          </a:p>
        </p:txBody>
      </p:sp>
      <p:sp>
        <p:nvSpPr>
          <p:cNvPr id="36" name="New shape">
            <a:extLst>
              <a:ext uri="{FF2B5EF4-FFF2-40B4-BE49-F238E27FC236}">
                <a16:creationId xmlns:a16="http://schemas.microsoft.com/office/drawing/2014/main" id="{75AB1DCB-2D49-187D-2885-7CD9741DA912}"/>
              </a:ext>
            </a:extLst>
          </p:cNvPr>
          <p:cNvSpPr/>
          <p:nvPr/>
        </p:nvSpPr>
        <p:spPr>
          <a:xfrm>
            <a:off x="1962796" y="3357321"/>
            <a:ext cx="3157788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…which has been partitioned into</a:t>
            </a:r>
          </a:p>
        </p:txBody>
      </p:sp>
      <p:sp>
        <p:nvSpPr>
          <p:cNvPr id="37" name="New shape">
            <a:extLst>
              <a:ext uri="{FF2B5EF4-FFF2-40B4-BE49-F238E27FC236}">
                <a16:creationId xmlns:a16="http://schemas.microsoft.com/office/drawing/2014/main" id="{C645996D-ADD8-99BD-88EC-9F83BD047AB1}"/>
              </a:ext>
            </a:extLst>
          </p:cNvPr>
          <p:cNvSpPr/>
          <p:nvPr/>
        </p:nvSpPr>
        <p:spPr>
          <a:xfrm>
            <a:off x="1962796" y="3624021"/>
            <a:ext cx="2990627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small, identically-sized blocks of</a:t>
            </a:r>
          </a:p>
        </p:txBody>
      </p:sp>
      <p:sp>
        <p:nvSpPr>
          <p:cNvPr id="38" name="New shape">
            <a:extLst>
              <a:ext uri="{FF2B5EF4-FFF2-40B4-BE49-F238E27FC236}">
                <a16:creationId xmlns:a16="http://schemas.microsoft.com/office/drawing/2014/main" id="{31EF2CA1-E9FC-9622-94E1-7782E840A7C7}"/>
              </a:ext>
            </a:extLst>
          </p:cNvPr>
          <p:cNvSpPr/>
          <p:nvPr/>
        </p:nvSpPr>
        <p:spPr>
          <a:xfrm>
            <a:off x="1962796" y="3932693"/>
            <a:ext cx="109491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space called</a:t>
            </a:r>
          </a:p>
        </p:txBody>
      </p:sp>
      <p:sp>
        <p:nvSpPr>
          <p:cNvPr id="39" name="New shape">
            <a:extLst>
              <a:ext uri="{FF2B5EF4-FFF2-40B4-BE49-F238E27FC236}">
                <a16:creationId xmlns:a16="http://schemas.microsoft.com/office/drawing/2014/main" id="{ED0421F2-482C-B91A-78F2-98D13AFA9D84}"/>
              </a:ext>
            </a:extLst>
          </p:cNvPr>
          <p:cNvSpPr/>
          <p:nvPr/>
        </p:nvSpPr>
        <p:spPr>
          <a:xfrm>
            <a:off x="3102748" y="3932693"/>
            <a:ext cx="85655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elements</a:t>
            </a:r>
          </a:p>
        </p:txBody>
      </p:sp>
      <p:sp>
        <p:nvSpPr>
          <p:cNvPr id="40" name="New shape">
            <a:extLst>
              <a:ext uri="{FF2B5EF4-FFF2-40B4-BE49-F238E27FC236}">
                <a16:creationId xmlns:a16="http://schemas.microsoft.com/office/drawing/2014/main" id="{30561F47-74C7-FE02-1B06-B4BD1DCD6AD4}"/>
              </a:ext>
            </a:extLst>
          </p:cNvPr>
          <p:cNvSpPr/>
          <p:nvPr/>
        </p:nvSpPr>
        <p:spPr>
          <a:xfrm>
            <a:off x="3960760" y="3932693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41" name="New shape">
            <a:extLst>
              <a:ext uri="{FF2B5EF4-FFF2-40B4-BE49-F238E27FC236}">
                <a16:creationId xmlns:a16="http://schemas.microsoft.com/office/drawing/2014/main" id="{2ADCE787-4D9B-6B64-07BA-3D47E21A95F3}"/>
              </a:ext>
            </a:extLst>
          </p:cNvPr>
          <p:cNvSpPr/>
          <p:nvPr/>
        </p:nvSpPr>
        <p:spPr>
          <a:xfrm>
            <a:off x="5420751" y="3357321"/>
            <a:ext cx="3157788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…which has been partitioned into</a:t>
            </a:r>
          </a:p>
        </p:txBody>
      </p:sp>
      <p:sp>
        <p:nvSpPr>
          <p:cNvPr id="42" name="New shape">
            <a:extLst>
              <a:ext uri="{FF2B5EF4-FFF2-40B4-BE49-F238E27FC236}">
                <a16:creationId xmlns:a16="http://schemas.microsoft.com/office/drawing/2014/main" id="{AB2B959F-5E82-8A9B-F467-BC6BF7A0A551}"/>
              </a:ext>
            </a:extLst>
          </p:cNvPr>
          <p:cNvSpPr/>
          <p:nvPr/>
        </p:nvSpPr>
        <p:spPr>
          <a:xfrm>
            <a:off x="5420751" y="3624021"/>
            <a:ext cx="2990627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small, identically-sized blocks of</a:t>
            </a:r>
          </a:p>
        </p:txBody>
      </p:sp>
      <p:sp>
        <p:nvSpPr>
          <p:cNvPr id="43" name="New shape">
            <a:extLst>
              <a:ext uri="{FF2B5EF4-FFF2-40B4-BE49-F238E27FC236}">
                <a16:creationId xmlns:a16="http://schemas.microsoft.com/office/drawing/2014/main" id="{8C88AD54-1CD8-EC85-7069-94DE8987340A}"/>
              </a:ext>
            </a:extLst>
          </p:cNvPr>
          <p:cNvSpPr/>
          <p:nvPr/>
        </p:nvSpPr>
        <p:spPr>
          <a:xfrm>
            <a:off x="5420751" y="3932693"/>
            <a:ext cx="109491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space called</a:t>
            </a:r>
          </a:p>
        </p:txBody>
      </p:sp>
      <p:sp>
        <p:nvSpPr>
          <p:cNvPr id="44" name="New shape">
            <a:extLst>
              <a:ext uri="{FF2B5EF4-FFF2-40B4-BE49-F238E27FC236}">
                <a16:creationId xmlns:a16="http://schemas.microsoft.com/office/drawing/2014/main" id="{C0AD5B74-9C24-51E5-90CB-29BF81A8E79C}"/>
              </a:ext>
            </a:extLst>
          </p:cNvPr>
          <p:cNvSpPr/>
          <p:nvPr/>
        </p:nvSpPr>
        <p:spPr>
          <a:xfrm>
            <a:off x="6560702" y="3932693"/>
            <a:ext cx="1566871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post office boxes</a:t>
            </a:r>
          </a:p>
        </p:txBody>
      </p:sp>
      <p:sp>
        <p:nvSpPr>
          <p:cNvPr id="45" name="New shape">
            <a:extLst>
              <a:ext uri="{FF2B5EF4-FFF2-40B4-BE49-F238E27FC236}">
                <a16:creationId xmlns:a16="http://schemas.microsoft.com/office/drawing/2014/main" id="{ADDE11D9-7DC7-7A4E-8D3D-4889BD5720CB}"/>
              </a:ext>
            </a:extLst>
          </p:cNvPr>
          <p:cNvSpPr/>
          <p:nvPr/>
        </p:nvSpPr>
        <p:spPr>
          <a:xfrm>
            <a:off x="8116706" y="3932693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46" name="New shape">
            <a:extLst>
              <a:ext uri="{FF2B5EF4-FFF2-40B4-BE49-F238E27FC236}">
                <a16:creationId xmlns:a16="http://schemas.microsoft.com/office/drawing/2014/main" id="{82ECB079-61A5-F53F-E034-A567FA3EE4B7}"/>
              </a:ext>
            </a:extLst>
          </p:cNvPr>
          <p:cNvSpPr/>
          <p:nvPr/>
        </p:nvSpPr>
        <p:spPr>
          <a:xfrm>
            <a:off x="1962796" y="4230573"/>
            <a:ext cx="3246017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…each of which can store a certain</a:t>
            </a:r>
          </a:p>
        </p:txBody>
      </p:sp>
      <p:sp>
        <p:nvSpPr>
          <p:cNvPr id="47" name="New shape">
            <a:extLst>
              <a:ext uri="{FF2B5EF4-FFF2-40B4-BE49-F238E27FC236}">
                <a16:creationId xmlns:a16="http://schemas.microsoft.com/office/drawing/2014/main" id="{258D877F-103E-D713-713E-E05DD5543320}"/>
              </a:ext>
            </a:extLst>
          </p:cNvPr>
          <p:cNvSpPr/>
          <p:nvPr/>
        </p:nvSpPr>
        <p:spPr>
          <a:xfrm>
            <a:off x="1962796" y="4539245"/>
            <a:ext cx="944772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amount of</a:t>
            </a:r>
          </a:p>
        </p:txBody>
      </p:sp>
      <p:sp>
        <p:nvSpPr>
          <p:cNvPr id="48" name="New shape">
            <a:extLst>
              <a:ext uri="{FF2B5EF4-FFF2-40B4-BE49-F238E27FC236}">
                <a16:creationId xmlns:a16="http://schemas.microsoft.com/office/drawing/2014/main" id="{C6936B50-D560-9931-EDC4-225BFB638C29}"/>
              </a:ext>
            </a:extLst>
          </p:cNvPr>
          <p:cNvSpPr/>
          <p:nvPr/>
        </p:nvSpPr>
        <p:spPr>
          <a:xfrm>
            <a:off x="2954920" y="4539245"/>
            <a:ext cx="416217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data</a:t>
            </a:r>
          </a:p>
        </p:txBody>
      </p:sp>
      <p:sp>
        <p:nvSpPr>
          <p:cNvPr id="49" name="New shape">
            <a:extLst>
              <a:ext uri="{FF2B5EF4-FFF2-40B4-BE49-F238E27FC236}">
                <a16:creationId xmlns:a16="http://schemas.microsoft.com/office/drawing/2014/main" id="{21FF2751-2F67-AC79-B62F-B6374932B085}"/>
              </a:ext>
            </a:extLst>
          </p:cNvPr>
          <p:cNvSpPr/>
          <p:nvPr/>
        </p:nvSpPr>
        <p:spPr>
          <a:xfrm>
            <a:off x="3367923" y="4539245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50" name="New shape">
            <a:extLst>
              <a:ext uri="{FF2B5EF4-FFF2-40B4-BE49-F238E27FC236}">
                <a16:creationId xmlns:a16="http://schemas.microsoft.com/office/drawing/2014/main" id="{EA413BB5-2B75-BF10-CED2-BC5DC09DDA3B}"/>
              </a:ext>
            </a:extLst>
          </p:cNvPr>
          <p:cNvSpPr/>
          <p:nvPr/>
        </p:nvSpPr>
        <p:spPr>
          <a:xfrm>
            <a:off x="5420751" y="4230573"/>
            <a:ext cx="3187924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…each of which can hold a certain</a:t>
            </a:r>
          </a:p>
        </p:txBody>
      </p:sp>
      <p:sp>
        <p:nvSpPr>
          <p:cNvPr id="51" name="New shape">
            <a:extLst>
              <a:ext uri="{FF2B5EF4-FFF2-40B4-BE49-F238E27FC236}">
                <a16:creationId xmlns:a16="http://schemas.microsoft.com/office/drawing/2014/main" id="{AACDCB30-5AD2-6F33-42C2-63564CA7A8C4}"/>
              </a:ext>
            </a:extLst>
          </p:cNvPr>
          <p:cNvSpPr/>
          <p:nvPr/>
        </p:nvSpPr>
        <p:spPr>
          <a:xfrm>
            <a:off x="5420751" y="4539245"/>
            <a:ext cx="944772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amount of</a:t>
            </a:r>
          </a:p>
        </p:txBody>
      </p:sp>
      <p:sp>
        <p:nvSpPr>
          <p:cNvPr id="52" name="New shape">
            <a:extLst>
              <a:ext uri="{FF2B5EF4-FFF2-40B4-BE49-F238E27FC236}">
                <a16:creationId xmlns:a16="http://schemas.microsoft.com/office/drawing/2014/main" id="{A0BD00D8-031A-4C99-E977-BC2C46F8C88B}"/>
              </a:ext>
            </a:extLst>
          </p:cNvPr>
          <p:cNvSpPr/>
          <p:nvPr/>
        </p:nvSpPr>
        <p:spPr>
          <a:xfrm>
            <a:off x="6412874" y="4539245"/>
            <a:ext cx="40002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mail</a:t>
            </a:r>
          </a:p>
        </p:txBody>
      </p:sp>
      <p:sp>
        <p:nvSpPr>
          <p:cNvPr id="53" name="New shape">
            <a:extLst>
              <a:ext uri="{FF2B5EF4-FFF2-40B4-BE49-F238E27FC236}">
                <a16:creationId xmlns:a16="http://schemas.microsoft.com/office/drawing/2014/main" id="{BA0EFF67-B6C9-0F2F-8391-8E898F6AA65A}"/>
              </a:ext>
            </a:extLst>
          </p:cNvPr>
          <p:cNvSpPr/>
          <p:nvPr/>
        </p:nvSpPr>
        <p:spPr>
          <a:xfrm>
            <a:off x="6813686" y="4539245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7220358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1E3F5-8D91-E821-4F4A-EE6E19D63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>
            <a:extLst>
              <a:ext uri="{FF2B5EF4-FFF2-40B4-BE49-F238E27FC236}">
                <a16:creationId xmlns:a16="http://schemas.microsoft.com/office/drawing/2014/main" id="{6EE8EBA5-7B65-957E-DBB8-031AE66BD49A}"/>
              </a:ext>
            </a:extLst>
          </p:cNvPr>
          <p:cNvSpPr/>
          <p:nvPr/>
        </p:nvSpPr>
        <p:spPr>
          <a:xfrm>
            <a:off x="1889638" y="2372868"/>
            <a:ext cx="3457956" cy="339852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>
            <a:extLst>
              <a:ext uri="{FF2B5EF4-FFF2-40B4-BE49-F238E27FC236}">
                <a16:creationId xmlns:a16="http://schemas.microsoft.com/office/drawing/2014/main" id="{32C35768-41BF-8C4F-3A1C-8238C42DA77D}"/>
              </a:ext>
            </a:extLst>
          </p:cNvPr>
          <p:cNvSpPr/>
          <p:nvPr/>
        </p:nvSpPr>
        <p:spPr>
          <a:xfrm>
            <a:off x="5347594" y="2372868"/>
            <a:ext cx="3457956" cy="339852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>
            <a:extLst>
              <a:ext uri="{FF2B5EF4-FFF2-40B4-BE49-F238E27FC236}">
                <a16:creationId xmlns:a16="http://schemas.microsoft.com/office/drawing/2014/main" id="{B71442A9-D85F-0D3E-CA2B-DDA79FDC5DEE}"/>
              </a:ext>
            </a:extLst>
          </p:cNvPr>
          <p:cNvSpPr/>
          <p:nvPr/>
        </p:nvSpPr>
        <p:spPr>
          <a:xfrm>
            <a:off x="1889638" y="2712720"/>
            <a:ext cx="3457956" cy="6065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>
            <a:extLst>
              <a:ext uri="{FF2B5EF4-FFF2-40B4-BE49-F238E27FC236}">
                <a16:creationId xmlns:a16="http://schemas.microsoft.com/office/drawing/2014/main" id="{297198A0-D997-963C-DAA5-E31DECE55106}"/>
              </a:ext>
            </a:extLst>
          </p:cNvPr>
          <p:cNvSpPr/>
          <p:nvPr/>
        </p:nvSpPr>
        <p:spPr>
          <a:xfrm>
            <a:off x="5347594" y="2712720"/>
            <a:ext cx="3457956" cy="6065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>
            <a:extLst>
              <a:ext uri="{FF2B5EF4-FFF2-40B4-BE49-F238E27FC236}">
                <a16:creationId xmlns:a16="http://schemas.microsoft.com/office/drawing/2014/main" id="{300B4196-E4BB-F84E-7E35-B7B44AF60992}"/>
              </a:ext>
            </a:extLst>
          </p:cNvPr>
          <p:cNvSpPr/>
          <p:nvPr/>
        </p:nvSpPr>
        <p:spPr>
          <a:xfrm>
            <a:off x="1889638" y="3319272"/>
            <a:ext cx="3457956" cy="8732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>
            <a:extLst>
              <a:ext uri="{FF2B5EF4-FFF2-40B4-BE49-F238E27FC236}">
                <a16:creationId xmlns:a16="http://schemas.microsoft.com/office/drawing/2014/main" id="{9ED78E78-2756-E44D-8650-4CB8D1F12320}"/>
              </a:ext>
            </a:extLst>
          </p:cNvPr>
          <p:cNvSpPr/>
          <p:nvPr/>
        </p:nvSpPr>
        <p:spPr>
          <a:xfrm>
            <a:off x="5347594" y="3319272"/>
            <a:ext cx="3457956" cy="8732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>
            <a:extLst>
              <a:ext uri="{FF2B5EF4-FFF2-40B4-BE49-F238E27FC236}">
                <a16:creationId xmlns:a16="http://schemas.microsoft.com/office/drawing/2014/main" id="{9AEFCB4B-5930-E628-13B2-07F17B6CEDA9}"/>
              </a:ext>
            </a:extLst>
          </p:cNvPr>
          <p:cNvSpPr/>
          <p:nvPr/>
        </p:nvSpPr>
        <p:spPr>
          <a:xfrm>
            <a:off x="1889638" y="4192524"/>
            <a:ext cx="3457956" cy="605028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>
            <a:extLst>
              <a:ext uri="{FF2B5EF4-FFF2-40B4-BE49-F238E27FC236}">
                <a16:creationId xmlns:a16="http://schemas.microsoft.com/office/drawing/2014/main" id="{BBB59DE0-3674-8E99-6110-74906BBE9B94}"/>
              </a:ext>
            </a:extLst>
          </p:cNvPr>
          <p:cNvSpPr/>
          <p:nvPr/>
        </p:nvSpPr>
        <p:spPr>
          <a:xfrm>
            <a:off x="5347594" y="4192524"/>
            <a:ext cx="3457956" cy="605028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>
            <a:extLst>
              <a:ext uri="{FF2B5EF4-FFF2-40B4-BE49-F238E27FC236}">
                <a16:creationId xmlns:a16="http://schemas.microsoft.com/office/drawing/2014/main" id="{E213E197-0CE2-3348-BB85-862E54A6E6B4}"/>
              </a:ext>
            </a:extLst>
          </p:cNvPr>
          <p:cNvSpPr/>
          <p:nvPr/>
        </p:nvSpPr>
        <p:spPr>
          <a:xfrm>
            <a:off x="1889638" y="4797552"/>
            <a:ext cx="3457956" cy="6065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>
            <a:extLst>
              <a:ext uri="{FF2B5EF4-FFF2-40B4-BE49-F238E27FC236}">
                <a16:creationId xmlns:a16="http://schemas.microsoft.com/office/drawing/2014/main" id="{3AD9A140-17A5-8525-7568-7F84329AEF86}"/>
              </a:ext>
            </a:extLst>
          </p:cNvPr>
          <p:cNvSpPr/>
          <p:nvPr/>
        </p:nvSpPr>
        <p:spPr>
          <a:xfrm>
            <a:off x="5347594" y="4797552"/>
            <a:ext cx="3457956" cy="6065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>
            <a:extLst>
              <a:ext uri="{FF2B5EF4-FFF2-40B4-BE49-F238E27FC236}">
                <a16:creationId xmlns:a16="http://schemas.microsoft.com/office/drawing/2014/main" id="{7DF5ADB0-07A0-44AB-B4B2-918437DB8FBF}"/>
              </a:ext>
            </a:extLst>
          </p:cNvPr>
          <p:cNvSpPr/>
          <p:nvPr/>
        </p:nvSpPr>
        <p:spPr>
          <a:xfrm>
            <a:off x="5347594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>
            <a:extLst>
              <a:ext uri="{FF2B5EF4-FFF2-40B4-BE49-F238E27FC236}">
                <a16:creationId xmlns:a16="http://schemas.microsoft.com/office/drawing/2014/main" id="{8F302F57-4762-5BD3-EBBB-2BFEA5883B28}"/>
              </a:ext>
            </a:extLst>
          </p:cNvPr>
          <p:cNvSpPr/>
          <p:nvPr/>
        </p:nvSpPr>
        <p:spPr>
          <a:xfrm>
            <a:off x="1885066" y="2712720"/>
            <a:ext cx="6926580" cy="0"/>
          </a:xfrm>
          <a:prstGeom prst="line">
            <a:avLst/>
          </a:prstGeom>
          <a:ln w="3031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>
            <a:extLst>
              <a:ext uri="{FF2B5EF4-FFF2-40B4-BE49-F238E27FC236}">
                <a16:creationId xmlns:a16="http://schemas.microsoft.com/office/drawing/2014/main" id="{214A9314-E7CC-D293-8782-65E17B265CAC}"/>
              </a:ext>
            </a:extLst>
          </p:cNvPr>
          <p:cNvSpPr/>
          <p:nvPr/>
        </p:nvSpPr>
        <p:spPr>
          <a:xfrm>
            <a:off x="1885066" y="3319272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>
            <a:extLst>
              <a:ext uri="{FF2B5EF4-FFF2-40B4-BE49-F238E27FC236}">
                <a16:creationId xmlns:a16="http://schemas.microsoft.com/office/drawing/2014/main" id="{9F48C0E6-F61F-0750-3427-86CFC7497428}"/>
              </a:ext>
            </a:extLst>
          </p:cNvPr>
          <p:cNvSpPr/>
          <p:nvPr/>
        </p:nvSpPr>
        <p:spPr>
          <a:xfrm>
            <a:off x="1885066" y="4192524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>
            <a:extLst>
              <a:ext uri="{FF2B5EF4-FFF2-40B4-BE49-F238E27FC236}">
                <a16:creationId xmlns:a16="http://schemas.microsoft.com/office/drawing/2014/main" id="{14D6C359-5618-AF8F-EBF7-797DA0CDAA52}"/>
              </a:ext>
            </a:extLst>
          </p:cNvPr>
          <p:cNvSpPr/>
          <p:nvPr/>
        </p:nvSpPr>
        <p:spPr>
          <a:xfrm>
            <a:off x="1885066" y="4797552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>
            <a:extLst>
              <a:ext uri="{FF2B5EF4-FFF2-40B4-BE49-F238E27FC236}">
                <a16:creationId xmlns:a16="http://schemas.microsoft.com/office/drawing/2014/main" id="{F43A5271-5DBC-662C-6855-E58A0B67079F}"/>
              </a:ext>
            </a:extLst>
          </p:cNvPr>
          <p:cNvSpPr/>
          <p:nvPr/>
        </p:nvSpPr>
        <p:spPr>
          <a:xfrm>
            <a:off x="1889638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>
            <a:extLst>
              <a:ext uri="{FF2B5EF4-FFF2-40B4-BE49-F238E27FC236}">
                <a16:creationId xmlns:a16="http://schemas.microsoft.com/office/drawing/2014/main" id="{93F5C454-5EF3-DB70-BC8D-2B53C04C5EC5}"/>
              </a:ext>
            </a:extLst>
          </p:cNvPr>
          <p:cNvSpPr/>
          <p:nvPr/>
        </p:nvSpPr>
        <p:spPr>
          <a:xfrm>
            <a:off x="8805550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>
            <a:extLst>
              <a:ext uri="{FF2B5EF4-FFF2-40B4-BE49-F238E27FC236}">
                <a16:creationId xmlns:a16="http://schemas.microsoft.com/office/drawing/2014/main" id="{B12FBC5C-3A37-A7C9-8FCE-5C5E0A9C56F3}"/>
              </a:ext>
            </a:extLst>
          </p:cNvPr>
          <p:cNvSpPr/>
          <p:nvPr/>
        </p:nvSpPr>
        <p:spPr>
          <a:xfrm>
            <a:off x="1885066" y="237286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>
            <a:extLst>
              <a:ext uri="{FF2B5EF4-FFF2-40B4-BE49-F238E27FC236}">
                <a16:creationId xmlns:a16="http://schemas.microsoft.com/office/drawing/2014/main" id="{0B8B112B-9698-FABC-BFC8-B9DFB6A8646F}"/>
              </a:ext>
            </a:extLst>
          </p:cNvPr>
          <p:cNvSpPr/>
          <p:nvPr/>
        </p:nvSpPr>
        <p:spPr>
          <a:xfrm>
            <a:off x="1811921" y="1356565"/>
            <a:ext cx="125173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Arrays</a:t>
            </a:r>
          </a:p>
        </p:txBody>
      </p:sp>
      <p:sp>
        <p:nvSpPr>
          <p:cNvPr id="26" name="New shape">
            <a:extLst>
              <a:ext uri="{FF2B5EF4-FFF2-40B4-BE49-F238E27FC236}">
                <a16:creationId xmlns:a16="http://schemas.microsoft.com/office/drawing/2014/main" id="{11AFFAAF-FF1E-7160-9DC7-1BAE2F5EE510}"/>
              </a:ext>
            </a:extLst>
          </p:cNvPr>
          <p:cNvSpPr/>
          <p:nvPr/>
        </p:nvSpPr>
        <p:spPr>
          <a:xfrm>
            <a:off x="3323728" y="2454413"/>
            <a:ext cx="59678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Arrays</a:t>
            </a:r>
          </a:p>
        </p:txBody>
      </p:sp>
      <p:sp>
        <p:nvSpPr>
          <p:cNvPr id="27" name="New shape">
            <a:extLst>
              <a:ext uri="{FF2B5EF4-FFF2-40B4-BE49-F238E27FC236}">
                <a16:creationId xmlns:a16="http://schemas.microsoft.com/office/drawing/2014/main" id="{909DB278-D139-D660-EF9A-B9CC3E2D4CEC}"/>
              </a:ext>
            </a:extLst>
          </p:cNvPr>
          <p:cNvSpPr/>
          <p:nvPr/>
        </p:nvSpPr>
        <p:spPr>
          <a:xfrm>
            <a:off x="6280288" y="2454413"/>
            <a:ext cx="160185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Post Office Boxes</a:t>
            </a:r>
          </a:p>
        </p:txBody>
      </p:sp>
      <p:sp>
        <p:nvSpPr>
          <p:cNvPr id="28" name="New shape">
            <a:extLst>
              <a:ext uri="{FF2B5EF4-FFF2-40B4-BE49-F238E27FC236}">
                <a16:creationId xmlns:a16="http://schemas.microsoft.com/office/drawing/2014/main" id="{C727E10A-CE81-5D4B-48A8-463F024FDFD4}"/>
              </a:ext>
            </a:extLst>
          </p:cNvPr>
          <p:cNvSpPr/>
          <p:nvPr/>
        </p:nvSpPr>
        <p:spPr>
          <a:xfrm>
            <a:off x="1962797" y="2792742"/>
            <a:ext cx="245537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An</a:t>
            </a:r>
          </a:p>
        </p:txBody>
      </p:sp>
      <p:sp>
        <p:nvSpPr>
          <p:cNvPr id="29" name="New shape">
            <a:extLst>
              <a:ext uri="{FF2B5EF4-FFF2-40B4-BE49-F238E27FC236}">
                <a16:creationId xmlns:a16="http://schemas.microsoft.com/office/drawing/2014/main" id="{75B60EDF-92F7-51AE-E16D-C714C00C8042}"/>
              </a:ext>
            </a:extLst>
          </p:cNvPr>
          <p:cNvSpPr/>
          <p:nvPr/>
        </p:nvSpPr>
        <p:spPr>
          <a:xfrm>
            <a:off x="2258453" y="2792742"/>
            <a:ext cx="48303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array</a:t>
            </a:r>
          </a:p>
        </p:txBody>
      </p:sp>
      <p:sp>
        <p:nvSpPr>
          <p:cNvPr id="30" name="New shape">
            <a:extLst>
              <a:ext uri="{FF2B5EF4-FFF2-40B4-BE49-F238E27FC236}">
                <a16:creationId xmlns:a16="http://schemas.microsoft.com/office/drawing/2014/main" id="{2FD84241-FC45-BA3B-9FDC-8E4BF436EC0F}"/>
              </a:ext>
            </a:extLst>
          </p:cNvPr>
          <p:cNvSpPr/>
          <p:nvPr/>
        </p:nvSpPr>
        <p:spPr>
          <a:xfrm>
            <a:off x="2782708" y="2792742"/>
            <a:ext cx="210607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is a block of contiguous</a:t>
            </a:r>
          </a:p>
        </p:txBody>
      </p:sp>
      <p:sp>
        <p:nvSpPr>
          <p:cNvPr id="31" name="New shape">
            <a:extLst>
              <a:ext uri="{FF2B5EF4-FFF2-40B4-BE49-F238E27FC236}">
                <a16:creationId xmlns:a16="http://schemas.microsoft.com/office/drawing/2014/main" id="{A3A908EE-2332-F86F-D1BB-2E1B75DD2F6D}"/>
              </a:ext>
            </a:extLst>
          </p:cNvPr>
          <p:cNvSpPr/>
          <p:nvPr/>
        </p:nvSpPr>
        <p:spPr>
          <a:xfrm>
            <a:off x="1962797" y="3017469"/>
            <a:ext cx="1811843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space in memory…</a:t>
            </a:r>
          </a:p>
        </p:txBody>
      </p:sp>
      <p:sp>
        <p:nvSpPr>
          <p:cNvPr id="32" name="New shape">
            <a:extLst>
              <a:ext uri="{FF2B5EF4-FFF2-40B4-BE49-F238E27FC236}">
                <a16:creationId xmlns:a16="http://schemas.microsoft.com/office/drawing/2014/main" id="{3708D831-C906-67A5-3917-485A4075BF9B}"/>
              </a:ext>
            </a:extLst>
          </p:cNvPr>
          <p:cNvSpPr/>
          <p:nvPr/>
        </p:nvSpPr>
        <p:spPr>
          <a:xfrm>
            <a:off x="5420751" y="2792742"/>
            <a:ext cx="12874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</a:t>
            </a:r>
          </a:p>
        </p:txBody>
      </p:sp>
      <p:sp>
        <p:nvSpPr>
          <p:cNvPr id="33" name="New shape">
            <a:extLst>
              <a:ext uri="{FF2B5EF4-FFF2-40B4-BE49-F238E27FC236}">
                <a16:creationId xmlns:a16="http://schemas.microsoft.com/office/drawing/2014/main" id="{4C7B42CF-CAE6-1005-703C-3C356C10E950}"/>
              </a:ext>
            </a:extLst>
          </p:cNvPr>
          <p:cNvSpPr/>
          <p:nvPr/>
        </p:nvSpPr>
        <p:spPr>
          <a:xfrm>
            <a:off x="5600583" y="2792742"/>
            <a:ext cx="905660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mail bank</a:t>
            </a:r>
          </a:p>
        </p:txBody>
      </p:sp>
      <p:sp>
        <p:nvSpPr>
          <p:cNvPr id="34" name="New shape">
            <a:extLst>
              <a:ext uri="{FF2B5EF4-FFF2-40B4-BE49-F238E27FC236}">
                <a16:creationId xmlns:a16="http://schemas.microsoft.com/office/drawing/2014/main" id="{702B63F3-0F68-16C2-7520-7DEABE4821AB}"/>
              </a:ext>
            </a:extLst>
          </p:cNvPr>
          <p:cNvSpPr/>
          <p:nvPr/>
        </p:nvSpPr>
        <p:spPr>
          <a:xfrm>
            <a:off x="6553082" y="2750770"/>
            <a:ext cx="2110386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Is a large space on the</a:t>
            </a:r>
          </a:p>
        </p:txBody>
      </p:sp>
      <p:sp>
        <p:nvSpPr>
          <p:cNvPr id="35" name="New shape">
            <a:extLst>
              <a:ext uri="{FF2B5EF4-FFF2-40B4-BE49-F238E27FC236}">
                <a16:creationId xmlns:a16="http://schemas.microsoft.com/office/drawing/2014/main" id="{52E5AC61-9C84-3D9C-CC12-1A37FD974851}"/>
              </a:ext>
            </a:extLst>
          </p:cNvPr>
          <p:cNvSpPr/>
          <p:nvPr/>
        </p:nvSpPr>
        <p:spPr>
          <a:xfrm>
            <a:off x="5420751" y="3017469"/>
            <a:ext cx="2259978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Wall of the post office…</a:t>
            </a:r>
          </a:p>
        </p:txBody>
      </p:sp>
      <p:sp>
        <p:nvSpPr>
          <p:cNvPr id="36" name="New shape">
            <a:extLst>
              <a:ext uri="{FF2B5EF4-FFF2-40B4-BE49-F238E27FC236}">
                <a16:creationId xmlns:a16="http://schemas.microsoft.com/office/drawing/2014/main" id="{D1BB7D01-1E44-FDA1-52EE-FA2503D24989}"/>
              </a:ext>
            </a:extLst>
          </p:cNvPr>
          <p:cNvSpPr/>
          <p:nvPr/>
        </p:nvSpPr>
        <p:spPr>
          <a:xfrm>
            <a:off x="1962796" y="3357321"/>
            <a:ext cx="3157788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…which has been partitioned into</a:t>
            </a:r>
          </a:p>
        </p:txBody>
      </p:sp>
      <p:sp>
        <p:nvSpPr>
          <p:cNvPr id="37" name="New shape">
            <a:extLst>
              <a:ext uri="{FF2B5EF4-FFF2-40B4-BE49-F238E27FC236}">
                <a16:creationId xmlns:a16="http://schemas.microsoft.com/office/drawing/2014/main" id="{3E6B2F2B-178A-1C10-6A43-5AB1BC48FBBE}"/>
              </a:ext>
            </a:extLst>
          </p:cNvPr>
          <p:cNvSpPr/>
          <p:nvPr/>
        </p:nvSpPr>
        <p:spPr>
          <a:xfrm>
            <a:off x="1962796" y="3624021"/>
            <a:ext cx="2990627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small, identically-sized blocks of</a:t>
            </a:r>
          </a:p>
        </p:txBody>
      </p:sp>
      <p:sp>
        <p:nvSpPr>
          <p:cNvPr id="38" name="New shape">
            <a:extLst>
              <a:ext uri="{FF2B5EF4-FFF2-40B4-BE49-F238E27FC236}">
                <a16:creationId xmlns:a16="http://schemas.microsoft.com/office/drawing/2014/main" id="{520599CC-5268-D008-C6D7-B9FBDDC09023}"/>
              </a:ext>
            </a:extLst>
          </p:cNvPr>
          <p:cNvSpPr/>
          <p:nvPr/>
        </p:nvSpPr>
        <p:spPr>
          <a:xfrm>
            <a:off x="1962796" y="3932693"/>
            <a:ext cx="109491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space called</a:t>
            </a:r>
          </a:p>
        </p:txBody>
      </p:sp>
      <p:sp>
        <p:nvSpPr>
          <p:cNvPr id="39" name="New shape">
            <a:extLst>
              <a:ext uri="{FF2B5EF4-FFF2-40B4-BE49-F238E27FC236}">
                <a16:creationId xmlns:a16="http://schemas.microsoft.com/office/drawing/2014/main" id="{CCF20A93-6DEF-646A-145C-495CFF9D7BD7}"/>
              </a:ext>
            </a:extLst>
          </p:cNvPr>
          <p:cNvSpPr/>
          <p:nvPr/>
        </p:nvSpPr>
        <p:spPr>
          <a:xfrm>
            <a:off x="3102748" y="3932693"/>
            <a:ext cx="85655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elements</a:t>
            </a:r>
          </a:p>
        </p:txBody>
      </p:sp>
      <p:sp>
        <p:nvSpPr>
          <p:cNvPr id="40" name="New shape">
            <a:extLst>
              <a:ext uri="{FF2B5EF4-FFF2-40B4-BE49-F238E27FC236}">
                <a16:creationId xmlns:a16="http://schemas.microsoft.com/office/drawing/2014/main" id="{B9E80013-61CF-7B9A-5D21-0137CEE5CD2A}"/>
              </a:ext>
            </a:extLst>
          </p:cNvPr>
          <p:cNvSpPr/>
          <p:nvPr/>
        </p:nvSpPr>
        <p:spPr>
          <a:xfrm>
            <a:off x="3960760" y="3932693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41" name="New shape">
            <a:extLst>
              <a:ext uri="{FF2B5EF4-FFF2-40B4-BE49-F238E27FC236}">
                <a16:creationId xmlns:a16="http://schemas.microsoft.com/office/drawing/2014/main" id="{17D49F95-A976-79B0-09EA-E0EB9CD2A51D}"/>
              </a:ext>
            </a:extLst>
          </p:cNvPr>
          <p:cNvSpPr/>
          <p:nvPr/>
        </p:nvSpPr>
        <p:spPr>
          <a:xfrm>
            <a:off x="5420751" y="3357321"/>
            <a:ext cx="3157788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…which has been partitioned into</a:t>
            </a:r>
          </a:p>
        </p:txBody>
      </p:sp>
      <p:sp>
        <p:nvSpPr>
          <p:cNvPr id="42" name="New shape">
            <a:extLst>
              <a:ext uri="{FF2B5EF4-FFF2-40B4-BE49-F238E27FC236}">
                <a16:creationId xmlns:a16="http://schemas.microsoft.com/office/drawing/2014/main" id="{9186D548-ED0A-6445-17E0-4284A2C68550}"/>
              </a:ext>
            </a:extLst>
          </p:cNvPr>
          <p:cNvSpPr/>
          <p:nvPr/>
        </p:nvSpPr>
        <p:spPr>
          <a:xfrm>
            <a:off x="5420751" y="3624021"/>
            <a:ext cx="2990627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small, identically-sized blocks of</a:t>
            </a:r>
          </a:p>
        </p:txBody>
      </p:sp>
      <p:sp>
        <p:nvSpPr>
          <p:cNvPr id="43" name="New shape">
            <a:extLst>
              <a:ext uri="{FF2B5EF4-FFF2-40B4-BE49-F238E27FC236}">
                <a16:creationId xmlns:a16="http://schemas.microsoft.com/office/drawing/2014/main" id="{0EBDBA57-EE7F-6F91-C5E2-6A7155717E62}"/>
              </a:ext>
            </a:extLst>
          </p:cNvPr>
          <p:cNvSpPr/>
          <p:nvPr/>
        </p:nvSpPr>
        <p:spPr>
          <a:xfrm>
            <a:off x="5420751" y="3932693"/>
            <a:ext cx="109491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space called</a:t>
            </a:r>
          </a:p>
        </p:txBody>
      </p:sp>
      <p:sp>
        <p:nvSpPr>
          <p:cNvPr id="44" name="New shape">
            <a:extLst>
              <a:ext uri="{FF2B5EF4-FFF2-40B4-BE49-F238E27FC236}">
                <a16:creationId xmlns:a16="http://schemas.microsoft.com/office/drawing/2014/main" id="{57FBA7AB-0FC6-0BC2-A3CD-A75669F12B12}"/>
              </a:ext>
            </a:extLst>
          </p:cNvPr>
          <p:cNvSpPr/>
          <p:nvPr/>
        </p:nvSpPr>
        <p:spPr>
          <a:xfrm>
            <a:off x="6560702" y="3932693"/>
            <a:ext cx="1566871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post office boxes</a:t>
            </a:r>
          </a:p>
        </p:txBody>
      </p:sp>
      <p:sp>
        <p:nvSpPr>
          <p:cNvPr id="45" name="New shape">
            <a:extLst>
              <a:ext uri="{FF2B5EF4-FFF2-40B4-BE49-F238E27FC236}">
                <a16:creationId xmlns:a16="http://schemas.microsoft.com/office/drawing/2014/main" id="{D2D7C1B3-1596-5431-B4E2-01B1B40BFC51}"/>
              </a:ext>
            </a:extLst>
          </p:cNvPr>
          <p:cNvSpPr/>
          <p:nvPr/>
        </p:nvSpPr>
        <p:spPr>
          <a:xfrm>
            <a:off x="8116706" y="3932693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46" name="New shape">
            <a:extLst>
              <a:ext uri="{FF2B5EF4-FFF2-40B4-BE49-F238E27FC236}">
                <a16:creationId xmlns:a16="http://schemas.microsoft.com/office/drawing/2014/main" id="{A0652100-37C8-4011-BCF7-A4EAC19C3A30}"/>
              </a:ext>
            </a:extLst>
          </p:cNvPr>
          <p:cNvSpPr/>
          <p:nvPr/>
        </p:nvSpPr>
        <p:spPr>
          <a:xfrm>
            <a:off x="1962796" y="4230573"/>
            <a:ext cx="3246017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…each of which can store a certain</a:t>
            </a:r>
          </a:p>
        </p:txBody>
      </p:sp>
      <p:sp>
        <p:nvSpPr>
          <p:cNvPr id="47" name="New shape">
            <a:extLst>
              <a:ext uri="{FF2B5EF4-FFF2-40B4-BE49-F238E27FC236}">
                <a16:creationId xmlns:a16="http://schemas.microsoft.com/office/drawing/2014/main" id="{C411C423-6B8C-19A5-BC18-68A5D3857CA5}"/>
              </a:ext>
            </a:extLst>
          </p:cNvPr>
          <p:cNvSpPr/>
          <p:nvPr/>
        </p:nvSpPr>
        <p:spPr>
          <a:xfrm>
            <a:off x="1962796" y="4539245"/>
            <a:ext cx="944772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amount of</a:t>
            </a:r>
          </a:p>
        </p:txBody>
      </p:sp>
      <p:sp>
        <p:nvSpPr>
          <p:cNvPr id="48" name="New shape">
            <a:extLst>
              <a:ext uri="{FF2B5EF4-FFF2-40B4-BE49-F238E27FC236}">
                <a16:creationId xmlns:a16="http://schemas.microsoft.com/office/drawing/2014/main" id="{3B97CC0A-0233-9F0B-50BB-6375263E5D08}"/>
              </a:ext>
            </a:extLst>
          </p:cNvPr>
          <p:cNvSpPr/>
          <p:nvPr/>
        </p:nvSpPr>
        <p:spPr>
          <a:xfrm>
            <a:off x="2954920" y="4539245"/>
            <a:ext cx="416217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data</a:t>
            </a:r>
          </a:p>
        </p:txBody>
      </p:sp>
      <p:sp>
        <p:nvSpPr>
          <p:cNvPr id="49" name="New shape">
            <a:extLst>
              <a:ext uri="{FF2B5EF4-FFF2-40B4-BE49-F238E27FC236}">
                <a16:creationId xmlns:a16="http://schemas.microsoft.com/office/drawing/2014/main" id="{4E03C99D-140C-71C7-8B9F-9981E2E7B255}"/>
              </a:ext>
            </a:extLst>
          </p:cNvPr>
          <p:cNvSpPr/>
          <p:nvPr/>
        </p:nvSpPr>
        <p:spPr>
          <a:xfrm>
            <a:off x="3367923" y="4539245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50" name="New shape">
            <a:extLst>
              <a:ext uri="{FF2B5EF4-FFF2-40B4-BE49-F238E27FC236}">
                <a16:creationId xmlns:a16="http://schemas.microsoft.com/office/drawing/2014/main" id="{2118D528-D146-ACCD-71F0-9A44CD0CDADB}"/>
              </a:ext>
            </a:extLst>
          </p:cNvPr>
          <p:cNvSpPr/>
          <p:nvPr/>
        </p:nvSpPr>
        <p:spPr>
          <a:xfrm>
            <a:off x="5420751" y="4230573"/>
            <a:ext cx="3187924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…each of which can hold a certain</a:t>
            </a:r>
          </a:p>
        </p:txBody>
      </p:sp>
      <p:sp>
        <p:nvSpPr>
          <p:cNvPr id="51" name="New shape">
            <a:extLst>
              <a:ext uri="{FF2B5EF4-FFF2-40B4-BE49-F238E27FC236}">
                <a16:creationId xmlns:a16="http://schemas.microsoft.com/office/drawing/2014/main" id="{DFC556FE-E1DD-7F4F-F8E6-31B05D8D91A7}"/>
              </a:ext>
            </a:extLst>
          </p:cNvPr>
          <p:cNvSpPr/>
          <p:nvPr/>
        </p:nvSpPr>
        <p:spPr>
          <a:xfrm>
            <a:off x="5420751" y="4539245"/>
            <a:ext cx="944772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amount of</a:t>
            </a:r>
          </a:p>
        </p:txBody>
      </p:sp>
      <p:sp>
        <p:nvSpPr>
          <p:cNvPr id="52" name="New shape">
            <a:extLst>
              <a:ext uri="{FF2B5EF4-FFF2-40B4-BE49-F238E27FC236}">
                <a16:creationId xmlns:a16="http://schemas.microsoft.com/office/drawing/2014/main" id="{D5B473FB-C564-E57B-1481-786CA0D19CA9}"/>
              </a:ext>
            </a:extLst>
          </p:cNvPr>
          <p:cNvSpPr/>
          <p:nvPr/>
        </p:nvSpPr>
        <p:spPr>
          <a:xfrm>
            <a:off x="6412874" y="4539245"/>
            <a:ext cx="40002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mail</a:t>
            </a:r>
          </a:p>
        </p:txBody>
      </p:sp>
      <p:sp>
        <p:nvSpPr>
          <p:cNvPr id="53" name="New shape">
            <a:extLst>
              <a:ext uri="{FF2B5EF4-FFF2-40B4-BE49-F238E27FC236}">
                <a16:creationId xmlns:a16="http://schemas.microsoft.com/office/drawing/2014/main" id="{2034C23D-A34F-1AEE-51AE-4230743FEB20}"/>
              </a:ext>
            </a:extLst>
          </p:cNvPr>
          <p:cNvSpPr/>
          <p:nvPr/>
        </p:nvSpPr>
        <p:spPr>
          <a:xfrm>
            <a:off x="6813686" y="4539245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54" name="New shape">
            <a:extLst>
              <a:ext uri="{FF2B5EF4-FFF2-40B4-BE49-F238E27FC236}">
                <a16:creationId xmlns:a16="http://schemas.microsoft.com/office/drawing/2014/main" id="{5CCF762D-5464-6B24-A679-17E922689057}"/>
              </a:ext>
            </a:extLst>
          </p:cNvPr>
          <p:cNvSpPr/>
          <p:nvPr/>
        </p:nvSpPr>
        <p:spPr>
          <a:xfrm>
            <a:off x="1962796" y="4837126"/>
            <a:ext cx="3224537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…all of the same data type such as</a:t>
            </a:r>
          </a:p>
        </p:txBody>
      </p:sp>
      <p:sp>
        <p:nvSpPr>
          <p:cNvPr id="55" name="New shape">
            <a:extLst>
              <a:ext uri="{FF2B5EF4-FFF2-40B4-BE49-F238E27FC236}">
                <a16:creationId xmlns:a16="http://schemas.microsoft.com/office/drawing/2014/main" id="{FEF7FEC1-C561-FFA0-7C43-6ACF8B61E76A}"/>
              </a:ext>
            </a:extLst>
          </p:cNvPr>
          <p:cNvSpPr/>
          <p:nvPr/>
        </p:nvSpPr>
        <p:spPr>
          <a:xfrm>
            <a:off x="1962796" y="5147320"/>
            <a:ext cx="367001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onsolas"/>
              </a:rPr>
              <a:t>int</a:t>
            </a:r>
          </a:p>
        </p:txBody>
      </p:sp>
      <p:sp>
        <p:nvSpPr>
          <p:cNvPr id="56" name="New shape">
            <a:extLst>
              <a:ext uri="{FF2B5EF4-FFF2-40B4-BE49-F238E27FC236}">
                <a16:creationId xmlns:a16="http://schemas.microsoft.com/office/drawing/2014/main" id="{D59AFC09-E6EB-4336-A343-725B87808AFA}"/>
              </a:ext>
            </a:extLst>
          </p:cNvPr>
          <p:cNvSpPr/>
          <p:nvPr/>
        </p:nvSpPr>
        <p:spPr>
          <a:xfrm>
            <a:off x="2380372" y="5147320"/>
            <a:ext cx="194800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or</a:t>
            </a:r>
          </a:p>
        </p:txBody>
      </p:sp>
      <p:sp>
        <p:nvSpPr>
          <p:cNvPr id="57" name="New shape">
            <a:extLst>
              <a:ext uri="{FF2B5EF4-FFF2-40B4-BE49-F238E27FC236}">
                <a16:creationId xmlns:a16="http://schemas.microsoft.com/office/drawing/2014/main" id="{8D73348D-8BB7-AD5A-FF07-8982B157A405}"/>
              </a:ext>
            </a:extLst>
          </p:cNvPr>
          <p:cNvSpPr/>
          <p:nvPr/>
        </p:nvSpPr>
        <p:spPr>
          <a:xfrm>
            <a:off x="2625736" y="5147320"/>
            <a:ext cx="48933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onsolas"/>
              </a:rPr>
              <a:t>char</a:t>
            </a:r>
          </a:p>
        </p:txBody>
      </p:sp>
      <p:sp>
        <p:nvSpPr>
          <p:cNvPr id="58" name="New shape">
            <a:extLst>
              <a:ext uri="{FF2B5EF4-FFF2-40B4-BE49-F238E27FC236}">
                <a16:creationId xmlns:a16="http://schemas.microsoft.com/office/drawing/2014/main" id="{40F67BD6-7CCD-91F5-3565-08DAD989F3D3}"/>
              </a:ext>
            </a:extLst>
          </p:cNvPr>
          <p:cNvSpPr/>
          <p:nvPr/>
        </p:nvSpPr>
        <p:spPr>
          <a:xfrm>
            <a:off x="3113416" y="5147320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59" name="New shape">
            <a:extLst>
              <a:ext uri="{FF2B5EF4-FFF2-40B4-BE49-F238E27FC236}">
                <a16:creationId xmlns:a16="http://schemas.microsoft.com/office/drawing/2014/main" id="{07941B44-5D63-F628-3019-83316ADC1980}"/>
              </a:ext>
            </a:extLst>
          </p:cNvPr>
          <p:cNvSpPr/>
          <p:nvPr/>
        </p:nvSpPr>
        <p:spPr>
          <a:xfrm>
            <a:off x="5420750" y="4837126"/>
            <a:ext cx="2690801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…all of a similar type such as</a:t>
            </a:r>
          </a:p>
        </p:txBody>
      </p:sp>
      <p:sp>
        <p:nvSpPr>
          <p:cNvPr id="60" name="New shape">
            <a:extLst>
              <a:ext uri="{FF2B5EF4-FFF2-40B4-BE49-F238E27FC236}">
                <a16:creationId xmlns:a16="http://schemas.microsoft.com/office/drawing/2014/main" id="{126C1503-1967-11B3-3FD5-4136F8B27D78}"/>
              </a:ext>
            </a:extLst>
          </p:cNvPr>
          <p:cNvSpPr/>
          <p:nvPr/>
        </p:nvSpPr>
        <p:spPr>
          <a:xfrm>
            <a:off x="8034410" y="4879098"/>
            <a:ext cx="600478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letters</a:t>
            </a:r>
          </a:p>
        </p:txBody>
      </p:sp>
      <p:sp>
        <p:nvSpPr>
          <p:cNvPr id="61" name="New shape">
            <a:extLst>
              <a:ext uri="{FF2B5EF4-FFF2-40B4-BE49-F238E27FC236}">
                <a16:creationId xmlns:a16="http://schemas.microsoft.com/office/drawing/2014/main" id="{E4FC045B-A968-DD82-98AF-DC2DBC5976ED}"/>
              </a:ext>
            </a:extLst>
          </p:cNvPr>
          <p:cNvSpPr/>
          <p:nvPr/>
        </p:nvSpPr>
        <p:spPr>
          <a:xfrm>
            <a:off x="5420751" y="5145797"/>
            <a:ext cx="194800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or</a:t>
            </a:r>
          </a:p>
        </p:txBody>
      </p:sp>
      <p:sp>
        <p:nvSpPr>
          <p:cNvPr id="62" name="New shape">
            <a:extLst>
              <a:ext uri="{FF2B5EF4-FFF2-40B4-BE49-F238E27FC236}">
                <a16:creationId xmlns:a16="http://schemas.microsoft.com/office/drawing/2014/main" id="{14DAB6A9-35C3-B215-A768-614250AD38A6}"/>
              </a:ext>
            </a:extLst>
          </p:cNvPr>
          <p:cNvSpPr/>
          <p:nvPr/>
        </p:nvSpPr>
        <p:spPr>
          <a:xfrm>
            <a:off x="5666115" y="5145797"/>
            <a:ext cx="138391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small packages</a:t>
            </a:r>
          </a:p>
        </p:txBody>
      </p:sp>
      <p:sp>
        <p:nvSpPr>
          <p:cNvPr id="63" name="New shape">
            <a:extLst>
              <a:ext uri="{FF2B5EF4-FFF2-40B4-BE49-F238E27FC236}">
                <a16:creationId xmlns:a16="http://schemas.microsoft.com/office/drawing/2014/main" id="{DE0CE8A0-E8CE-69DD-152F-2CE38735939C}"/>
              </a:ext>
            </a:extLst>
          </p:cNvPr>
          <p:cNvSpPr/>
          <p:nvPr/>
        </p:nvSpPr>
        <p:spPr>
          <a:xfrm>
            <a:off x="7040762" y="5145797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283331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F6D5B-C2A3-FE9C-7BF1-D6AA1CF29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>
            <a:extLst>
              <a:ext uri="{FF2B5EF4-FFF2-40B4-BE49-F238E27FC236}">
                <a16:creationId xmlns:a16="http://schemas.microsoft.com/office/drawing/2014/main" id="{9AE4E9C5-D14A-BA74-DA54-6C476265E4E9}"/>
              </a:ext>
            </a:extLst>
          </p:cNvPr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>
            <a:extLst>
              <a:ext uri="{FF2B5EF4-FFF2-40B4-BE49-F238E27FC236}">
                <a16:creationId xmlns:a16="http://schemas.microsoft.com/office/drawing/2014/main" id="{D2B1939A-76F4-2D0E-E2E7-64B391806D1F}"/>
              </a:ext>
            </a:extLst>
          </p:cNvPr>
          <p:cNvSpPr/>
          <p:nvPr/>
        </p:nvSpPr>
        <p:spPr>
          <a:xfrm>
            <a:off x="1889638" y="2372868"/>
            <a:ext cx="3457956" cy="339852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>
            <a:extLst>
              <a:ext uri="{FF2B5EF4-FFF2-40B4-BE49-F238E27FC236}">
                <a16:creationId xmlns:a16="http://schemas.microsoft.com/office/drawing/2014/main" id="{C871F3F5-9AD4-81E4-ED2B-935AE6BC43AC}"/>
              </a:ext>
            </a:extLst>
          </p:cNvPr>
          <p:cNvSpPr/>
          <p:nvPr/>
        </p:nvSpPr>
        <p:spPr>
          <a:xfrm>
            <a:off x="5347594" y="2372868"/>
            <a:ext cx="3457956" cy="339852"/>
          </a:xfrm>
          <a:prstGeom prst="rect">
            <a:avLst/>
          </a:prstGeom>
          <a:solidFill>
            <a:srgbClr val="5A9AD5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>
            <a:extLst>
              <a:ext uri="{FF2B5EF4-FFF2-40B4-BE49-F238E27FC236}">
                <a16:creationId xmlns:a16="http://schemas.microsoft.com/office/drawing/2014/main" id="{4CA2E11A-81A8-5F99-D752-558AB0E6DE3F}"/>
              </a:ext>
            </a:extLst>
          </p:cNvPr>
          <p:cNvSpPr/>
          <p:nvPr/>
        </p:nvSpPr>
        <p:spPr>
          <a:xfrm>
            <a:off x="1889638" y="2712720"/>
            <a:ext cx="3457956" cy="6065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>
            <a:extLst>
              <a:ext uri="{FF2B5EF4-FFF2-40B4-BE49-F238E27FC236}">
                <a16:creationId xmlns:a16="http://schemas.microsoft.com/office/drawing/2014/main" id="{2A2408DF-CA30-BB39-322A-1E4C0AE899E0}"/>
              </a:ext>
            </a:extLst>
          </p:cNvPr>
          <p:cNvSpPr/>
          <p:nvPr/>
        </p:nvSpPr>
        <p:spPr>
          <a:xfrm>
            <a:off x="5347594" y="2712720"/>
            <a:ext cx="3457956" cy="6065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>
            <a:extLst>
              <a:ext uri="{FF2B5EF4-FFF2-40B4-BE49-F238E27FC236}">
                <a16:creationId xmlns:a16="http://schemas.microsoft.com/office/drawing/2014/main" id="{3D1CECBD-FAEA-229D-C52B-5A2CFE3F536B}"/>
              </a:ext>
            </a:extLst>
          </p:cNvPr>
          <p:cNvSpPr/>
          <p:nvPr/>
        </p:nvSpPr>
        <p:spPr>
          <a:xfrm>
            <a:off x="1889638" y="3319272"/>
            <a:ext cx="3457956" cy="8732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>
            <a:extLst>
              <a:ext uri="{FF2B5EF4-FFF2-40B4-BE49-F238E27FC236}">
                <a16:creationId xmlns:a16="http://schemas.microsoft.com/office/drawing/2014/main" id="{787C1006-8488-F271-B532-EA18AEB89CA5}"/>
              </a:ext>
            </a:extLst>
          </p:cNvPr>
          <p:cNvSpPr/>
          <p:nvPr/>
        </p:nvSpPr>
        <p:spPr>
          <a:xfrm>
            <a:off x="5347594" y="3319272"/>
            <a:ext cx="3457956" cy="8732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>
            <a:extLst>
              <a:ext uri="{FF2B5EF4-FFF2-40B4-BE49-F238E27FC236}">
                <a16:creationId xmlns:a16="http://schemas.microsoft.com/office/drawing/2014/main" id="{1B033FB0-9BE9-5825-8BD9-AF4EF105D183}"/>
              </a:ext>
            </a:extLst>
          </p:cNvPr>
          <p:cNvSpPr/>
          <p:nvPr/>
        </p:nvSpPr>
        <p:spPr>
          <a:xfrm>
            <a:off x="1889638" y="4192524"/>
            <a:ext cx="3457956" cy="605028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>
            <a:extLst>
              <a:ext uri="{FF2B5EF4-FFF2-40B4-BE49-F238E27FC236}">
                <a16:creationId xmlns:a16="http://schemas.microsoft.com/office/drawing/2014/main" id="{69DC771E-0C4D-159D-2E38-9F4CEDAAB60F}"/>
              </a:ext>
            </a:extLst>
          </p:cNvPr>
          <p:cNvSpPr/>
          <p:nvPr/>
        </p:nvSpPr>
        <p:spPr>
          <a:xfrm>
            <a:off x="5347594" y="4192524"/>
            <a:ext cx="3457956" cy="605028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>
            <a:extLst>
              <a:ext uri="{FF2B5EF4-FFF2-40B4-BE49-F238E27FC236}">
                <a16:creationId xmlns:a16="http://schemas.microsoft.com/office/drawing/2014/main" id="{E3A68F88-D957-0045-1917-63BF292C82CB}"/>
              </a:ext>
            </a:extLst>
          </p:cNvPr>
          <p:cNvSpPr/>
          <p:nvPr/>
        </p:nvSpPr>
        <p:spPr>
          <a:xfrm>
            <a:off x="1889638" y="4797552"/>
            <a:ext cx="3457956" cy="6065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>
            <a:extLst>
              <a:ext uri="{FF2B5EF4-FFF2-40B4-BE49-F238E27FC236}">
                <a16:creationId xmlns:a16="http://schemas.microsoft.com/office/drawing/2014/main" id="{74F862A3-9AD5-5B71-D10C-E3A484CC3C92}"/>
              </a:ext>
            </a:extLst>
          </p:cNvPr>
          <p:cNvSpPr/>
          <p:nvPr/>
        </p:nvSpPr>
        <p:spPr>
          <a:xfrm>
            <a:off x="5347594" y="4797552"/>
            <a:ext cx="3457956" cy="606552"/>
          </a:xfrm>
          <a:prstGeom prst="rect">
            <a:avLst/>
          </a:prstGeom>
          <a:solidFill>
            <a:srgbClr val="EAEFF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>
            <a:extLst>
              <a:ext uri="{FF2B5EF4-FFF2-40B4-BE49-F238E27FC236}">
                <a16:creationId xmlns:a16="http://schemas.microsoft.com/office/drawing/2014/main" id="{235C7C08-0329-82A0-D14A-694C4378A5D8}"/>
              </a:ext>
            </a:extLst>
          </p:cNvPr>
          <p:cNvSpPr/>
          <p:nvPr/>
        </p:nvSpPr>
        <p:spPr>
          <a:xfrm>
            <a:off x="1889638" y="5404104"/>
            <a:ext cx="3457956" cy="6065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>
            <a:extLst>
              <a:ext uri="{FF2B5EF4-FFF2-40B4-BE49-F238E27FC236}">
                <a16:creationId xmlns:a16="http://schemas.microsoft.com/office/drawing/2014/main" id="{ACA76245-95AC-084A-FFEB-ECE29FC65BEE}"/>
              </a:ext>
            </a:extLst>
          </p:cNvPr>
          <p:cNvSpPr/>
          <p:nvPr/>
        </p:nvSpPr>
        <p:spPr>
          <a:xfrm>
            <a:off x="5347594" y="5404104"/>
            <a:ext cx="3457956" cy="606552"/>
          </a:xfrm>
          <a:prstGeom prst="rect">
            <a:avLst/>
          </a:prstGeom>
          <a:solidFill>
            <a:srgbClr val="D2DEE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>
            <a:extLst>
              <a:ext uri="{FF2B5EF4-FFF2-40B4-BE49-F238E27FC236}">
                <a16:creationId xmlns:a16="http://schemas.microsoft.com/office/drawing/2014/main" id="{2B69A095-1DAF-4E96-D201-1C3778AF4313}"/>
              </a:ext>
            </a:extLst>
          </p:cNvPr>
          <p:cNvSpPr/>
          <p:nvPr/>
        </p:nvSpPr>
        <p:spPr>
          <a:xfrm>
            <a:off x="5347594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>
            <a:extLst>
              <a:ext uri="{FF2B5EF4-FFF2-40B4-BE49-F238E27FC236}">
                <a16:creationId xmlns:a16="http://schemas.microsoft.com/office/drawing/2014/main" id="{CAD87CFE-0D5A-4D66-0075-6DFDC3F6F7DA}"/>
              </a:ext>
            </a:extLst>
          </p:cNvPr>
          <p:cNvSpPr/>
          <p:nvPr/>
        </p:nvSpPr>
        <p:spPr>
          <a:xfrm>
            <a:off x="1885066" y="2712720"/>
            <a:ext cx="6926580" cy="0"/>
          </a:xfrm>
          <a:prstGeom prst="line">
            <a:avLst/>
          </a:prstGeom>
          <a:ln w="3031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>
            <a:extLst>
              <a:ext uri="{FF2B5EF4-FFF2-40B4-BE49-F238E27FC236}">
                <a16:creationId xmlns:a16="http://schemas.microsoft.com/office/drawing/2014/main" id="{5D982BE4-2603-5305-8064-A752E5F25BA3}"/>
              </a:ext>
            </a:extLst>
          </p:cNvPr>
          <p:cNvSpPr/>
          <p:nvPr/>
        </p:nvSpPr>
        <p:spPr>
          <a:xfrm>
            <a:off x="1885066" y="3319272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>
            <a:extLst>
              <a:ext uri="{FF2B5EF4-FFF2-40B4-BE49-F238E27FC236}">
                <a16:creationId xmlns:a16="http://schemas.microsoft.com/office/drawing/2014/main" id="{CABA9355-BF63-05B5-30CB-D926920B8722}"/>
              </a:ext>
            </a:extLst>
          </p:cNvPr>
          <p:cNvSpPr/>
          <p:nvPr/>
        </p:nvSpPr>
        <p:spPr>
          <a:xfrm>
            <a:off x="1885066" y="4192524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>
            <a:extLst>
              <a:ext uri="{FF2B5EF4-FFF2-40B4-BE49-F238E27FC236}">
                <a16:creationId xmlns:a16="http://schemas.microsoft.com/office/drawing/2014/main" id="{BEE5B6B2-F194-5343-90C8-98B0D19A3AB4}"/>
              </a:ext>
            </a:extLst>
          </p:cNvPr>
          <p:cNvSpPr/>
          <p:nvPr/>
        </p:nvSpPr>
        <p:spPr>
          <a:xfrm>
            <a:off x="1885066" y="4797552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>
            <a:extLst>
              <a:ext uri="{FF2B5EF4-FFF2-40B4-BE49-F238E27FC236}">
                <a16:creationId xmlns:a16="http://schemas.microsoft.com/office/drawing/2014/main" id="{08563DA1-153F-DB1A-DEF4-34826A670789}"/>
              </a:ext>
            </a:extLst>
          </p:cNvPr>
          <p:cNvSpPr/>
          <p:nvPr/>
        </p:nvSpPr>
        <p:spPr>
          <a:xfrm>
            <a:off x="1885066" y="5404104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>
            <a:extLst>
              <a:ext uri="{FF2B5EF4-FFF2-40B4-BE49-F238E27FC236}">
                <a16:creationId xmlns:a16="http://schemas.microsoft.com/office/drawing/2014/main" id="{53BCFD59-35FA-FE10-B6FC-120DB89176CC}"/>
              </a:ext>
            </a:extLst>
          </p:cNvPr>
          <p:cNvSpPr/>
          <p:nvPr/>
        </p:nvSpPr>
        <p:spPr>
          <a:xfrm>
            <a:off x="1889638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>
            <a:extLst>
              <a:ext uri="{FF2B5EF4-FFF2-40B4-BE49-F238E27FC236}">
                <a16:creationId xmlns:a16="http://schemas.microsoft.com/office/drawing/2014/main" id="{86AD9416-0DD1-13FF-FD28-CCD2F0CF8709}"/>
              </a:ext>
            </a:extLst>
          </p:cNvPr>
          <p:cNvSpPr/>
          <p:nvPr/>
        </p:nvSpPr>
        <p:spPr>
          <a:xfrm>
            <a:off x="8805550" y="2368296"/>
            <a:ext cx="0" cy="3646932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>
            <a:extLst>
              <a:ext uri="{FF2B5EF4-FFF2-40B4-BE49-F238E27FC236}">
                <a16:creationId xmlns:a16="http://schemas.microsoft.com/office/drawing/2014/main" id="{B630C8A2-8717-DE8E-4FEF-9E73C56BDF65}"/>
              </a:ext>
            </a:extLst>
          </p:cNvPr>
          <p:cNvSpPr/>
          <p:nvPr/>
        </p:nvSpPr>
        <p:spPr>
          <a:xfrm>
            <a:off x="1885066" y="2372868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4" name="New shape">
            <a:extLst>
              <a:ext uri="{FF2B5EF4-FFF2-40B4-BE49-F238E27FC236}">
                <a16:creationId xmlns:a16="http://schemas.microsoft.com/office/drawing/2014/main" id="{A45841C2-F7E2-0DC6-78F8-ABC8959C7332}"/>
              </a:ext>
            </a:extLst>
          </p:cNvPr>
          <p:cNvSpPr/>
          <p:nvPr/>
        </p:nvSpPr>
        <p:spPr>
          <a:xfrm>
            <a:off x="1885066" y="6010656"/>
            <a:ext cx="6926580" cy="0"/>
          </a:xfrm>
          <a:prstGeom prst="line">
            <a:avLst/>
          </a:prstGeom>
          <a:ln w="10103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>
            <a:extLst>
              <a:ext uri="{FF2B5EF4-FFF2-40B4-BE49-F238E27FC236}">
                <a16:creationId xmlns:a16="http://schemas.microsoft.com/office/drawing/2014/main" id="{89FACECA-CB74-292D-6981-8FF531EE1FDD}"/>
              </a:ext>
            </a:extLst>
          </p:cNvPr>
          <p:cNvSpPr/>
          <p:nvPr/>
        </p:nvSpPr>
        <p:spPr>
          <a:xfrm>
            <a:off x="1811921" y="1356565"/>
            <a:ext cx="125173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Arrays</a:t>
            </a:r>
          </a:p>
        </p:txBody>
      </p:sp>
      <p:sp>
        <p:nvSpPr>
          <p:cNvPr id="26" name="New shape">
            <a:extLst>
              <a:ext uri="{FF2B5EF4-FFF2-40B4-BE49-F238E27FC236}">
                <a16:creationId xmlns:a16="http://schemas.microsoft.com/office/drawing/2014/main" id="{25B3C11E-4678-E557-DE2A-81103EBBF43D}"/>
              </a:ext>
            </a:extLst>
          </p:cNvPr>
          <p:cNvSpPr/>
          <p:nvPr/>
        </p:nvSpPr>
        <p:spPr>
          <a:xfrm>
            <a:off x="3323728" y="2454413"/>
            <a:ext cx="59678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Arrays</a:t>
            </a:r>
          </a:p>
        </p:txBody>
      </p:sp>
      <p:sp>
        <p:nvSpPr>
          <p:cNvPr id="27" name="New shape">
            <a:extLst>
              <a:ext uri="{FF2B5EF4-FFF2-40B4-BE49-F238E27FC236}">
                <a16:creationId xmlns:a16="http://schemas.microsoft.com/office/drawing/2014/main" id="{AC85A2F0-589F-9BE9-188D-21C2B8349372}"/>
              </a:ext>
            </a:extLst>
          </p:cNvPr>
          <p:cNvSpPr/>
          <p:nvPr/>
        </p:nvSpPr>
        <p:spPr>
          <a:xfrm>
            <a:off x="6280288" y="2454413"/>
            <a:ext cx="160185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FFFFFF"/>
                </a:solidFill>
                <a:latin typeface="Calibri"/>
              </a:rPr>
              <a:t>Post Office Boxes</a:t>
            </a:r>
          </a:p>
        </p:txBody>
      </p:sp>
      <p:sp>
        <p:nvSpPr>
          <p:cNvPr id="28" name="New shape">
            <a:extLst>
              <a:ext uri="{FF2B5EF4-FFF2-40B4-BE49-F238E27FC236}">
                <a16:creationId xmlns:a16="http://schemas.microsoft.com/office/drawing/2014/main" id="{985FA878-DA43-2C95-E9F7-230E459C35F9}"/>
              </a:ext>
            </a:extLst>
          </p:cNvPr>
          <p:cNvSpPr/>
          <p:nvPr/>
        </p:nvSpPr>
        <p:spPr>
          <a:xfrm>
            <a:off x="1962797" y="2792742"/>
            <a:ext cx="245537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An</a:t>
            </a:r>
          </a:p>
        </p:txBody>
      </p:sp>
      <p:sp>
        <p:nvSpPr>
          <p:cNvPr id="29" name="New shape">
            <a:extLst>
              <a:ext uri="{FF2B5EF4-FFF2-40B4-BE49-F238E27FC236}">
                <a16:creationId xmlns:a16="http://schemas.microsoft.com/office/drawing/2014/main" id="{0762ADF7-F104-FDE3-C095-27A94159E59E}"/>
              </a:ext>
            </a:extLst>
          </p:cNvPr>
          <p:cNvSpPr/>
          <p:nvPr/>
        </p:nvSpPr>
        <p:spPr>
          <a:xfrm>
            <a:off x="2258453" y="2792742"/>
            <a:ext cx="48303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array</a:t>
            </a:r>
          </a:p>
        </p:txBody>
      </p:sp>
      <p:sp>
        <p:nvSpPr>
          <p:cNvPr id="30" name="New shape">
            <a:extLst>
              <a:ext uri="{FF2B5EF4-FFF2-40B4-BE49-F238E27FC236}">
                <a16:creationId xmlns:a16="http://schemas.microsoft.com/office/drawing/2014/main" id="{A525C551-6991-DB3C-3287-1E0B8383D0D5}"/>
              </a:ext>
            </a:extLst>
          </p:cNvPr>
          <p:cNvSpPr/>
          <p:nvPr/>
        </p:nvSpPr>
        <p:spPr>
          <a:xfrm>
            <a:off x="2782708" y="2792742"/>
            <a:ext cx="210607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is a block of contiguous</a:t>
            </a:r>
          </a:p>
        </p:txBody>
      </p:sp>
      <p:sp>
        <p:nvSpPr>
          <p:cNvPr id="31" name="New shape">
            <a:extLst>
              <a:ext uri="{FF2B5EF4-FFF2-40B4-BE49-F238E27FC236}">
                <a16:creationId xmlns:a16="http://schemas.microsoft.com/office/drawing/2014/main" id="{DF4DC63C-5EF6-E3B3-201C-97AEE6DEADF8}"/>
              </a:ext>
            </a:extLst>
          </p:cNvPr>
          <p:cNvSpPr/>
          <p:nvPr/>
        </p:nvSpPr>
        <p:spPr>
          <a:xfrm>
            <a:off x="1962797" y="3017469"/>
            <a:ext cx="1811843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space in memory…</a:t>
            </a:r>
          </a:p>
        </p:txBody>
      </p:sp>
      <p:sp>
        <p:nvSpPr>
          <p:cNvPr id="32" name="New shape">
            <a:extLst>
              <a:ext uri="{FF2B5EF4-FFF2-40B4-BE49-F238E27FC236}">
                <a16:creationId xmlns:a16="http://schemas.microsoft.com/office/drawing/2014/main" id="{C56A4ABE-25AD-B2AA-2BD9-F035E416DE76}"/>
              </a:ext>
            </a:extLst>
          </p:cNvPr>
          <p:cNvSpPr/>
          <p:nvPr/>
        </p:nvSpPr>
        <p:spPr>
          <a:xfrm>
            <a:off x="5420751" y="2792742"/>
            <a:ext cx="12874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</a:t>
            </a:r>
          </a:p>
        </p:txBody>
      </p:sp>
      <p:sp>
        <p:nvSpPr>
          <p:cNvPr id="33" name="New shape">
            <a:extLst>
              <a:ext uri="{FF2B5EF4-FFF2-40B4-BE49-F238E27FC236}">
                <a16:creationId xmlns:a16="http://schemas.microsoft.com/office/drawing/2014/main" id="{F755C488-C5C1-3983-E3CE-D2BA3021460C}"/>
              </a:ext>
            </a:extLst>
          </p:cNvPr>
          <p:cNvSpPr/>
          <p:nvPr/>
        </p:nvSpPr>
        <p:spPr>
          <a:xfrm>
            <a:off x="5600583" y="2792742"/>
            <a:ext cx="905660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mail bank</a:t>
            </a:r>
          </a:p>
        </p:txBody>
      </p:sp>
      <p:sp>
        <p:nvSpPr>
          <p:cNvPr id="34" name="New shape">
            <a:extLst>
              <a:ext uri="{FF2B5EF4-FFF2-40B4-BE49-F238E27FC236}">
                <a16:creationId xmlns:a16="http://schemas.microsoft.com/office/drawing/2014/main" id="{EF5EE268-9B7C-D3A3-FEFB-B80B3B349B22}"/>
              </a:ext>
            </a:extLst>
          </p:cNvPr>
          <p:cNvSpPr/>
          <p:nvPr/>
        </p:nvSpPr>
        <p:spPr>
          <a:xfrm>
            <a:off x="6553082" y="2750770"/>
            <a:ext cx="2110386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Is a large space on the</a:t>
            </a:r>
          </a:p>
        </p:txBody>
      </p:sp>
      <p:sp>
        <p:nvSpPr>
          <p:cNvPr id="35" name="New shape">
            <a:extLst>
              <a:ext uri="{FF2B5EF4-FFF2-40B4-BE49-F238E27FC236}">
                <a16:creationId xmlns:a16="http://schemas.microsoft.com/office/drawing/2014/main" id="{56ED8BBD-96B4-A01D-3135-223A711FFE11}"/>
              </a:ext>
            </a:extLst>
          </p:cNvPr>
          <p:cNvSpPr/>
          <p:nvPr/>
        </p:nvSpPr>
        <p:spPr>
          <a:xfrm>
            <a:off x="5420751" y="3017469"/>
            <a:ext cx="2259978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Wall of the post office…</a:t>
            </a:r>
          </a:p>
        </p:txBody>
      </p:sp>
      <p:sp>
        <p:nvSpPr>
          <p:cNvPr id="36" name="New shape">
            <a:extLst>
              <a:ext uri="{FF2B5EF4-FFF2-40B4-BE49-F238E27FC236}">
                <a16:creationId xmlns:a16="http://schemas.microsoft.com/office/drawing/2014/main" id="{02F00E97-AC10-5BA9-4119-7376BDC2B8CD}"/>
              </a:ext>
            </a:extLst>
          </p:cNvPr>
          <p:cNvSpPr/>
          <p:nvPr/>
        </p:nvSpPr>
        <p:spPr>
          <a:xfrm>
            <a:off x="1962796" y="3357321"/>
            <a:ext cx="3157788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…which has been partitioned into</a:t>
            </a:r>
          </a:p>
        </p:txBody>
      </p:sp>
      <p:sp>
        <p:nvSpPr>
          <p:cNvPr id="37" name="New shape">
            <a:extLst>
              <a:ext uri="{FF2B5EF4-FFF2-40B4-BE49-F238E27FC236}">
                <a16:creationId xmlns:a16="http://schemas.microsoft.com/office/drawing/2014/main" id="{3B37527C-6400-C599-D4A7-A2E7C0EF1DED}"/>
              </a:ext>
            </a:extLst>
          </p:cNvPr>
          <p:cNvSpPr/>
          <p:nvPr/>
        </p:nvSpPr>
        <p:spPr>
          <a:xfrm>
            <a:off x="1962796" y="3624021"/>
            <a:ext cx="2990627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small, identically-sized blocks of</a:t>
            </a:r>
          </a:p>
        </p:txBody>
      </p:sp>
      <p:sp>
        <p:nvSpPr>
          <p:cNvPr id="38" name="New shape">
            <a:extLst>
              <a:ext uri="{FF2B5EF4-FFF2-40B4-BE49-F238E27FC236}">
                <a16:creationId xmlns:a16="http://schemas.microsoft.com/office/drawing/2014/main" id="{ED9D192F-04C1-B564-62CD-102A0CEB7E4E}"/>
              </a:ext>
            </a:extLst>
          </p:cNvPr>
          <p:cNvSpPr/>
          <p:nvPr/>
        </p:nvSpPr>
        <p:spPr>
          <a:xfrm>
            <a:off x="1962796" y="3932693"/>
            <a:ext cx="109491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space called</a:t>
            </a:r>
          </a:p>
        </p:txBody>
      </p:sp>
      <p:sp>
        <p:nvSpPr>
          <p:cNvPr id="39" name="New shape">
            <a:extLst>
              <a:ext uri="{FF2B5EF4-FFF2-40B4-BE49-F238E27FC236}">
                <a16:creationId xmlns:a16="http://schemas.microsoft.com/office/drawing/2014/main" id="{A3C28D1C-D47D-29BD-A43F-7A5880E0607F}"/>
              </a:ext>
            </a:extLst>
          </p:cNvPr>
          <p:cNvSpPr/>
          <p:nvPr/>
        </p:nvSpPr>
        <p:spPr>
          <a:xfrm>
            <a:off x="3102748" y="3932693"/>
            <a:ext cx="85655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elements</a:t>
            </a:r>
          </a:p>
        </p:txBody>
      </p:sp>
      <p:sp>
        <p:nvSpPr>
          <p:cNvPr id="40" name="New shape">
            <a:extLst>
              <a:ext uri="{FF2B5EF4-FFF2-40B4-BE49-F238E27FC236}">
                <a16:creationId xmlns:a16="http://schemas.microsoft.com/office/drawing/2014/main" id="{7FB8E311-A436-B19C-6330-0CCBC678C29B}"/>
              </a:ext>
            </a:extLst>
          </p:cNvPr>
          <p:cNvSpPr/>
          <p:nvPr/>
        </p:nvSpPr>
        <p:spPr>
          <a:xfrm>
            <a:off x="3960760" y="3932693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41" name="New shape">
            <a:extLst>
              <a:ext uri="{FF2B5EF4-FFF2-40B4-BE49-F238E27FC236}">
                <a16:creationId xmlns:a16="http://schemas.microsoft.com/office/drawing/2014/main" id="{EF224E2C-5901-6B86-8B8F-C65E56A13709}"/>
              </a:ext>
            </a:extLst>
          </p:cNvPr>
          <p:cNvSpPr/>
          <p:nvPr/>
        </p:nvSpPr>
        <p:spPr>
          <a:xfrm>
            <a:off x="5420751" y="3357321"/>
            <a:ext cx="3157788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…which has been partitioned into</a:t>
            </a:r>
          </a:p>
        </p:txBody>
      </p:sp>
      <p:sp>
        <p:nvSpPr>
          <p:cNvPr id="42" name="New shape">
            <a:extLst>
              <a:ext uri="{FF2B5EF4-FFF2-40B4-BE49-F238E27FC236}">
                <a16:creationId xmlns:a16="http://schemas.microsoft.com/office/drawing/2014/main" id="{0D2B1DFD-636B-9048-A8DD-2321807307B7}"/>
              </a:ext>
            </a:extLst>
          </p:cNvPr>
          <p:cNvSpPr/>
          <p:nvPr/>
        </p:nvSpPr>
        <p:spPr>
          <a:xfrm>
            <a:off x="5420751" y="3624021"/>
            <a:ext cx="2990627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small, identically-sized blocks of</a:t>
            </a:r>
          </a:p>
        </p:txBody>
      </p:sp>
      <p:sp>
        <p:nvSpPr>
          <p:cNvPr id="43" name="New shape">
            <a:extLst>
              <a:ext uri="{FF2B5EF4-FFF2-40B4-BE49-F238E27FC236}">
                <a16:creationId xmlns:a16="http://schemas.microsoft.com/office/drawing/2014/main" id="{0CA8FF21-B408-0B39-C0E7-04A1E58C9F02}"/>
              </a:ext>
            </a:extLst>
          </p:cNvPr>
          <p:cNvSpPr/>
          <p:nvPr/>
        </p:nvSpPr>
        <p:spPr>
          <a:xfrm>
            <a:off x="5420751" y="3932693"/>
            <a:ext cx="109491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space called</a:t>
            </a:r>
          </a:p>
        </p:txBody>
      </p:sp>
      <p:sp>
        <p:nvSpPr>
          <p:cNvPr id="44" name="New shape">
            <a:extLst>
              <a:ext uri="{FF2B5EF4-FFF2-40B4-BE49-F238E27FC236}">
                <a16:creationId xmlns:a16="http://schemas.microsoft.com/office/drawing/2014/main" id="{A405A891-7474-52C2-94E8-E887039AB5C5}"/>
              </a:ext>
            </a:extLst>
          </p:cNvPr>
          <p:cNvSpPr/>
          <p:nvPr/>
        </p:nvSpPr>
        <p:spPr>
          <a:xfrm>
            <a:off x="6560702" y="3932693"/>
            <a:ext cx="1566871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post office boxes</a:t>
            </a:r>
          </a:p>
        </p:txBody>
      </p:sp>
      <p:sp>
        <p:nvSpPr>
          <p:cNvPr id="45" name="New shape">
            <a:extLst>
              <a:ext uri="{FF2B5EF4-FFF2-40B4-BE49-F238E27FC236}">
                <a16:creationId xmlns:a16="http://schemas.microsoft.com/office/drawing/2014/main" id="{D1D2D87B-4750-70A7-E9A7-64443ADD2DCB}"/>
              </a:ext>
            </a:extLst>
          </p:cNvPr>
          <p:cNvSpPr/>
          <p:nvPr/>
        </p:nvSpPr>
        <p:spPr>
          <a:xfrm>
            <a:off x="8116706" y="3932693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46" name="New shape">
            <a:extLst>
              <a:ext uri="{FF2B5EF4-FFF2-40B4-BE49-F238E27FC236}">
                <a16:creationId xmlns:a16="http://schemas.microsoft.com/office/drawing/2014/main" id="{8CC9F3F7-4264-DBAA-830B-D60A6CA928E7}"/>
              </a:ext>
            </a:extLst>
          </p:cNvPr>
          <p:cNvSpPr/>
          <p:nvPr/>
        </p:nvSpPr>
        <p:spPr>
          <a:xfrm>
            <a:off x="1962796" y="4230573"/>
            <a:ext cx="3246017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…each of which can store a certain</a:t>
            </a:r>
          </a:p>
        </p:txBody>
      </p:sp>
      <p:sp>
        <p:nvSpPr>
          <p:cNvPr id="47" name="New shape">
            <a:extLst>
              <a:ext uri="{FF2B5EF4-FFF2-40B4-BE49-F238E27FC236}">
                <a16:creationId xmlns:a16="http://schemas.microsoft.com/office/drawing/2014/main" id="{2491A392-454F-31D2-F3EE-CB83B2075558}"/>
              </a:ext>
            </a:extLst>
          </p:cNvPr>
          <p:cNvSpPr/>
          <p:nvPr/>
        </p:nvSpPr>
        <p:spPr>
          <a:xfrm>
            <a:off x="1962796" y="4539245"/>
            <a:ext cx="944772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amount of</a:t>
            </a:r>
          </a:p>
        </p:txBody>
      </p:sp>
      <p:sp>
        <p:nvSpPr>
          <p:cNvPr id="48" name="New shape">
            <a:extLst>
              <a:ext uri="{FF2B5EF4-FFF2-40B4-BE49-F238E27FC236}">
                <a16:creationId xmlns:a16="http://schemas.microsoft.com/office/drawing/2014/main" id="{BEA73BF7-6974-09B8-B4BA-279E2C7F5087}"/>
              </a:ext>
            </a:extLst>
          </p:cNvPr>
          <p:cNvSpPr/>
          <p:nvPr/>
        </p:nvSpPr>
        <p:spPr>
          <a:xfrm>
            <a:off x="2954920" y="4539245"/>
            <a:ext cx="416217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data</a:t>
            </a:r>
          </a:p>
        </p:txBody>
      </p:sp>
      <p:sp>
        <p:nvSpPr>
          <p:cNvPr id="49" name="New shape">
            <a:extLst>
              <a:ext uri="{FF2B5EF4-FFF2-40B4-BE49-F238E27FC236}">
                <a16:creationId xmlns:a16="http://schemas.microsoft.com/office/drawing/2014/main" id="{D2EA7BE0-B376-3002-488E-56501FDE0C04}"/>
              </a:ext>
            </a:extLst>
          </p:cNvPr>
          <p:cNvSpPr/>
          <p:nvPr/>
        </p:nvSpPr>
        <p:spPr>
          <a:xfrm>
            <a:off x="3367923" y="4539245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50" name="New shape">
            <a:extLst>
              <a:ext uri="{FF2B5EF4-FFF2-40B4-BE49-F238E27FC236}">
                <a16:creationId xmlns:a16="http://schemas.microsoft.com/office/drawing/2014/main" id="{7644300B-D033-16D3-8912-ABAD398006FB}"/>
              </a:ext>
            </a:extLst>
          </p:cNvPr>
          <p:cNvSpPr/>
          <p:nvPr/>
        </p:nvSpPr>
        <p:spPr>
          <a:xfrm>
            <a:off x="5420751" y="4230573"/>
            <a:ext cx="3187924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…each of which can hold a certain</a:t>
            </a:r>
          </a:p>
        </p:txBody>
      </p:sp>
      <p:sp>
        <p:nvSpPr>
          <p:cNvPr id="51" name="New shape">
            <a:extLst>
              <a:ext uri="{FF2B5EF4-FFF2-40B4-BE49-F238E27FC236}">
                <a16:creationId xmlns:a16="http://schemas.microsoft.com/office/drawing/2014/main" id="{9193BF51-CD62-0B8C-B4E2-B88FB033BD9A}"/>
              </a:ext>
            </a:extLst>
          </p:cNvPr>
          <p:cNvSpPr/>
          <p:nvPr/>
        </p:nvSpPr>
        <p:spPr>
          <a:xfrm>
            <a:off x="5420751" y="4539245"/>
            <a:ext cx="944772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amount of</a:t>
            </a:r>
          </a:p>
        </p:txBody>
      </p:sp>
      <p:sp>
        <p:nvSpPr>
          <p:cNvPr id="52" name="New shape">
            <a:extLst>
              <a:ext uri="{FF2B5EF4-FFF2-40B4-BE49-F238E27FC236}">
                <a16:creationId xmlns:a16="http://schemas.microsoft.com/office/drawing/2014/main" id="{A6AE82E5-02A6-FFCA-BB11-DD2B4DE5ACED}"/>
              </a:ext>
            </a:extLst>
          </p:cNvPr>
          <p:cNvSpPr/>
          <p:nvPr/>
        </p:nvSpPr>
        <p:spPr>
          <a:xfrm>
            <a:off x="6412874" y="4539245"/>
            <a:ext cx="40002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mail</a:t>
            </a:r>
          </a:p>
        </p:txBody>
      </p:sp>
      <p:sp>
        <p:nvSpPr>
          <p:cNvPr id="53" name="New shape">
            <a:extLst>
              <a:ext uri="{FF2B5EF4-FFF2-40B4-BE49-F238E27FC236}">
                <a16:creationId xmlns:a16="http://schemas.microsoft.com/office/drawing/2014/main" id="{D58E685C-623E-17C4-D9A3-8F85AFF31BD2}"/>
              </a:ext>
            </a:extLst>
          </p:cNvPr>
          <p:cNvSpPr/>
          <p:nvPr/>
        </p:nvSpPr>
        <p:spPr>
          <a:xfrm>
            <a:off x="6813686" y="4539245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54" name="New shape">
            <a:extLst>
              <a:ext uri="{FF2B5EF4-FFF2-40B4-BE49-F238E27FC236}">
                <a16:creationId xmlns:a16="http://schemas.microsoft.com/office/drawing/2014/main" id="{68DD3159-3828-68B5-A06F-67DE423E65E5}"/>
              </a:ext>
            </a:extLst>
          </p:cNvPr>
          <p:cNvSpPr/>
          <p:nvPr/>
        </p:nvSpPr>
        <p:spPr>
          <a:xfrm>
            <a:off x="1962796" y="4837126"/>
            <a:ext cx="3224537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…all of the same data type such as</a:t>
            </a:r>
          </a:p>
        </p:txBody>
      </p:sp>
      <p:sp>
        <p:nvSpPr>
          <p:cNvPr id="55" name="New shape">
            <a:extLst>
              <a:ext uri="{FF2B5EF4-FFF2-40B4-BE49-F238E27FC236}">
                <a16:creationId xmlns:a16="http://schemas.microsoft.com/office/drawing/2014/main" id="{CEF00745-DC81-088B-4032-A8CD45BE4AB6}"/>
              </a:ext>
            </a:extLst>
          </p:cNvPr>
          <p:cNvSpPr/>
          <p:nvPr/>
        </p:nvSpPr>
        <p:spPr>
          <a:xfrm>
            <a:off x="1962796" y="5147320"/>
            <a:ext cx="367001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onsolas"/>
              </a:rPr>
              <a:t>int</a:t>
            </a:r>
          </a:p>
        </p:txBody>
      </p:sp>
      <p:sp>
        <p:nvSpPr>
          <p:cNvPr id="56" name="New shape">
            <a:extLst>
              <a:ext uri="{FF2B5EF4-FFF2-40B4-BE49-F238E27FC236}">
                <a16:creationId xmlns:a16="http://schemas.microsoft.com/office/drawing/2014/main" id="{381C6619-19B5-1D66-FE1C-B469038948D5}"/>
              </a:ext>
            </a:extLst>
          </p:cNvPr>
          <p:cNvSpPr/>
          <p:nvPr/>
        </p:nvSpPr>
        <p:spPr>
          <a:xfrm>
            <a:off x="2380372" y="5147320"/>
            <a:ext cx="194800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or</a:t>
            </a:r>
          </a:p>
        </p:txBody>
      </p:sp>
      <p:sp>
        <p:nvSpPr>
          <p:cNvPr id="57" name="New shape">
            <a:extLst>
              <a:ext uri="{FF2B5EF4-FFF2-40B4-BE49-F238E27FC236}">
                <a16:creationId xmlns:a16="http://schemas.microsoft.com/office/drawing/2014/main" id="{DFC22F5A-751C-874B-866F-D276B92A22C8}"/>
              </a:ext>
            </a:extLst>
          </p:cNvPr>
          <p:cNvSpPr/>
          <p:nvPr/>
        </p:nvSpPr>
        <p:spPr>
          <a:xfrm>
            <a:off x="2625736" y="5147320"/>
            <a:ext cx="48933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onsolas"/>
              </a:rPr>
              <a:t>char</a:t>
            </a:r>
          </a:p>
        </p:txBody>
      </p:sp>
      <p:sp>
        <p:nvSpPr>
          <p:cNvPr id="58" name="New shape">
            <a:extLst>
              <a:ext uri="{FF2B5EF4-FFF2-40B4-BE49-F238E27FC236}">
                <a16:creationId xmlns:a16="http://schemas.microsoft.com/office/drawing/2014/main" id="{0348FCC7-4E58-12D4-9553-A0492647E1D7}"/>
              </a:ext>
            </a:extLst>
          </p:cNvPr>
          <p:cNvSpPr/>
          <p:nvPr/>
        </p:nvSpPr>
        <p:spPr>
          <a:xfrm>
            <a:off x="3113416" y="5147320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59" name="New shape">
            <a:extLst>
              <a:ext uri="{FF2B5EF4-FFF2-40B4-BE49-F238E27FC236}">
                <a16:creationId xmlns:a16="http://schemas.microsoft.com/office/drawing/2014/main" id="{F8F97A13-7494-8624-F825-13C0B70B4FD3}"/>
              </a:ext>
            </a:extLst>
          </p:cNvPr>
          <p:cNvSpPr/>
          <p:nvPr/>
        </p:nvSpPr>
        <p:spPr>
          <a:xfrm>
            <a:off x="5420750" y="4837126"/>
            <a:ext cx="2690801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…all of a similar type such as</a:t>
            </a:r>
          </a:p>
        </p:txBody>
      </p:sp>
      <p:sp>
        <p:nvSpPr>
          <p:cNvPr id="60" name="New shape">
            <a:extLst>
              <a:ext uri="{FF2B5EF4-FFF2-40B4-BE49-F238E27FC236}">
                <a16:creationId xmlns:a16="http://schemas.microsoft.com/office/drawing/2014/main" id="{3D827652-CFD5-00AC-E4A9-20AEA711F5FD}"/>
              </a:ext>
            </a:extLst>
          </p:cNvPr>
          <p:cNvSpPr/>
          <p:nvPr/>
        </p:nvSpPr>
        <p:spPr>
          <a:xfrm>
            <a:off x="8034410" y="4879098"/>
            <a:ext cx="600478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letters</a:t>
            </a:r>
          </a:p>
        </p:txBody>
      </p:sp>
      <p:sp>
        <p:nvSpPr>
          <p:cNvPr id="61" name="New shape">
            <a:extLst>
              <a:ext uri="{FF2B5EF4-FFF2-40B4-BE49-F238E27FC236}">
                <a16:creationId xmlns:a16="http://schemas.microsoft.com/office/drawing/2014/main" id="{610C8EF8-A062-37B0-A06A-43D8B22F2B62}"/>
              </a:ext>
            </a:extLst>
          </p:cNvPr>
          <p:cNvSpPr/>
          <p:nvPr/>
        </p:nvSpPr>
        <p:spPr>
          <a:xfrm>
            <a:off x="5420751" y="5145797"/>
            <a:ext cx="194800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or</a:t>
            </a:r>
          </a:p>
        </p:txBody>
      </p:sp>
      <p:sp>
        <p:nvSpPr>
          <p:cNvPr id="62" name="New shape">
            <a:extLst>
              <a:ext uri="{FF2B5EF4-FFF2-40B4-BE49-F238E27FC236}">
                <a16:creationId xmlns:a16="http://schemas.microsoft.com/office/drawing/2014/main" id="{7F6E663B-2465-F138-2DC0-B57E62565088}"/>
              </a:ext>
            </a:extLst>
          </p:cNvPr>
          <p:cNvSpPr/>
          <p:nvPr/>
        </p:nvSpPr>
        <p:spPr>
          <a:xfrm>
            <a:off x="5666115" y="5145797"/>
            <a:ext cx="1383913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small packages</a:t>
            </a:r>
          </a:p>
        </p:txBody>
      </p:sp>
      <p:sp>
        <p:nvSpPr>
          <p:cNvPr id="63" name="New shape">
            <a:extLst>
              <a:ext uri="{FF2B5EF4-FFF2-40B4-BE49-F238E27FC236}">
                <a16:creationId xmlns:a16="http://schemas.microsoft.com/office/drawing/2014/main" id="{59BCA81F-0525-14A7-D9B4-F68C77B69448}"/>
              </a:ext>
            </a:extLst>
          </p:cNvPr>
          <p:cNvSpPr/>
          <p:nvPr/>
        </p:nvSpPr>
        <p:spPr>
          <a:xfrm>
            <a:off x="7040762" y="5145797"/>
            <a:ext cx="153515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…</a:t>
            </a:r>
          </a:p>
        </p:txBody>
      </p:sp>
      <p:sp>
        <p:nvSpPr>
          <p:cNvPr id="64" name="New shape">
            <a:extLst>
              <a:ext uri="{FF2B5EF4-FFF2-40B4-BE49-F238E27FC236}">
                <a16:creationId xmlns:a16="http://schemas.microsoft.com/office/drawing/2014/main" id="{B7790B62-B587-3CC5-2B80-306113AA71F9}"/>
              </a:ext>
            </a:extLst>
          </p:cNvPr>
          <p:cNvSpPr/>
          <p:nvPr/>
        </p:nvSpPr>
        <p:spPr>
          <a:xfrm>
            <a:off x="1962796" y="5443677"/>
            <a:ext cx="3437801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…and which can be accessed directly</a:t>
            </a:r>
          </a:p>
        </p:txBody>
      </p:sp>
      <p:sp>
        <p:nvSpPr>
          <p:cNvPr id="65" name="New shape">
            <a:extLst>
              <a:ext uri="{FF2B5EF4-FFF2-40B4-BE49-F238E27FC236}">
                <a16:creationId xmlns:a16="http://schemas.microsoft.com/office/drawing/2014/main" id="{3526C0FB-863C-3920-4365-06C404802D69}"/>
              </a:ext>
            </a:extLst>
          </p:cNvPr>
          <p:cNvSpPr/>
          <p:nvPr/>
        </p:nvSpPr>
        <p:spPr>
          <a:xfrm>
            <a:off x="1962796" y="5752349"/>
            <a:ext cx="490964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by an</a:t>
            </a:r>
          </a:p>
        </p:txBody>
      </p:sp>
      <p:sp>
        <p:nvSpPr>
          <p:cNvPr id="66" name="New shape">
            <a:extLst>
              <a:ext uri="{FF2B5EF4-FFF2-40B4-BE49-F238E27FC236}">
                <a16:creationId xmlns:a16="http://schemas.microsoft.com/office/drawing/2014/main" id="{0FCCBFA1-91BB-092C-010F-D57786AF9119}"/>
              </a:ext>
            </a:extLst>
          </p:cNvPr>
          <p:cNvSpPr/>
          <p:nvPr/>
        </p:nvSpPr>
        <p:spPr>
          <a:xfrm>
            <a:off x="2502292" y="5752349"/>
            <a:ext cx="507478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>
                <a:solidFill>
                  <a:srgbClr val="000000"/>
                </a:solidFill>
                <a:latin typeface="Calibri"/>
              </a:rPr>
              <a:t>index</a:t>
            </a:r>
          </a:p>
        </p:txBody>
      </p:sp>
      <p:sp>
        <p:nvSpPr>
          <p:cNvPr id="67" name="New shape">
            <a:extLst>
              <a:ext uri="{FF2B5EF4-FFF2-40B4-BE49-F238E27FC236}">
                <a16:creationId xmlns:a16="http://schemas.microsoft.com/office/drawing/2014/main" id="{EC830857-E896-1CCC-09A3-BFF56DE8FCB0}"/>
              </a:ext>
            </a:extLst>
          </p:cNvPr>
          <p:cNvSpPr/>
          <p:nvPr/>
        </p:nvSpPr>
        <p:spPr>
          <a:xfrm>
            <a:off x="3006736" y="5752349"/>
            <a:ext cx="56061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68" name="New shape">
            <a:extLst>
              <a:ext uri="{FF2B5EF4-FFF2-40B4-BE49-F238E27FC236}">
                <a16:creationId xmlns:a16="http://schemas.microsoft.com/office/drawing/2014/main" id="{944EF927-DB58-CA88-5185-4A7F1A5E4C2F}"/>
              </a:ext>
            </a:extLst>
          </p:cNvPr>
          <p:cNvSpPr/>
          <p:nvPr/>
        </p:nvSpPr>
        <p:spPr>
          <a:xfrm>
            <a:off x="5420750" y="5443677"/>
            <a:ext cx="3437801" cy="31579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dirty="0">
                <a:solidFill>
                  <a:srgbClr val="000000"/>
                </a:solidFill>
                <a:latin typeface="Calibri"/>
              </a:rPr>
              <a:t>…and which can be accessed directly</a:t>
            </a:r>
          </a:p>
        </p:txBody>
      </p:sp>
      <p:sp>
        <p:nvSpPr>
          <p:cNvPr id="69" name="New shape">
            <a:extLst>
              <a:ext uri="{FF2B5EF4-FFF2-40B4-BE49-F238E27FC236}">
                <a16:creationId xmlns:a16="http://schemas.microsoft.com/office/drawing/2014/main" id="{FE0F203E-1B9D-EDBA-C7BB-DB00A3BBE777}"/>
              </a:ext>
            </a:extLst>
          </p:cNvPr>
          <p:cNvSpPr/>
          <p:nvPr/>
        </p:nvSpPr>
        <p:spPr>
          <a:xfrm>
            <a:off x="5420751" y="5752349"/>
            <a:ext cx="374172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by a</a:t>
            </a:r>
          </a:p>
        </p:txBody>
      </p:sp>
      <p:sp>
        <p:nvSpPr>
          <p:cNvPr id="70" name="New shape">
            <a:extLst>
              <a:ext uri="{FF2B5EF4-FFF2-40B4-BE49-F238E27FC236}">
                <a16:creationId xmlns:a16="http://schemas.microsoft.com/office/drawing/2014/main" id="{FA6B91DB-1AA1-37D1-36DE-152D33673B42}"/>
              </a:ext>
            </a:extLst>
          </p:cNvPr>
          <p:cNvSpPr/>
          <p:nvPr/>
        </p:nvSpPr>
        <p:spPr>
          <a:xfrm>
            <a:off x="5844422" y="5752349"/>
            <a:ext cx="1521349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 b="1" dirty="0">
                <a:solidFill>
                  <a:srgbClr val="000000"/>
                </a:solidFill>
                <a:latin typeface="Calibri"/>
              </a:rPr>
              <a:t>mailbox number</a:t>
            </a:r>
          </a:p>
        </p:txBody>
      </p:sp>
      <p:sp>
        <p:nvSpPr>
          <p:cNvPr id="71" name="New shape">
            <a:extLst>
              <a:ext uri="{FF2B5EF4-FFF2-40B4-BE49-F238E27FC236}">
                <a16:creationId xmlns:a16="http://schemas.microsoft.com/office/drawing/2014/main" id="{C9517C7C-8E80-8928-EE60-273C2C4C969A}"/>
              </a:ext>
            </a:extLst>
          </p:cNvPr>
          <p:cNvSpPr/>
          <p:nvPr/>
        </p:nvSpPr>
        <p:spPr>
          <a:xfrm>
            <a:off x="7359278" y="5752349"/>
            <a:ext cx="56061" cy="23184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752">
                <a:solidFill>
                  <a:srgbClr val="000000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9704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125173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Arrays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7" y="2241002"/>
            <a:ext cx="6350605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In C, the elements of an array are indexed starting</a:t>
            </a:r>
          </a:p>
        </p:txBody>
      </p:sp>
      <p:sp>
        <p:nvSpPr>
          <p:cNvPr id="6" name="New shape"/>
          <p:cNvSpPr/>
          <p:nvPr/>
        </p:nvSpPr>
        <p:spPr>
          <a:xfrm>
            <a:off x="2153296" y="2577805"/>
            <a:ext cx="925818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from 0.</a:t>
            </a:r>
          </a:p>
        </p:txBody>
      </p:sp>
      <p:sp>
        <p:nvSpPr>
          <p:cNvPr id="7" name="New shape"/>
          <p:cNvSpPr/>
          <p:nvPr/>
        </p:nvSpPr>
        <p:spPr>
          <a:xfrm>
            <a:off x="2195968" y="3133631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8" name="New shape"/>
          <p:cNvSpPr/>
          <p:nvPr/>
        </p:nvSpPr>
        <p:spPr>
          <a:xfrm>
            <a:off x="2453524" y="2974623"/>
            <a:ext cx="6102633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This is one of the major reasons we count from zero!</a:t>
            </a:r>
          </a:p>
        </p:txBody>
      </p:sp>
      <p:sp>
        <p:nvSpPr>
          <p:cNvPr id="9" name="New shape"/>
          <p:cNvSpPr/>
          <p:nvPr/>
        </p:nvSpPr>
        <p:spPr>
          <a:xfrm>
            <a:off x="1895740" y="4009483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0" name="New shape"/>
          <p:cNvSpPr/>
          <p:nvPr/>
        </p:nvSpPr>
        <p:spPr>
          <a:xfrm>
            <a:off x="2153296" y="3883873"/>
            <a:ext cx="2690197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If an array consists of</a:t>
            </a:r>
          </a:p>
        </p:txBody>
      </p:sp>
      <p:sp>
        <p:nvSpPr>
          <p:cNvPr id="11" name="New shape"/>
          <p:cNvSpPr/>
          <p:nvPr/>
        </p:nvSpPr>
        <p:spPr>
          <a:xfrm>
            <a:off x="4891923" y="3883873"/>
            <a:ext cx="160481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12" name="New shape"/>
          <p:cNvSpPr/>
          <p:nvPr/>
        </p:nvSpPr>
        <p:spPr>
          <a:xfrm>
            <a:off x="5123571" y="3883873"/>
            <a:ext cx="3449738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elements, the first element</a:t>
            </a:r>
          </a:p>
        </p:txBody>
      </p:sp>
      <p:sp>
        <p:nvSpPr>
          <p:cNvPr id="13" name="New shape"/>
          <p:cNvSpPr/>
          <p:nvPr/>
        </p:nvSpPr>
        <p:spPr>
          <a:xfrm>
            <a:off x="2153296" y="4220676"/>
            <a:ext cx="6385385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is located at index 0. The last element is located at</a:t>
            </a:r>
          </a:p>
        </p:txBody>
      </p:sp>
      <p:sp>
        <p:nvSpPr>
          <p:cNvPr id="14" name="New shape"/>
          <p:cNvSpPr/>
          <p:nvPr/>
        </p:nvSpPr>
        <p:spPr>
          <a:xfrm>
            <a:off x="2153296" y="4555957"/>
            <a:ext cx="689978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index</a:t>
            </a:r>
          </a:p>
        </p:txBody>
      </p:sp>
      <p:sp>
        <p:nvSpPr>
          <p:cNvPr id="15" name="New shape"/>
          <p:cNvSpPr/>
          <p:nvPr/>
        </p:nvSpPr>
        <p:spPr>
          <a:xfrm>
            <a:off x="2909200" y="4555957"/>
            <a:ext cx="255062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i="1">
                <a:solidFill>
                  <a:srgbClr val="000000"/>
                </a:solidFill>
                <a:latin typeface="Calibri"/>
              </a:rPr>
              <a:t>(n</a:t>
            </a:r>
          </a:p>
        </p:txBody>
      </p:sp>
      <p:sp>
        <p:nvSpPr>
          <p:cNvPr id="16" name="New shape"/>
          <p:cNvSpPr/>
          <p:nvPr/>
        </p:nvSpPr>
        <p:spPr>
          <a:xfrm>
            <a:off x="3163708" y="4555957"/>
            <a:ext cx="427137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-1).</a:t>
            </a:r>
          </a:p>
        </p:txBody>
      </p:sp>
      <p:sp>
        <p:nvSpPr>
          <p:cNvPr id="17" name="New shape"/>
          <p:cNvSpPr/>
          <p:nvPr/>
        </p:nvSpPr>
        <p:spPr>
          <a:xfrm>
            <a:off x="1895740" y="5577678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8" name="New shape"/>
          <p:cNvSpPr/>
          <p:nvPr/>
        </p:nvSpPr>
        <p:spPr>
          <a:xfrm>
            <a:off x="2153296" y="5402472"/>
            <a:ext cx="6533263" cy="42473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dirty="0">
                <a:solidFill>
                  <a:srgbClr val="000000"/>
                </a:solidFill>
                <a:latin typeface="Calibri"/>
              </a:rPr>
              <a:t>C is very lenient. It will not prevent you from going</a:t>
            </a:r>
          </a:p>
        </p:txBody>
      </p:sp>
      <p:sp>
        <p:nvSpPr>
          <p:cNvPr id="19" name="New shape"/>
          <p:cNvSpPr/>
          <p:nvPr/>
        </p:nvSpPr>
        <p:spPr>
          <a:xfrm>
            <a:off x="2153297" y="5788872"/>
            <a:ext cx="5268424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“out of bounds” of your array; be careful!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125173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Arrays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7" y="2241002"/>
            <a:ext cx="2317521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Array declarations</a:t>
            </a:r>
          </a:p>
        </p:txBody>
      </p:sp>
      <p:sp>
        <p:nvSpPr>
          <p:cNvPr id="6" name="New shape"/>
          <p:cNvSpPr/>
          <p:nvPr/>
        </p:nvSpPr>
        <p:spPr>
          <a:xfrm>
            <a:off x="2195969" y="4107467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7" name="New shape"/>
          <p:cNvSpPr/>
          <p:nvPr/>
        </p:nvSpPr>
        <p:spPr>
          <a:xfrm>
            <a:off x="2453525" y="3995195"/>
            <a:ext cx="420925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The</a:t>
            </a:r>
          </a:p>
        </p:txBody>
      </p:sp>
      <p:sp>
        <p:nvSpPr>
          <p:cNvPr id="8" name="New shape"/>
          <p:cNvSpPr/>
          <p:nvPr/>
        </p:nvSpPr>
        <p:spPr>
          <a:xfrm>
            <a:off x="2938157" y="3995196"/>
            <a:ext cx="613344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9900"/>
                </a:solidFill>
                <a:latin typeface="Consolas"/>
              </a:rPr>
              <a:t>type</a:t>
            </a:r>
          </a:p>
        </p:txBody>
      </p:sp>
      <p:sp>
        <p:nvSpPr>
          <p:cNvPr id="9" name="New shape"/>
          <p:cNvSpPr/>
          <p:nvPr/>
        </p:nvSpPr>
        <p:spPr>
          <a:xfrm>
            <a:off x="3611764" y="3948458"/>
            <a:ext cx="5087547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is what kind of variable each element of the</a:t>
            </a:r>
          </a:p>
        </p:txBody>
      </p:sp>
      <p:sp>
        <p:nvSpPr>
          <p:cNvPr id="10" name="New shape"/>
          <p:cNvSpPr/>
          <p:nvPr/>
        </p:nvSpPr>
        <p:spPr>
          <a:xfrm>
            <a:off x="2453525" y="4295423"/>
            <a:ext cx="1459416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array will be.</a:t>
            </a:r>
          </a:p>
        </p:txBody>
      </p:sp>
      <p:sp>
        <p:nvSpPr>
          <p:cNvPr id="11" name="New shape"/>
          <p:cNvSpPr/>
          <p:nvPr/>
        </p:nvSpPr>
        <p:spPr>
          <a:xfrm>
            <a:off x="2195969" y="4819175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2" name="New shape"/>
          <p:cNvSpPr/>
          <p:nvPr/>
        </p:nvSpPr>
        <p:spPr>
          <a:xfrm>
            <a:off x="2453525" y="4706904"/>
            <a:ext cx="420925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The</a:t>
            </a:r>
          </a:p>
        </p:txBody>
      </p:sp>
      <p:sp>
        <p:nvSpPr>
          <p:cNvPr id="13" name="New shape"/>
          <p:cNvSpPr/>
          <p:nvPr/>
        </p:nvSpPr>
        <p:spPr>
          <a:xfrm>
            <a:off x="2938157" y="4706904"/>
            <a:ext cx="613344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FF0000"/>
                </a:solidFill>
                <a:latin typeface="Consolas"/>
              </a:rPr>
              <a:t>name</a:t>
            </a:r>
          </a:p>
        </p:txBody>
      </p:sp>
      <p:sp>
        <p:nvSpPr>
          <p:cNvPr id="14" name="New shape"/>
          <p:cNvSpPr/>
          <p:nvPr/>
        </p:nvSpPr>
        <p:spPr>
          <a:xfrm>
            <a:off x="3611764" y="4660166"/>
            <a:ext cx="4059894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is what you want to call your array.</a:t>
            </a:r>
          </a:p>
        </p:txBody>
      </p:sp>
      <p:sp>
        <p:nvSpPr>
          <p:cNvPr id="15" name="New shape"/>
          <p:cNvSpPr/>
          <p:nvPr/>
        </p:nvSpPr>
        <p:spPr>
          <a:xfrm>
            <a:off x="2195968" y="5232178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6" name="New shape"/>
          <p:cNvSpPr/>
          <p:nvPr/>
        </p:nvSpPr>
        <p:spPr>
          <a:xfrm>
            <a:off x="2453524" y="5119908"/>
            <a:ext cx="420925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The</a:t>
            </a:r>
          </a:p>
        </p:txBody>
      </p:sp>
      <p:sp>
        <p:nvSpPr>
          <p:cNvPr id="17" name="New shape"/>
          <p:cNvSpPr/>
          <p:nvPr/>
        </p:nvSpPr>
        <p:spPr>
          <a:xfrm>
            <a:off x="2938157" y="5119908"/>
            <a:ext cx="613344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3265FF"/>
                </a:solidFill>
                <a:latin typeface="Consolas"/>
              </a:rPr>
              <a:t>size</a:t>
            </a:r>
          </a:p>
        </p:txBody>
      </p:sp>
      <p:sp>
        <p:nvSpPr>
          <p:cNvPr id="18" name="New shape"/>
          <p:cNvSpPr/>
          <p:nvPr/>
        </p:nvSpPr>
        <p:spPr>
          <a:xfrm>
            <a:off x="3611764" y="5073170"/>
            <a:ext cx="4935069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is how many elements you would like your</a:t>
            </a:r>
          </a:p>
        </p:txBody>
      </p:sp>
      <p:sp>
        <p:nvSpPr>
          <p:cNvPr id="19" name="New shape"/>
          <p:cNvSpPr/>
          <p:nvPr/>
        </p:nvSpPr>
        <p:spPr>
          <a:xfrm>
            <a:off x="2453525" y="5420136"/>
            <a:ext cx="1872307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array to contain.</a:t>
            </a:r>
          </a:p>
        </p:txBody>
      </p:sp>
      <p:sp>
        <p:nvSpPr>
          <p:cNvPr id="20" name="New shape"/>
          <p:cNvSpPr/>
          <p:nvPr/>
        </p:nvSpPr>
        <p:spPr>
          <a:xfrm>
            <a:off x="4079632" y="3086606"/>
            <a:ext cx="623399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9900"/>
                </a:solidFill>
                <a:latin typeface="Consolas"/>
              </a:rPr>
              <a:t>type</a:t>
            </a:r>
          </a:p>
        </p:txBody>
      </p:sp>
      <p:sp>
        <p:nvSpPr>
          <p:cNvPr id="21" name="New shape"/>
          <p:cNvSpPr/>
          <p:nvPr/>
        </p:nvSpPr>
        <p:spPr>
          <a:xfrm>
            <a:off x="4856871" y="3086606"/>
            <a:ext cx="623399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FF0000"/>
                </a:solidFill>
                <a:latin typeface="Consolas"/>
              </a:rPr>
              <a:t>name</a:t>
            </a:r>
          </a:p>
        </p:txBody>
      </p:sp>
      <p:sp>
        <p:nvSpPr>
          <p:cNvPr id="22" name="New shape"/>
          <p:cNvSpPr/>
          <p:nvPr/>
        </p:nvSpPr>
        <p:spPr>
          <a:xfrm>
            <a:off x="5478663" y="3086606"/>
            <a:ext cx="155850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[</a:t>
            </a:r>
          </a:p>
        </p:txBody>
      </p:sp>
      <p:sp>
        <p:nvSpPr>
          <p:cNvPr id="23" name="New shape"/>
          <p:cNvSpPr/>
          <p:nvPr/>
        </p:nvSpPr>
        <p:spPr>
          <a:xfrm>
            <a:off x="5632588" y="3086606"/>
            <a:ext cx="623399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3265FF"/>
                </a:solidFill>
                <a:latin typeface="Consolas"/>
              </a:rPr>
              <a:t>size</a:t>
            </a:r>
          </a:p>
        </p:txBody>
      </p:sp>
      <p:sp>
        <p:nvSpPr>
          <p:cNvPr id="24" name="New shape"/>
          <p:cNvSpPr/>
          <p:nvPr/>
        </p:nvSpPr>
        <p:spPr>
          <a:xfrm>
            <a:off x="6254379" y="3086606"/>
            <a:ext cx="311700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];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125173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Arrays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7" y="2241002"/>
            <a:ext cx="2317521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Array declarations</a:t>
            </a:r>
          </a:p>
        </p:txBody>
      </p:sp>
      <p:sp>
        <p:nvSpPr>
          <p:cNvPr id="6" name="New shape"/>
          <p:cNvSpPr/>
          <p:nvPr/>
        </p:nvSpPr>
        <p:spPr>
          <a:xfrm>
            <a:off x="2195969" y="4107467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7" name="New shape"/>
          <p:cNvSpPr/>
          <p:nvPr/>
        </p:nvSpPr>
        <p:spPr>
          <a:xfrm>
            <a:off x="2453525" y="3995195"/>
            <a:ext cx="420925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The</a:t>
            </a:r>
          </a:p>
        </p:txBody>
      </p:sp>
      <p:sp>
        <p:nvSpPr>
          <p:cNvPr id="8" name="New shape"/>
          <p:cNvSpPr/>
          <p:nvPr/>
        </p:nvSpPr>
        <p:spPr>
          <a:xfrm>
            <a:off x="2938157" y="3995196"/>
            <a:ext cx="613344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9900"/>
                </a:solidFill>
                <a:latin typeface="Consolas"/>
              </a:rPr>
              <a:t>type</a:t>
            </a:r>
          </a:p>
        </p:txBody>
      </p:sp>
      <p:sp>
        <p:nvSpPr>
          <p:cNvPr id="9" name="New shape"/>
          <p:cNvSpPr/>
          <p:nvPr/>
        </p:nvSpPr>
        <p:spPr>
          <a:xfrm>
            <a:off x="3611764" y="3948458"/>
            <a:ext cx="5087547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is what kind of variable each element of the</a:t>
            </a:r>
          </a:p>
        </p:txBody>
      </p:sp>
      <p:sp>
        <p:nvSpPr>
          <p:cNvPr id="10" name="New shape"/>
          <p:cNvSpPr/>
          <p:nvPr/>
        </p:nvSpPr>
        <p:spPr>
          <a:xfrm>
            <a:off x="2453525" y="4295423"/>
            <a:ext cx="1459416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array will be.</a:t>
            </a:r>
          </a:p>
        </p:txBody>
      </p:sp>
      <p:sp>
        <p:nvSpPr>
          <p:cNvPr id="11" name="New shape"/>
          <p:cNvSpPr/>
          <p:nvPr/>
        </p:nvSpPr>
        <p:spPr>
          <a:xfrm>
            <a:off x="2195969" y="4819175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2" name="New shape"/>
          <p:cNvSpPr/>
          <p:nvPr/>
        </p:nvSpPr>
        <p:spPr>
          <a:xfrm>
            <a:off x="2453525" y="4706904"/>
            <a:ext cx="420925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The</a:t>
            </a:r>
          </a:p>
        </p:txBody>
      </p:sp>
      <p:sp>
        <p:nvSpPr>
          <p:cNvPr id="13" name="New shape"/>
          <p:cNvSpPr/>
          <p:nvPr/>
        </p:nvSpPr>
        <p:spPr>
          <a:xfrm>
            <a:off x="2938157" y="4706904"/>
            <a:ext cx="613344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FF0000"/>
                </a:solidFill>
                <a:latin typeface="Consolas"/>
              </a:rPr>
              <a:t>name</a:t>
            </a:r>
          </a:p>
        </p:txBody>
      </p:sp>
      <p:sp>
        <p:nvSpPr>
          <p:cNvPr id="14" name="New shape"/>
          <p:cNvSpPr/>
          <p:nvPr/>
        </p:nvSpPr>
        <p:spPr>
          <a:xfrm>
            <a:off x="3611764" y="4660166"/>
            <a:ext cx="4059894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is what you want to call your array.</a:t>
            </a:r>
          </a:p>
        </p:txBody>
      </p:sp>
      <p:sp>
        <p:nvSpPr>
          <p:cNvPr id="15" name="New shape"/>
          <p:cNvSpPr/>
          <p:nvPr/>
        </p:nvSpPr>
        <p:spPr>
          <a:xfrm>
            <a:off x="2195968" y="5232178"/>
            <a:ext cx="75420" cy="13021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8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6" name="New shape"/>
          <p:cNvSpPr/>
          <p:nvPr/>
        </p:nvSpPr>
        <p:spPr>
          <a:xfrm>
            <a:off x="2453524" y="5119908"/>
            <a:ext cx="420925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The</a:t>
            </a:r>
          </a:p>
        </p:txBody>
      </p:sp>
      <p:sp>
        <p:nvSpPr>
          <p:cNvPr id="17" name="New shape"/>
          <p:cNvSpPr/>
          <p:nvPr/>
        </p:nvSpPr>
        <p:spPr>
          <a:xfrm>
            <a:off x="2938157" y="5119908"/>
            <a:ext cx="613344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3265FF"/>
                </a:solidFill>
                <a:latin typeface="Consolas"/>
              </a:rPr>
              <a:t>size</a:t>
            </a:r>
          </a:p>
        </p:txBody>
      </p:sp>
      <p:sp>
        <p:nvSpPr>
          <p:cNvPr id="18" name="New shape"/>
          <p:cNvSpPr/>
          <p:nvPr/>
        </p:nvSpPr>
        <p:spPr>
          <a:xfrm>
            <a:off x="3611764" y="5073170"/>
            <a:ext cx="4935069" cy="38408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 dirty="0">
                <a:solidFill>
                  <a:srgbClr val="000000"/>
                </a:solidFill>
                <a:latin typeface="Calibri"/>
              </a:rPr>
              <a:t>is how many elements you would like your</a:t>
            </a:r>
          </a:p>
        </p:txBody>
      </p:sp>
      <p:sp>
        <p:nvSpPr>
          <p:cNvPr id="19" name="New shape"/>
          <p:cNvSpPr/>
          <p:nvPr/>
        </p:nvSpPr>
        <p:spPr>
          <a:xfrm>
            <a:off x="2453525" y="5420136"/>
            <a:ext cx="1872307" cy="2906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96">
                <a:solidFill>
                  <a:srgbClr val="000000"/>
                </a:solidFill>
                <a:latin typeface="Calibri"/>
              </a:rPr>
              <a:t>array to contain.</a:t>
            </a:r>
          </a:p>
        </p:txBody>
      </p:sp>
      <p:sp>
        <p:nvSpPr>
          <p:cNvPr id="20" name="New shape"/>
          <p:cNvSpPr/>
          <p:nvPr/>
        </p:nvSpPr>
        <p:spPr>
          <a:xfrm>
            <a:off x="3537088" y="3086606"/>
            <a:ext cx="467549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9900"/>
                </a:solidFill>
                <a:latin typeface="Consolas"/>
              </a:rPr>
              <a:t>int</a:t>
            </a:r>
          </a:p>
        </p:txBody>
      </p:sp>
      <p:sp>
        <p:nvSpPr>
          <p:cNvPr id="21" name="New shape"/>
          <p:cNvSpPr/>
          <p:nvPr/>
        </p:nvSpPr>
        <p:spPr>
          <a:xfrm>
            <a:off x="4158880" y="3086606"/>
            <a:ext cx="2181897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FF0000"/>
                </a:solidFill>
                <a:latin typeface="Consolas"/>
              </a:rPr>
              <a:t>student_grades</a:t>
            </a:r>
          </a:p>
        </p:txBody>
      </p:sp>
      <p:sp>
        <p:nvSpPr>
          <p:cNvPr id="22" name="New shape"/>
          <p:cNvSpPr/>
          <p:nvPr/>
        </p:nvSpPr>
        <p:spPr>
          <a:xfrm>
            <a:off x="6333627" y="3086606"/>
            <a:ext cx="155850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[</a:t>
            </a:r>
          </a:p>
        </p:txBody>
      </p:sp>
      <p:sp>
        <p:nvSpPr>
          <p:cNvPr id="23" name="New shape"/>
          <p:cNvSpPr/>
          <p:nvPr/>
        </p:nvSpPr>
        <p:spPr>
          <a:xfrm>
            <a:off x="6489075" y="3086606"/>
            <a:ext cx="311700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3265FF"/>
                </a:solidFill>
                <a:latin typeface="Consolas"/>
              </a:rPr>
              <a:t>40</a:t>
            </a:r>
          </a:p>
        </p:txBody>
      </p:sp>
      <p:sp>
        <p:nvSpPr>
          <p:cNvPr id="24" name="New shape"/>
          <p:cNvSpPr/>
          <p:nvPr/>
        </p:nvSpPr>
        <p:spPr>
          <a:xfrm>
            <a:off x="6798446" y="3086606"/>
            <a:ext cx="311700" cy="29536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32">
                <a:solidFill>
                  <a:srgbClr val="000000"/>
                </a:solidFill>
                <a:latin typeface="Consolas"/>
              </a:rPr>
              <a:t>];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Beng" typeface="Vrinda"/>
        <a:font script="Jpan" typeface="ＭＳ Ｐゴシック"/>
        <a:font script="Telu" typeface="Gautami"/>
        <a:font script="Cans" typeface="Euphemia"/>
        <a:font script="Cher" typeface="Plantagenet Cherokee"/>
        <a:font script="Mlym" typeface="Kartika"/>
        <a:font script="Knda" typeface="Tunga"/>
        <a:font script="Tibt" typeface="Microsoft Himalaya"/>
        <a:font script="Syrc" typeface="Estrangelo Edessa"/>
        <a:font script="Thaa" typeface="MV Boli"/>
        <a:font script="Sinh" typeface="Iskoola Pota"/>
        <a:font script="Arab" typeface="Times New Roman"/>
        <a:font script="Hebr" typeface="Times New Roman"/>
        <a:font script="Deva" typeface="Mangal"/>
        <a:font script="Uigh" typeface="Microsoft Uighur"/>
        <a:font script="Ethi" typeface="Nyala"/>
        <a:font script="Yiii" typeface="Microsoft Yi Baiti"/>
        <a:font script="Khmr" typeface="MoolBoran"/>
        <a:font script="Orya" typeface="Kalinga"/>
        <a:font script="Geor" typeface="Sylfaen"/>
        <a:font script="Mong" typeface="Mongolian Baiti"/>
        <a:font script="Taml" typeface="Latha"/>
        <a:font script="Hans" typeface="宋体"/>
        <a:font script="Laoo" typeface="DokChampa"/>
        <a:font script="Thai" typeface="Angsana New"/>
        <a:font script="Guru" typeface="Raavi"/>
        <a:font script="Viet" typeface="Times New Roman"/>
        <a:font script="Hang" typeface="맑은 고딕"/>
        <a:font script="Hant" typeface="新細明體"/>
        <a:font script="Gujr" typeface="Shruti"/>
      </a:majorFont>
      <a:minorFont>
        <a:latin typeface="Calibri"/>
        <a:ea typeface=""/>
        <a:cs typeface=""/>
        <a:font script="Beng" typeface="Vrinda"/>
        <a:font script="Jpan" typeface="ＭＳ Ｐゴシック"/>
        <a:font script="Telu" typeface="Gautami"/>
        <a:font script="Cans" typeface="Euphemia"/>
        <a:font script="Cher" typeface="Plantagenet Cherokee"/>
        <a:font script="Mlym" typeface="Kartika"/>
        <a:font script="Knda" typeface="Tunga"/>
        <a:font script="Tibt" typeface="Microsoft Himalaya"/>
        <a:font script="Syrc" typeface="Estrangelo Edessa"/>
        <a:font script="Thaa" typeface="MV Boli"/>
        <a:font script="Sinh" typeface="Iskoola Pota"/>
        <a:font script="Arab" typeface="Arial"/>
        <a:font script="Hebr" typeface="Arial"/>
        <a:font script="Deva" typeface="Mangal"/>
        <a:font script="Uigh" typeface="Microsoft Uighur"/>
        <a:font script="Ethi" typeface="Nyala"/>
        <a:font script="Yiii" typeface="Microsoft Yi Baiti"/>
        <a:font script="Khmr" typeface="DaunPenh"/>
        <a:font script="Orya" typeface="Kalinga"/>
        <a:font script="Geor" typeface="Sylfaen"/>
        <a:font script="Mong" typeface="Mongolian Baiti"/>
        <a:font script="Taml" typeface="Latha"/>
        <a:font script="Hans" typeface="宋体"/>
        <a:font script="Laoo" typeface="DokChampa"/>
        <a:font script="Thai" typeface="Cordia New"/>
        <a:font script="Guru" typeface="Raavi"/>
        <a:font script="Viet" typeface="Arial"/>
        <a:font script="Hang" typeface="맑은 고딕"/>
        <a:font script="Hant" typeface="新細明體"/>
        <a:font script="Gujr" typeface="Shruti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681</Words>
  <Application>Microsoft Office PowerPoint</Application>
  <PresentationFormat>Custom</PresentationFormat>
  <Paragraphs>222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Ed Harris</cp:lastModifiedBy>
  <cp:revision>3</cp:revision>
  <dcterms:created xsi:type="dcterms:W3CDTF">2025-07-22T13:59:21Z</dcterms:created>
  <dcterms:modified xsi:type="dcterms:W3CDTF">2025-08-14T21:24:07Z</dcterms:modified>
</cp:coreProperties>
</file>