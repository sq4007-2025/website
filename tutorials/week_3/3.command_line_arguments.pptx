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693400" cy="7556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558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rtlCol="0" anchor="ctr">
            <a:normAutofit/>
          </a:bodyPr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 rtlCol="0">
            <a:normAutofit/>
          </a:bodyPr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E8FD0B7A-F5DD-4F40-B4CB-3B2C354B893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3613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6" y="2210522"/>
            <a:ext cx="661283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So far, all of your programs have begun pretty much</a:t>
            </a:r>
          </a:p>
        </p:txBody>
      </p:sp>
      <p:sp>
        <p:nvSpPr>
          <p:cNvPr id="6" name="New shape"/>
          <p:cNvSpPr/>
          <p:nvPr/>
        </p:nvSpPr>
        <p:spPr>
          <a:xfrm>
            <a:off x="2153296" y="2509226"/>
            <a:ext cx="1834552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the same way.</a:t>
            </a:r>
          </a:p>
        </p:txBody>
      </p:sp>
      <p:sp>
        <p:nvSpPr>
          <p:cNvPr id="7" name="New shape"/>
          <p:cNvSpPr/>
          <p:nvPr/>
        </p:nvSpPr>
        <p:spPr>
          <a:xfrm>
            <a:off x="1895740" y="4276183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8" name="New shape"/>
          <p:cNvSpPr/>
          <p:nvPr/>
        </p:nvSpPr>
        <p:spPr>
          <a:xfrm>
            <a:off x="2153296" y="4100977"/>
            <a:ext cx="6462603" cy="42473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Since we’ve been collecting user input through in-</a:t>
            </a:r>
          </a:p>
        </p:txBody>
      </p:sp>
      <p:sp>
        <p:nvSpPr>
          <p:cNvPr id="9" name="New shape"/>
          <p:cNvSpPr/>
          <p:nvPr/>
        </p:nvSpPr>
        <p:spPr>
          <a:xfrm>
            <a:off x="2153296" y="4449276"/>
            <a:ext cx="612056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program prompts, we haven’t needed to modify</a:t>
            </a:r>
          </a:p>
        </p:txBody>
      </p:sp>
      <p:sp>
        <p:nvSpPr>
          <p:cNvPr id="10" name="New shape"/>
          <p:cNvSpPr/>
          <p:nvPr/>
        </p:nvSpPr>
        <p:spPr>
          <a:xfrm>
            <a:off x="2153296" y="4749505"/>
            <a:ext cx="229830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this declaration of</a:t>
            </a:r>
          </a:p>
        </p:txBody>
      </p:sp>
      <p:sp>
        <p:nvSpPr>
          <p:cNvPr id="11" name="New shape"/>
          <p:cNvSpPr/>
          <p:nvPr/>
        </p:nvSpPr>
        <p:spPr>
          <a:xfrm>
            <a:off x="4510923" y="4749505"/>
            <a:ext cx="103062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main()</a:t>
            </a:r>
          </a:p>
        </p:txBody>
      </p:sp>
      <p:sp>
        <p:nvSpPr>
          <p:cNvPr id="12" name="New shape"/>
          <p:cNvSpPr/>
          <p:nvPr/>
        </p:nvSpPr>
        <p:spPr>
          <a:xfrm>
            <a:off x="5544195" y="4749505"/>
            <a:ext cx="7871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13" name="New shape"/>
          <p:cNvSpPr/>
          <p:nvPr/>
        </p:nvSpPr>
        <p:spPr>
          <a:xfrm>
            <a:off x="1895740" y="5695026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4" name="New shape"/>
          <p:cNvSpPr/>
          <p:nvPr/>
        </p:nvSpPr>
        <p:spPr>
          <a:xfrm>
            <a:off x="2153296" y="5569416"/>
            <a:ext cx="647905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If we want the user to provide data to our program</a:t>
            </a:r>
          </a:p>
        </p:txBody>
      </p:sp>
      <p:sp>
        <p:nvSpPr>
          <p:cNvPr id="15" name="New shape"/>
          <p:cNvSpPr/>
          <p:nvPr/>
        </p:nvSpPr>
        <p:spPr>
          <a:xfrm>
            <a:off x="2153296" y="5818524"/>
            <a:ext cx="6525633" cy="42473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before the program starts running, we need a new</a:t>
            </a:r>
          </a:p>
        </p:txBody>
      </p:sp>
      <p:sp>
        <p:nvSpPr>
          <p:cNvPr id="16" name="New shape"/>
          <p:cNvSpPr/>
          <p:nvPr/>
        </p:nvSpPr>
        <p:spPr>
          <a:xfrm>
            <a:off x="2153296" y="6166824"/>
            <a:ext cx="69699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form.</a:t>
            </a:r>
          </a:p>
        </p:txBody>
      </p:sp>
      <p:sp>
        <p:nvSpPr>
          <p:cNvPr id="17" name="New shape"/>
          <p:cNvSpPr/>
          <p:nvPr/>
        </p:nvSpPr>
        <p:spPr>
          <a:xfrm>
            <a:off x="4251843" y="3086605"/>
            <a:ext cx="218189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int main(void)</a:t>
            </a:r>
          </a:p>
        </p:txBody>
      </p:sp>
      <p:sp>
        <p:nvSpPr>
          <p:cNvPr id="18" name="New shape"/>
          <p:cNvSpPr/>
          <p:nvPr/>
        </p:nvSpPr>
        <p:spPr>
          <a:xfrm>
            <a:off x="4251843" y="3426457"/>
            <a:ext cx="15585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6" y="2241002"/>
            <a:ext cx="239028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To collect so called</a:t>
            </a:r>
          </a:p>
        </p:txBody>
      </p:sp>
      <p:sp>
        <p:nvSpPr>
          <p:cNvPr id="6" name="New shape"/>
          <p:cNvSpPr/>
          <p:nvPr/>
        </p:nvSpPr>
        <p:spPr>
          <a:xfrm>
            <a:off x="4579504" y="2241002"/>
            <a:ext cx="3332733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b="1">
                <a:solidFill>
                  <a:srgbClr val="000000"/>
                </a:solidFill>
                <a:latin typeface="Calibri"/>
              </a:rPr>
              <a:t>command-line arguments</a:t>
            </a:r>
          </a:p>
        </p:txBody>
      </p:sp>
      <p:sp>
        <p:nvSpPr>
          <p:cNvPr id="7" name="New shape"/>
          <p:cNvSpPr/>
          <p:nvPr/>
        </p:nvSpPr>
        <p:spPr>
          <a:xfrm>
            <a:off x="7965831" y="2241002"/>
            <a:ext cx="6182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from</a:t>
            </a:r>
          </a:p>
        </p:txBody>
      </p:sp>
      <p:sp>
        <p:nvSpPr>
          <p:cNvPr id="8" name="New shape"/>
          <p:cNvSpPr/>
          <p:nvPr/>
        </p:nvSpPr>
        <p:spPr>
          <a:xfrm>
            <a:off x="2153297" y="2577805"/>
            <a:ext cx="3260883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the user, declare main as:</a:t>
            </a:r>
          </a:p>
        </p:txBody>
      </p:sp>
      <p:sp>
        <p:nvSpPr>
          <p:cNvPr id="9" name="New shape"/>
          <p:cNvSpPr/>
          <p:nvPr/>
        </p:nvSpPr>
        <p:spPr>
          <a:xfrm>
            <a:off x="1895741" y="4492591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0" name="New shape"/>
          <p:cNvSpPr/>
          <p:nvPr/>
        </p:nvSpPr>
        <p:spPr>
          <a:xfrm>
            <a:off x="2153297" y="4366981"/>
            <a:ext cx="6258923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These two special arguments enable you to know</a:t>
            </a:r>
          </a:p>
        </p:txBody>
      </p:sp>
      <p:sp>
        <p:nvSpPr>
          <p:cNvPr id="11" name="New shape"/>
          <p:cNvSpPr/>
          <p:nvPr/>
        </p:nvSpPr>
        <p:spPr>
          <a:xfrm>
            <a:off x="2153297" y="4703784"/>
            <a:ext cx="629461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what data the user provided at the command line</a:t>
            </a:r>
          </a:p>
        </p:txBody>
      </p:sp>
      <p:sp>
        <p:nvSpPr>
          <p:cNvPr id="12" name="New shape"/>
          <p:cNvSpPr/>
          <p:nvPr/>
        </p:nvSpPr>
        <p:spPr>
          <a:xfrm>
            <a:off x="2153297" y="5040588"/>
            <a:ext cx="443672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and how much data they provided.</a:t>
            </a:r>
          </a:p>
        </p:txBody>
      </p:sp>
      <p:sp>
        <p:nvSpPr>
          <p:cNvPr id="13" name="New shape"/>
          <p:cNvSpPr/>
          <p:nvPr/>
        </p:nvSpPr>
        <p:spPr>
          <a:xfrm>
            <a:off x="2782709" y="3296917"/>
            <a:ext cx="1402648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int main(</a:t>
            </a:r>
          </a:p>
        </p:txBody>
      </p:sp>
      <p:sp>
        <p:nvSpPr>
          <p:cNvPr id="14" name="New shape"/>
          <p:cNvSpPr/>
          <p:nvPr/>
        </p:nvSpPr>
        <p:spPr>
          <a:xfrm>
            <a:off x="4181740" y="3296918"/>
            <a:ext cx="1246798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9900"/>
                </a:solidFill>
                <a:latin typeface="Consolas"/>
              </a:rPr>
              <a:t>int argc</a:t>
            </a:r>
          </a:p>
        </p:txBody>
      </p:sp>
      <p:sp>
        <p:nvSpPr>
          <p:cNvPr id="15" name="New shape"/>
          <p:cNvSpPr/>
          <p:nvPr/>
        </p:nvSpPr>
        <p:spPr>
          <a:xfrm>
            <a:off x="5423800" y="3296918"/>
            <a:ext cx="15585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,</a:t>
            </a:r>
          </a:p>
        </p:txBody>
      </p:sp>
      <p:sp>
        <p:nvSpPr>
          <p:cNvPr id="16" name="New shape"/>
          <p:cNvSpPr/>
          <p:nvPr/>
        </p:nvSpPr>
        <p:spPr>
          <a:xfrm>
            <a:off x="5734696" y="3296918"/>
            <a:ext cx="202604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9900"/>
                </a:solidFill>
                <a:latin typeface="Consolas"/>
              </a:rPr>
              <a:t>string argv[]</a:t>
            </a:r>
          </a:p>
        </p:txBody>
      </p:sp>
      <p:sp>
        <p:nvSpPr>
          <p:cNvPr id="17" name="New shape"/>
          <p:cNvSpPr/>
          <p:nvPr/>
        </p:nvSpPr>
        <p:spPr>
          <a:xfrm>
            <a:off x="7752471" y="3296918"/>
            <a:ext cx="15585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)</a:t>
            </a:r>
          </a:p>
        </p:txBody>
      </p:sp>
      <p:sp>
        <p:nvSpPr>
          <p:cNvPr id="18" name="New shape"/>
          <p:cNvSpPr/>
          <p:nvPr/>
        </p:nvSpPr>
        <p:spPr>
          <a:xfrm>
            <a:off x="2782709" y="3636770"/>
            <a:ext cx="15585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89638" y="3960876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5347594" y="3960876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1889638" y="4300728"/>
            <a:ext cx="3457956" cy="3383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47594" y="4300728"/>
            <a:ext cx="3457956" cy="3383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1889638" y="4639056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5347594" y="4639056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5347594" y="3956304"/>
            <a:ext cx="0" cy="1027176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1885066" y="4300728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1885066" y="4639056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1889638" y="3956304"/>
            <a:ext cx="0" cy="1027176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8805550" y="3956304"/>
            <a:ext cx="0" cy="1027176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1885066" y="3960876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885066" y="497890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17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8" name="New shape"/>
          <p:cNvSpPr/>
          <p:nvPr/>
        </p:nvSpPr>
        <p:spPr>
          <a:xfrm>
            <a:off x="2153297" y="2241002"/>
            <a:ext cx="6870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argc</a:t>
            </a:r>
          </a:p>
        </p:txBody>
      </p:sp>
      <p:sp>
        <p:nvSpPr>
          <p:cNvPr id="19" name="New shape"/>
          <p:cNvSpPr/>
          <p:nvPr/>
        </p:nvSpPr>
        <p:spPr>
          <a:xfrm>
            <a:off x="2910724" y="2241002"/>
            <a:ext cx="2232094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(argument count)</a:t>
            </a:r>
          </a:p>
        </p:txBody>
      </p:sp>
      <p:sp>
        <p:nvSpPr>
          <p:cNvPr id="20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1" name="New shape"/>
          <p:cNvSpPr/>
          <p:nvPr/>
        </p:nvSpPr>
        <p:spPr>
          <a:xfrm>
            <a:off x="2453525" y="2686080"/>
            <a:ext cx="4426183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This integer-type variable will store the</a:t>
            </a:r>
          </a:p>
        </p:txBody>
      </p:sp>
      <p:sp>
        <p:nvSpPr>
          <p:cNvPr id="22" name="New shape"/>
          <p:cNvSpPr/>
          <p:nvPr/>
        </p:nvSpPr>
        <p:spPr>
          <a:xfrm>
            <a:off x="6924939" y="2686080"/>
            <a:ext cx="914978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b="1">
                <a:solidFill>
                  <a:srgbClr val="000000"/>
                </a:solidFill>
                <a:latin typeface="Calibri"/>
              </a:rPr>
              <a:t>number</a:t>
            </a:r>
          </a:p>
        </p:txBody>
      </p:sp>
      <p:sp>
        <p:nvSpPr>
          <p:cNvPr id="23" name="New shape"/>
          <p:cNvSpPr/>
          <p:nvPr/>
        </p:nvSpPr>
        <p:spPr>
          <a:xfrm>
            <a:off x="7898774" y="2686080"/>
            <a:ext cx="231911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of</a:t>
            </a:r>
          </a:p>
        </p:txBody>
      </p:sp>
      <p:sp>
        <p:nvSpPr>
          <p:cNvPr id="24" name="New shape"/>
          <p:cNvSpPr/>
          <p:nvPr/>
        </p:nvSpPr>
        <p:spPr>
          <a:xfrm>
            <a:off x="2453525" y="2986308"/>
            <a:ext cx="5761270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command-line arguments the user typed when the</a:t>
            </a:r>
          </a:p>
        </p:txBody>
      </p:sp>
      <p:sp>
        <p:nvSpPr>
          <p:cNvPr id="25" name="New shape"/>
          <p:cNvSpPr/>
          <p:nvPr/>
        </p:nvSpPr>
        <p:spPr>
          <a:xfrm>
            <a:off x="2453524" y="3239799"/>
            <a:ext cx="2741200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Program was executed.</a:t>
            </a:r>
          </a:p>
        </p:txBody>
      </p:sp>
      <p:sp>
        <p:nvSpPr>
          <p:cNvPr id="26" name="New shape"/>
          <p:cNvSpPr/>
          <p:nvPr/>
        </p:nvSpPr>
        <p:spPr>
          <a:xfrm>
            <a:off x="3156088" y="4040896"/>
            <a:ext cx="92304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command</a:t>
            </a:r>
          </a:p>
        </p:txBody>
      </p:sp>
      <p:sp>
        <p:nvSpPr>
          <p:cNvPr id="27" name="New shape"/>
          <p:cNvSpPr/>
          <p:nvPr/>
        </p:nvSpPr>
        <p:spPr>
          <a:xfrm>
            <a:off x="6830451" y="4042421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argc</a:t>
            </a:r>
          </a:p>
        </p:txBody>
      </p:sp>
      <p:sp>
        <p:nvSpPr>
          <p:cNvPr id="28" name="New shape"/>
          <p:cNvSpPr/>
          <p:nvPr/>
        </p:nvSpPr>
        <p:spPr>
          <a:xfrm>
            <a:off x="3127132" y="4382273"/>
            <a:ext cx="97867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./greedy</a:t>
            </a:r>
          </a:p>
        </p:txBody>
      </p:sp>
      <p:sp>
        <p:nvSpPr>
          <p:cNvPr id="29" name="New shape"/>
          <p:cNvSpPr/>
          <p:nvPr/>
        </p:nvSpPr>
        <p:spPr>
          <a:xfrm>
            <a:off x="7017903" y="4380749"/>
            <a:ext cx="11277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1</a:t>
            </a:r>
          </a:p>
        </p:txBody>
      </p:sp>
      <p:sp>
        <p:nvSpPr>
          <p:cNvPr id="30" name="New shape"/>
          <p:cNvSpPr/>
          <p:nvPr/>
        </p:nvSpPr>
        <p:spPr>
          <a:xfrm>
            <a:off x="2514485" y="4722125"/>
            <a:ext cx="220200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./greedy 1024 cs50</a:t>
            </a:r>
          </a:p>
        </p:txBody>
      </p:sp>
      <p:sp>
        <p:nvSpPr>
          <p:cNvPr id="31" name="New shape"/>
          <p:cNvSpPr/>
          <p:nvPr/>
        </p:nvSpPr>
        <p:spPr>
          <a:xfrm>
            <a:off x="7017903" y="4720601"/>
            <a:ext cx="11277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6870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argv</a:t>
            </a:r>
          </a:p>
        </p:txBody>
      </p:sp>
      <p:sp>
        <p:nvSpPr>
          <p:cNvPr id="6" name="New shape"/>
          <p:cNvSpPr/>
          <p:nvPr/>
        </p:nvSpPr>
        <p:spPr>
          <a:xfrm>
            <a:off x="2910724" y="2241002"/>
            <a:ext cx="230958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(argument vector)</a:t>
            </a:r>
          </a:p>
        </p:txBody>
      </p:sp>
      <p:sp>
        <p:nvSpPr>
          <p:cNvPr id="7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8" name="New shape"/>
          <p:cNvSpPr/>
          <p:nvPr/>
        </p:nvSpPr>
        <p:spPr>
          <a:xfrm>
            <a:off x="2453525" y="2686080"/>
            <a:ext cx="6075023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This array ofstrings stores,one string per element, the</a:t>
            </a:r>
          </a:p>
        </p:txBody>
      </p:sp>
      <p:sp>
        <p:nvSpPr>
          <p:cNvPr id="9" name="New shape"/>
          <p:cNvSpPr/>
          <p:nvPr/>
        </p:nvSpPr>
        <p:spPr>
          <a:xfrm>
            <a:off x="2453524" y="2939570"/>
            <a:ext cx="6196440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Actual text the user typed at the command-line when</a:t>
            </a:r>
          </a:p>
        </p:txBody>
      </p:sp>
      <p:sp>
        <p:nvSpPr>
          <p:cNvPr id="10" name="New shape"/>
          <p:cNvSpPr/>
          <p:nvPr/>
        </p:nvSpPr>
        <p:spPr>
          <a:xfrm>
            <a:off x="2453525" y="3239799"/>
            <a:ext cx="3188437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the program was executed.</a:t>
            </a:r>
          </a:p>
        </p:txBody>
      </p:sp>
      <p:sp>
        <p:nvSpPr>
          <p:cNvPr id="11" name="New shape"/>
          <p:cNvSpPr/>
          <p:nvPr/>
        </p:nvSpPr>
        <p:spPr>
          <a:xfrm>
            <a:off x="2195968" y="4221766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2" name="New shape"/>
          <p:cNvSpPr/>
          <p:nvPr/>
        </p:nvSpPr>
        <p:spPr>
          <a:xfrm>
            <a:off x="2453524" y="4109495"/>
            <a:ext cx="2232497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 first element of</a:t>
            </a:r>
          </a:p>
        </p:txBody>
      </p:sp>
      <p:sp>
        <p:nvSpPr>
          <p:cNvPr id="13" name="New shape"/>
          <p:cNvSpPr/>
          <p:nvPr/>
        </p:nvSpPr>
        <p:spPr>
          <a:xfrm>
            <a:off x="4738000" y="4109495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onsolas"/>
              </a:rPr>
              <a:t>argv</a:t>
            </a:r>
          </a:p>
        </p:txBody>
      </p:sp>
      <p:sp>
        <p:nvSpPr>
          <p:cNvPr id="14" name="New shape"/>
          <p:cNvSpPr/>
          <p:nvPr/>
        </p:nvSpPr>
        <p:spPr>
          <a:xfrm>
            <a:off x="5414655" y="4109495"/>
            <a:ext cx="2024553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is always found at</a:t>
            </a:r>
          </a:p>
        </p:txBody>
      </p:sp>
      <p:sp>
        <p:nvSpPr>
          <p:cNvPr id="15" name="New shape"/>
          <p:cNvSpPr/>
          <p:nvPr/>
        </p:nvSpPr>
        <p:spPr>
          <a:xfrm>
            <a:off x="7481198" y="4109495"/>
            <a:ext cx="1073353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onsolas"/>
              </a:rPr>
              <a:t>argv[0]</a:t>
            </a:r>
          </a:p>
        </p:txBody>
      </p:sp>
      <p:sp>
        <p:nvSpPr>
          <p:cNvPr id="16" name="New shape"/>
          <p:cNvSpPr/>
          <p:nvPr/>
        </p:nvSpPr>
        <p:spPr>
          <a:xfrm>
            <a:off x="8554093" y="4109495"/>
            <a:ext cx="70268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17" name="New shape"/>
          <p:cNvSpPr/>
          <p:nvPr/>
        </p:nvSpPr>
        <p:spPr>
          <a:xfrm>
            <a:off x="2453524" y="4409723"/>
            <a:ext cx="218374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 last element of</a:t>
            </a:r>
          </a:p>
        </p:txBody>
      </p:sp>
      <p:sp>
        <p:nvSpPr>
          <p:cNvPr id="18" name="New shape"/>
          <p:cNvSpPr/>
          <p:nvPr/>
        </p:nvSpPr>
        <p:spPr>
          <a:xfrm>
            <a:off x="4693803" y="4409723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onsolas"/>
              </a:rPr>
              <a:t>argv</a:t>
            </a:r>
          </a:p>
        </p:txBody>
      </p:sp>
      <p:sp>
        <p:nvSpPr>
          <p:cNvPr id="19" name="New shape"/>
          <p:cNvSpPr/>
          <p:nvPr/>
        </p:nvSpPr>
        <p:spPr>
          <a:xfrm>
            <a:off x="5368935" y="4409723"/>
            <a:ext cx="2024553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is always found at</a:t>
            </a:r>
          </a:p>
        </p:txBody>
      </p:sp>
      <p:sp>
        <p:nvSpPr>
          <p:cNvPr id="20" name="New shape"/>
          <p:cNvSpPr/>
          <p:nvPr/>
        </p:nvSpPr>
        <p:spPr>
          <a:xfrm>
            <a:off x="2453525" y="4709952"/>
            <a:ext cx="1840033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onsolas"/>
              </a:rPr>
              <a:t>argv[argc-1]</a:t>
            </a:r>
          </a:p>
        </p:txBody>
      </p:sp>
      <p:sp>
        <p:nvSpPr>
          <p:cNvPr id="21" name="New shape"/>
          <p:cNvSpPr/>
          <p:nvPr/>
        </p:nvSpPr>
        <p:spPr>
          <a:xfrm>
            <a:off x="4289944" y="4709952"/>
            <a:ext cx="70268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22" name="New shape"/>
          <p:cNvSpPr/>
          <p:nvPr/>
        </p:nvSpPr>
        <p:spPr>
          <a:xfrm>
            <a:off x="2497720" y="5217387"/>
            <a:ext cx="66223" cy="11433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86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3" name="New shape"/>
          <p:cNvSpPr/>
          <p:nvPr/>
        </p:nvSpPr>
        <p:spPr>
          <a:xfrm>
            <a:off x="2755276" y="5118454"/>
            <a:ext cx="1684121" cy="2556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932">
                <a:solidFill>
                  <a:srgbClr val="000000"/>
                </a:solidFill>
                <a:latin typeface="Calibri"/>
              </a:rPr>
              <a:t>Do you see why?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89638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5347594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1889638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47594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1889638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5347594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1889638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347594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1889638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5347594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5347594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1885066" y="4905756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885066" y="524560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1885066" y="558546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885066" y="592531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1889638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8805550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1885066" y="456742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1885066" y="626364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23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4" name="New shape"/>
          <p:cNvSpPr/>
          <p:nvPr/>
        </p:nvSpPr>
        <p:spPr>
          <a:xfrm>
            <a:off x="2153297" y="2241002"/>
            <a:ext cx="6870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argv</a:t>
            </a:r>
          </a:p>
        </p:txBody>
      </p:sp>
      <p:sp>
        <p:nvSpPr>
          <p:cNvPr id="25" name="New shape"/>
          <p:cNvSpPr/>
          <p:nvPr/>
        </p:nvSpPr>
        <p:spPr>
          <a:xfrm>
            <a:off x="2910724" y="2241002"/>
            <a:ext cx="230958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(argument vector)</a:t>
            </a:r>
          </a:p>
        </p:txBody>
      </p:sp>
      <p:sp>
        <p:nvSpPr>
          <p:cNvPr id="26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7" name="New shape"/>
          <p:cNvSpPr/>
          <p:nvPr/>
        </p:nvSpPr>
        <p:spPr>
          <a:xfrm>
            <a:off x="2453525" y="2639342"/>
            <a:ext cx="6253443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Let’s assume the user executes the greedy program as</a:t>
            </a:r>
          </a:p>
        </p:txBody>
      </p:sp>
      <p:sp>
        <p:nvSpPr>
          <p:cNvPr id="28" name="New shape"/>
          <p:cNvSpPr/>
          <p:nvPr/>
        </p:nvSpPr>
        <p:spPr>
          <a:xfrm>
            <a:off x="2453525" y="2986308"/>
            <a:ext cx="81461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follows</a:t>
            </a:r>
          </a:p>
        </p:txBody>
      </p:sp>
      <p:sp>
        <p:nvSpPr>
          <p:cNvPr id="29" name="New shape"/>
          <p:cNvSpPr/>
          <p:nvPr/>
        </p:nvSpPr>
        <p:spPr>
          <a:xfrm>
            <a:off x="3026548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0" name="New shape"/>
          <p:cNvSpPr/>
          <p:nvPr/>
        </p:nvSpPr>
        <p:spPr>
          <a:xfrm>
            <a:off x="3566044" y="4648973"/>
            <a:ext cx="64176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indices</a:t>
            </a:r>
          </a:p>
        </p:txBody>
      </p:sp>
      <p:sp>
        <p:nvSpPr>
          <p:cNvPr id="31" name="New shape"/>
          <p:cNvSpPr/>
          <p:nvPr/>
        </p:nvSpPr>
        <p:spPr>
          <a:xfrm>
            <a:off x="6405256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2" name="New shape"/>
          <p:cNvSpPr/>
          <p:nvPr/>
        </p:nvSpPr>
        <p:spPr>
          <a:xfrm>
            <a:off x="6944751" y="4648973"/>
            <a:ext cx="80635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33" name="New shape"/>
          <p:cNvSpPr/>
          <p:nvPr/>
        </p:nvSpPr>
        <p:spPr>
          <a:xfrm>
            <a:off x="3188092" y="4988825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argv[0]</a:t>
            </a:r>
          </a:p>
        </p:txBody>
      </p:sp>
      <p:sp>
        <p:nvSpPr>
          <p:cNvPr id="34" name="New shape"/>
          <p:cNvSpPr/>
          <p:nvPr/>
        </p:nvSpPr>
        <p:spPr>
          <a:xfrm>
            <a:off x="6463176" y="4988825"/>
            <a:ext cx="12233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“./greedy”</a:t>
            </a:r>
          </a:p>
        </p:txBody>
      </p:sp>
      <p:sp>
        <p:nvSpPr>
          <p:cNvPr id="35" name="New shape"/>
          <p:cNvSpPr/>
          <p:nvPr/>
        </p:nvSpPr>
        <p:spPr>
          <a:xfrm>
            <a:off x="3188092" y="532867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argv[1]</a:t>
            </a:r>
          </a:p>
        </p:txBody>
      </p:sp>
      <p:sp>
        <p:nvSpPr>
          <p:cNvPr id="36" name="New shape"/>
          <p:cNvSpPr/>
          <p:nvPr/>
        </p:nvSpPr>
        <p:spPr>
          <a:xfrm>
            <a:off x="3188092" y="5667004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argv[2]</a:t>
            </a:r>
          </a:p>
        </p:txBody>
      </p:sp>
      <p:sp>
        <p:nvSpPr>
          <p:cNvPr id="37" name="New shape"/>
          <p:cNvSpPr/>
          <p:nvPr/>
        </p:nvSpPr>
        <p:spPr>
          <a:xfrm>
            <a:off x="3188092" y="600685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argv[3]</a:t>
            </a:r>
          </a:p>
        </p:txBody>
      </p:sp>
      <p:sp>
        <p:nvSpPr>
          <p:cNvPr id="38" name="New shape"/>
          <p:cNvSpPr/>
          <p:nvPr/>
        </p:nvSpPr>
        <p:spPr>
          <a:xfrm>
            <a:off x="3919612" y="3600194"/>
            <a:ext cx="2805296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./greedy 1024 cs50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89638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5347594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1889638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47594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1889638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5347594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1889638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347594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1889638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5347594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5347594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1885066" y="4905756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885066" y="524560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1885066" y="558546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885066" y="592531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1889638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8805550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1885066" y="456742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1885066" y="626364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23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4" name="New shape"/>
          <p:cNvSpPr/>
          <p:nvPr/>
        </p:nvSpPr>
        <p:spPr>
          <a:xfrm>
            <a:off x="2153297" y="2241002"/>
            <a:ext cx="6870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argv</a:t>
            </a:r>
          </a:p>
        </p:txBody>
      </p:sp>
      <p:sp>
        <p:nvSpPr>
          <p:cNvPr id="25" name="New shape"/>
          <p:cNvSpPr/>
          <p:nvPr/>
        </p:nvSpPr>
        <p:spPr>
          <a:xfrm>
            <a:off x="2910724" y="2241002"/>
            <a:ext cx="230958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(argument vector)</a:t>
            </a:r>
          </a:p>
        </p:txBody>
      </p:sp>
      <p:sp>
        <p:nvSpPr>
          <p:cNvPr id="26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7" name="New shape"/>
          <p:cNvSpPr/>
          <p:nvPr/>
        </p:nvSpPr>
        <p:spPr>
          <a:xfrm>
            <a:off x="2453525" y="2639342"/>
            <a:ext cx="6253443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Let’s assume the user executes the greedy program as</a:t>
            </a:r>
          </a:p>
        </p:txBody>
      </p:sp>
      <p:sp>
        <p:nvSpPr>
          <p:cNvPr id="28" name="New shape"/>
          <p:cNvSpPr/>
          <p:nvPr/>
        </p:nvSpPr>
        <p:spPr>
          <a:xfrm>
            <a:off x="2453525" y="2986308"/>
            <a:ext cx="81461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follows</a:t>
            </a:r>
          </a:p>
        </p:txBody>
      </p:sp>
      <p:sp>
        <p:nvSpPr>
          <p:cNvPr id="29" name="New shape"/>
          <p:cNvSpPr/>
          <p:nvPr/>
        </p:nvSpPr>
        <p:spPr>
          <a:xfrm>
            <a:off x="3026548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0" name="New shape"/>
          <p:cNvSpPr/>
          <p:nvPr/>
        </p:nvSpPr>
        <p:spPr>
          <a:xfrm>
            <a:off x="3566044" y="4648973"/>
            <a:ext cx="64176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indices</a:t>
            </a:r>
          </a:p>
        </p:txBody>
      </p:sp>
      <p:sp>
        <p:nvSpPr>
          <p:cNvPr id="31" name="New shape"/>
          <p:cNvSpPr/>
          <p:nvPr/>
        </p:nvSpPr>
        <p:spPr>
          <a:xfrm>
            <a:off x="6405256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2" name="New shape"/>
          <p:cNvSpPr/>
          <p:nvPr/>
        </p:nvSpPr>
        <p:spPr>
          <a:xfrm>
            <a:off x="6944751" y="4648973"/>
            <a:ext cx="80635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33" name="New shape"/>
          <p:cNvSpPr/>
          <p:nvPr/>
        </p:nvSpPr>
        <p:spPr>
          <a:xfrm>
            <a:off x="3188092" y="4988825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argv[0]</a:t>
            </a:r>
          </a:p>
        </p:txBody>
      </p:sp>
      <p:sp>
        <p:nvSpPr>
          <p:cNvPr id="34" name="New shape"/>
          <p:cNvSpPr/>
          <p:nvPr/>
        </p:nvSpPr>
        <p:spPr>
          <a:xfrm>
            <a:off x="6463176" y="4988825"/>
            <a:ext cx="12233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“./greedy”</a:t>
            </a:r>
          </a:p>
        </p:txBody>
      </p:sp>
      <p:sp>
        <p:nvSpPr>
          <p:cNvPr id="35" name="New shape"/>
          <p:cNvSpPr/>
          <p:nvPr/>
        </p:nvSpPr>
        <p:spPr>
          <a:xfrm>
            <a:off x="3188092" y="532867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argv[1]</a:t>
            </a:r>
          </a:p>
        </p:txBody>
      </p:sp>
      <p:sp>
        <p:nvSpPr>
          <p:cNvPr id="36" name="New shape"/>
          <p:cNvSpPr/>
          <p:nvPr/>
        </p:nvSpPr>
        <p:spPr>
          <a:xfrm>
            <a:off x="6706996" y="5328677"/>
            <a:ext cx="73400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“1024”</a:t>
            </a:r>
          </a:p>
        </p:txBody>
      </p:sp>
      <p:sp>
        <p:nvSpPr>
          <p:cNvPr id="37" name="New shape"/>
          <p:cNvSpPr/>
          <p:nvPr/>
        </p:nvSpPr>
        <p:spPr>
          <a:xfrm>
            <a:off x="3188092" y="5667004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argv[2]</a:t>
            </a:r>
          </a:p>
        </p:txBody>
      </p:sp>
      <p:sp>
        <p:nvSpPr>
          <p:cNvPr id="38" name="New shape"/>
          <p:cNvSpPr/>
          <p:nvPr/>
        </p:nvSpPr>
        <p:spPr>
          <a:xfrm>
            <a:off x="3188092" y="600685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argv[3]</a:t>
            </a:r>
          </a:p>
        </p:txBody>
      </p:sp>
      <p:sp>
        <p:nvSpPr>
          <p:cNvPr id="39" name="New shape"/>
          <p:cNvSpPr/>
          <p:nvPr/>
        </p:nvSpPr>
        <p:spPr>
          <a:xfrm>
            <a:off x="3919612" y="3600194"/>
            <a:ext cx="2805296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./greedy 1024 cs50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89638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5347594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1889638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47594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1889638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5347594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1889638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347594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1889638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5347594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5347594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1885066" y="4905756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885066" y="524560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1885066" y="558546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885066" y="592531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1889638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8805550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1885066" y="456742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1885066" y="626364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23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4" name="New shape"/>
          <p:cNvSpPr/>
          <p:nvPr/>
        </p:nvSpPr>
        <p:spPr>
          <a:xfrm>
            <a:off x="2153297" y="2241002"/>
            <a:ext cx="6870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argv</a:t>
            </a:r>
          </a:p>
        </p:txBody>
      </p:sp>
      <p:sp>
        <p:nvSpPr>
          <p:cNvPr id="25" name="New shape"/>
          <p:cNvSpPr/>
          <p:nvPr/>
        </p:nvSpPr>
        <p:spPr>
          <a:xfrm>
            <a:off x="2910724" y="2241002"/>
            <a:ext cx="230958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(argument vector)</a:t>
            </a:r>
          </a:p>
        </p:txBody>
      </p:sp>
      <p:sp>
        <p:nvSpPr>
          <p:cNvPr id="26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7" name="New shape"/>
          <p:cNvSpPr/>
          <p:nvPr/>
        </p:nvSpPr>
        <p:spPr>
          <a:xfrm>
            <a:off x="2453525" y="2639342"/>
            <a:ext cx="6253443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Let’s assume the user executes the greedy program as</a:t>
            </a:r>
          </a:p>
        </p:txBody>
      </p:sp>
      <p:sp>
        <p:nvSpPr>
          <p:cNvPr id="28" name="New shape"/>
          <p:cNvSpPr/>
          <p:nvPr/>
        </p:nvSpPr>
        <p:spPr>
          <a:xfrm>
            <a:off x="2453525" y="2986308"/>
            <a:ext cx="81461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follows</a:t>
            </a:r>
          </a:p>
        </p:txBody>
      </p:sp>
      <p:sp>
        <p:nvSpPr>
          <p:cNvPr id="29" name="New shape"/>
          <p:cNvSpPr/>
          <p:nvPr/>
        </p:nvSpPr>
        <p:spPr>
          <a:xfrm>
            <a:off x="3026548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0" name="New shape"/>
          <p:cNvSpPr/>
          <p:nvPr/>
        </p:nvSpPr>
        <p:spPr>
          <a:xfrm>
            <a:off x="3566044" y="4648973"/>
            <a:ext cx="64176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indices</a:t>
            </a:r>
          </a:p>
        </p:txBody>
      </p:sp>
      <p:sp>
        <p:nvSpPr>
          <p:cNvPr id="31" name="New shape"/>
          <p:cNvSpPr/>
          <p:nvPr/>
        </p:nvSpPr>
        <p:spPr>
          <a:xfrm>
            <a:off x="6405256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2" name="New shape"/>
          <p:cNvSpPr/>
          <p:nvPr/>
        </p:nvSpPr>
        <p:spPr>
          <a:xfrm>
            <a:off x="6944751" y="4648973"/>
            <a:ext cx="80635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33" name="New shape"/>
          <p:cNvSpPr/>
          <p:nvPr/>
        </p:nvSpPr>
        <p:spPr>
          <a:xfrm>
            <a:off x="3188092" y="4988825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argv[0]</a:t>
            </a:r>
          </a:p>
        </p:txBody>
      </p:sp>
      <p:sp>
        <p:nvSpPr>
          <p:cNvPr id="34" name="New shape"/>
          <p:cNvSpPr/>
          <p:nvPr/>
        </p:nvSpPr>
        <p:spPr>
          <a:xfrm>
            <a:off x="6463176" y="4988825"/>
            <a:ext cx="12233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“./greedy”</a:t>
            </a:r>
          </a:p>
        </p:txBody>
      </p:sp>
      <p:sp>
        <p:nvSpPr>
          <p:cNvPr id="35" name="New shape"/>
          <p:cNvSpPr/>
          <p:nvPr/>
        </p:nvSpPr>
        <p:spPr>
          <a:xfrm>
            <a:off x="3188092" y="532867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argv[1]</a:t>
            </a:r>
          </a:p>
        </p:txBody>
      </p:sp>
      <p:sp>
        <p:nvSpPr>
          <p:cNvPr id="36" name="New shape"/>
          <p:cNvSpPr/>
          <p:nvPr/>
        </p:nvSpPr>
        <p:spPr>
          <a:xfrm>
            <a:off x="6706996" y="5328677"/>
            <a:ext cx="73400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“1024”</a:t>
            </a:r>
          </a:p>
        </p:txBody>
      </p:sp>
      <p:sp>
        <p:nvSpPr>
          <p:cNvPr id="37" name="New shape"/>
          <p:cNvSpPr/>
          <p:nvPr/>
        </p:nvSpPr>
        <p:spPr>
          <a:xfrm>
            <a:off x="3188092" y="5667004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argv[2]</a:t>
            </a:r>
          </a:p>
        </p:txBody>
      </p:sp>
      <p:sp>
        <p:nvSpPr>
          <p:cNvPr id="38" name="New shape"/>
          <p:cNvSpPr/>
          <p:nvPr/>
        </p:nvSpPr>
        <p:spPr>
          <a:xfrm>
            <a:off x="6706996" y="5667004"/>
            <a:ext cx="73400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“cs50”</a:t>
            </a:r>
          </a:p>
        </p:txBody>
      </p:sp>
      <p:sp>
        <p:nvSpPr>
          <p:cNvPr id="39" name="New shape"/>
          <p:cNvSpPr/>
          <p:nvPr/>
        </p:nvSpPr>
        <p:spPr>
          <a:xfrm>
            <a:off x="3188092" y="600685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argv[3]</a:t>
            </a:r>
          </a:p>
        </p:txBody>
      </p:sp>
      <p:sp>
        <p:nvSpPr>
          <p:cNvPr id="40" name="New shape"/>
          <p:cNvSpPr/>
          <p:nvPr/>
        </p:nvSpPr>
        <p:spPr>
          <a:xfrm>
            <a:off x="3919612" y="3600194"/>
            <a:ext cx="2805296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./greedy 1024 cs50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89638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5347594" y="4567428"/>
            <a:ext cx="3457956" cy="338328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1889638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47594" y="4905756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1889638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5347594" y="5245608"/>
            <a:ext cx="3457956" cy="3398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1889638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5347594" y="5585460"/>
            <a:ext cx="3457956" cy="3398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1889638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5347594" y="5925312"/>
            <a:ext cx="3457956" cy="338328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5347594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1885066" y="4905756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885066" y="524560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1885066" y="558546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1885066" y="592531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1889638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8805550" y="4561332"/>
            <a:ext cx="0" cy="1708404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1885066" y="456742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1885066" y="6263640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1810397" y="1275793"/>
            <a:ext cx="5273167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Command-Line Arguments</a:t>
            </a:r>
          </a:p>
        </p:txBody>
      </p:sp>
      <p:sp>
        <p:nvSpPr>
          <p:cNvPr id="23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4" name="New shape"/>
          <p:cNvSpPr/>
          <p:nvPr/>
        </p:nvSpPr>
        <p:spPr>
          <a:xfrm>
            <a:off x="2153297" y="2241002"/>
            <a:ext cx="68708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argv</a:t>
            </a:r>
          </a:p>
        </p:txBody>
      </p:sp>
      <p:sp>
        <p:nvSpPr>
          <p:cNvPr id="25" name="New shape"/>
          <p:cNvSpPr/>
          <p:nvPr/>
        </p:nvSpPr>
        <p:spPr>
          <a:xfrm>
            <a:off x="2910724" y="2241002"/>
            <a:ext cx="230958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(argument vector)</a:t>
            </a:r>
          </a:p>
        </p:txBody>
      </p:sp>
      <p:sp>
        <p:nvSpPr>
          <p:cNvPr id="26" name="New shape"/>
          <p:cNvSpPr/>
          <p:nvPr/>
        </p:nvSpPr>
        <p:spPr>
          <a:xfrm>
            <a:off x="2195969" y="2798352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7" name="New shape"/>
          <p:cNvSpPr/>
          <p:nvPr/>
        </p:nvSpPr>
        <p:spPr>
          <a:xfrm>
            <a:off x="2453525" y="2639342"/>
            <a:ext cx="6253443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Let’s assume the user executes the greedy program as</a:t>
            </a:r>
          </a:p>
        </p:txBody>
      </p:sp>
      <p:sp>
        <p:nvSpPr>
          <p:cNvPr id="28" name="New shape"/>
          <p:cNvSpPr/>
          <p:nvPr/>
        </p:nvSpPr>
        <p:spPr>
          <a:xfrm>
            <a:off x="2453525" y="2986308"/>
            <a:ext cx="81461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follows</a:t>
            </a:r>
          </a:p>
        </p:txBody>
      </p:sp>
      <p:sp>
        <p:nvSpPr>
          <p:cNvPr id="29" name="New shape"/>
          <p:cNvSpPr/>
          <p:nvPr/>
        </p:nvSpPr>
        <p:spPr>
          <a:xfrm>
            <a:off x="3026548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0" name="New shape"/>
          <p:cNvSpPr/>
          <p:nvPr/>
        </p:nvSpPr>
        <p:spPr>
          <a:xfrm>
            <a:off x="3566044" y="4648973"/>
            <a:ext cx="64176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indices</a:t>
            </a:r>
          </a:p>
        </p:txBody>
      </p:sp>
      <p:sp>
        <p:nvSpPr>
          <p:cNvPr id="31" name="New shape"/>
          <p:cNvSpPr/>
          <p:nvPr/>
        </p:nvSpPr>
        <p:spPr>
          <a:xfrm>
            <a:off x="6405256" y="4648973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onsolas"/>
              </a:rPr>
              <a:t>argv</a:t>
            </a:r>
          </a:p>
        </p:txBody>
      </p:sp>
      <p:sp>
        <p:nvSpPr>
          <p:cNvPr id="32" name="New shape"/>
          <p:cNvSpPr/>
          <p:nvPr/>
        </p:nvSpPr>
        <p:spPr>
          <a:xfrm>
            <a:off x="6944751" y="4648973"/>
            <a:ext cx="80635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33" name="New shape"/>
          <p:cNvSpPr/>
          <p:nvPr/>
        </p:nvSpPr>
        <p:spPr>
          <a:xfrm>
            <a:off x="3188092" y="4988825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argv[0]</a:t>
            </a:r>
          </a:p>
        </p:txBody>
      </p:sp>
      <p:sp>
        <p:nvSpPr>
          <p:cNvPr id="34" name="New shape"/>
          <p:cNvSpPr/>
          <p:nvPr/>
        </p:nvSpPr>
        <p:spPr>
          <a:xfrm>
            <a:off x="6463176" y="4988825"/>
            <a:ext cx="12233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“./greedy”</a:t>
            </a:r>
          </a:p>
        </p:txBody>
      </p:sp>
      <p:sp>
        <p:nvSpPr>
          <p:cNvPr id="35" name="New shape"/>
          <p:cNvSpPr/>
          <p:nvPr/>
        </p:nvSpPr>
        <p:spPr>
          <a:xfrm>
            <a:off x="3188092" y="532867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argv[1]</a:t>
            </a:r>
          </a:p>
        </p:txBody>
      </p:sp>
      <p:sp>
        <p:nvSpPr>
          <p:cNvPr id="36" name="New shape"/>
          <p:cNvSpPr/>
          <p:nvPr/>
        </p:nvSpPr>
        <p:spPr>
          <a:xfrm>
            <a:off x="6706996" y="5328677"/>
            <a:ext cx="73400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“1024”</a:t>
            </a:r>
          </a:p>
        </p:txBody>
      </p:sp>
      <p:sp>
        <p:nvSpPr>
          <p:cNvPr id="37" name="New shape"/>
          <p:cNvSpPr/>
          <p:nvPr/>
        </p:nvSpPr>
        <p:spPr>
          <a:xfrm>
            <a:off x="3188092" y="5667004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argv[2]</a:t>
            </a:r>
          </a:p>
        </p:txBody>
      </p:sp>
      <p:sp>
        <p:nvSpPr>
          <p:cNvPr id="38" name="New shape"/>
          <p:cNvSpPr/>
          <p:nvPr/>
        </p:nvSpPr>
        <p:spPr>
          <a:xfrm>
            <a:off x="6706996" y="5625032"/>
            <a:ext cx="1079783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onsolas"/>
              </a:rPr>
              <a:t>“SQ4007”</a:t>
            </a:r>
          </a:p>
        </p:txBody>
      </p:sp>
      <p:sp>
        <p:nvSpPr>
          <p:cNvPr id="39" name="New shape"/>
          <p:cNvSpPr/>
          <p:nvPr/>
        </p:nvSpPr>
        <p:spPr>
          <a:xfrm>
            <a:off x="3188092" y="6006857"/>
            <a:ext cx="856336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onsolas"/>
              </a:rPr>
              <a:t>argv[3]</a:t>
            </a:r>
          </a:p>
        </p:txBody>
      </p:sp>
      <p:sp>
        <p:nvSpPr>
          <p:cNvPr id="40" name="New shape"/>
          <p:cNvSpPr/>
          <p:nvPr/>
        </p:nvSpPr>
        <p:spPr>
          <a:xfrm>
            <a:off x="6891410" y="6006857"/>
            <a:ext cx="36700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FF0000"/>
                </a:solidFill>
                <a:latin typeface="Consolas"/>
              </a:rPr>
              <a:t>???</a:t>
            </a:r>
          </a:p>
        </p:txBody>
      </p:sp>
      <p:sp>
        <p:nvSpPr>
          <p:cNvPr id="41" name="New shape"/>
          <p:cNvSpPr/>
          <p:nvPr/>
        </p:nvSpPr>
        <p:spPr>
          <a:xfrm>
            <a:off x="3919612" y="3553049"/>
            <a:ext cx="3234219" cy="38965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 dirty="0">
                <a:solidFill>
                  <a:srgbClr val="000000"/>
                </a:solidFill>
                <a:latin typeface="Consolas"/>
              </a:rPr>
              <a:t>./greedy 1024 SQ4007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Times New Roman"/>
        <a:font script="Hebr" typeface="Times New Roman"/>
        <a:font script="Deva" typeface="Mangal"/>
        <a:font script="Uigh" typeface="Microsoft Uighur"/>
        <a:font script="Ethi" typeface="Nyala"/>
        <a:font script="Yiii" typeface="Microsoft Yi Baiti"/>
        <a:font script="Khmr" typeface="MoolBoran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Angsana New"/>
        <a:font script="Guru" typeface="Raavi"/>
        <a:font script="Viet" typeface="Times New Roman"/>
        <a:font script="Hang" typeface="맑은 고딕"/>
        <a:font script="Hant" typeface="新細明體"/>
        <a:font script="Gujr" typeface="Shruti"/>
      </a:majorFont>
      <a:min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Arial"/>
        <a:font script="Hebr" typeface="Arial"/>
        <a:font script="Deva" typeface="Mangal"/>
        <a:font script="Uigh" typeface="Microsoft Uighur"/>
        <a:font script="Ethi" typeface="Nyala"/>
        <a:font script="Yiii" typeface="Microsoft Yi Baiti"/>
        <a:font script="Khmr" typeface="DaunPenh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Cordia New"/>
        <a:font script="Guru" typeface="Raavi"/>
        <a:font script="Viet" typeface="Arial"/>
        <a:font script="Hang" typeface="맑은 고딕"/>
        <a:font script="Hant" typeface="新細明體"/>
        <a:font script="Gujr" typeface="Shruti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1106</TotalTime>
  <Words>433</Words>
  <Application>Microsoft Office PowerPoint</Application>
  <PresentationFormat>Custom</PresentationFormat>
  <Paragraphs>144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Ed Harris</cp:lastModifiedBy>
  <cp:revision>5</cp:revision>
  <dcterms:created xsi:type="dcterms:W3CDTF">2025-07-22T13:59:21Z</dcterms:created>
  <dcterms:modified xsi:type="dcterms:W3CDTF">2025-10-11T14:45:53Z</dcterms:modified>
</cp:coreProperties>
</file>