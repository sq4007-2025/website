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954" y="31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lIns="91440" tIns="45720" rIns="91440" bIns="45720" rtlCol="0" anchor="ctr">
            <a:normAutofit/>
          </a:bodyPr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lIns="91440" tIns="45720" rIns="91440" bIns="45720" rtlCol="0">
            <a:normAutofit/>
          </a:bodyPr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3057104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Binary 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703804"/>
            <a:ext cx="3057104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Binary Search</a:t>
            </a:r>
          </a:p>
        </p:txBody>
      </p:sp>
      <p:sp>
        <p:nvSpPr>
          <p:cNvPr id="4" name="New shape"/>
          <p:cNvSpPr/>
          <p:nvPr/>
        </p:nvSpPr>
        <p:spPr>
          <a:xfrm>
            <a:off x="929640" y="1885505"/>
            <a:ext cx="142365" cy="45493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6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5" name="New shape"/>
          <p:cNvSpPr/>
          <p:nvPr/>
        </p:nvSpPr>
        <p:spPr>
          <a:xfrm>
            <a:off x="1158240" y="1855998"/>
            <a:ext cx="9629350" cy="49708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6">
                <a:solidFill>
                  <a:srgbClr val="000000"/>
                </a:solidFill>
                <a:latin typeface="Calibri"/>
              </a:rPr>
              <a:t>In binary search, the idea of the algorithm is to divide and </a:t>
            </a:r>
          </a:p>
        </p:txBody>
      </p:sp>
      <p:sp>
        <p:nvSpPr>
          <p:cNvPr id="6" name="New shape"/>
          <p:cNvSpPr/>
          <p:nvPr/>
        </p:nvSpPr>
        <p:spPr>
          <a:xfrm>
            <a:off x="1158240" y="2295552"/>
            <a:ext cx="9829769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conquer, reducing the search area by half each time, trying </a:t>
            </a:r>
          </a:p>
        </p:txBody>
      </p:sp>
      <p:sp>
        <p:nvSpPr>
          <p:cNvPr id="7" name="New shape"/>
          <p:cNvSpPr/>
          <p:nvPr/>
        </p:nvSpPr>
        <p:spPr>
          <a:xfrm>
            <a:off x="1158240" y="2734463"/>
            <a:ext cx="3973115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to find a target number.</a:t>
            </a:r>
          </a:p>
        </p:txBody>
      </p:sp>
      <p:sp>
        <p:nvSpPr>
          <p:cNvPr id="8" name="New shape"/>
          <p:cNvSpPr/>
          <p:nvPr/>
        </p:nvSpPr>
        <p:spPr>
          <a:xfrm>
            <a:off x="1387094" y="3262661"/>
            <a:ext cx="106667" cy="34085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2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9" name="New shape"/>
          <p:cNvSpPr/>
          <p:nvPr/>
        </p:nvSpPr>
        <p:spPr>
          <a:xfrm>
            <a:off x="1615694" y="3218866"/>
            <a:ext cx="8537209" cy="41581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2" dirty="0">
                <a:solidFill>
                  <a:srgbClr val="000000"/>
                </a:solidFill>
                <a:latin typeface="Calibri"/>
              </a:rPr>
              <a:t>To leverage this power however, our array must first be sorted, else </a:t>
            </a:r>
          </a:p>
        </p:txBody>
      </p:sp>
      <p:sp>
        <p:nvSpPr>
          <p:cNvPr id="10" name="New shape"/>
          <p:cNvSpPr/>
          <p:nvPr/>
        </p:nvSpPr>
        <p:spPr>
          <a:xfrm>
            <a:off x="1615694" y="3570252"/>
            <a:ext cx="7087939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we cannot make assumptions about the array’s contents.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929640" y="2249297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929640" y="703804"/>
            <a:ext cx="3057104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Binary Search</a:t>
            </a:r>
          </a:p>
        </p:txBody>
      </p:sp>
      <p:sp>
        <p:nvSpPr>
          <p:cNvPr id="5" name="New shape"/>
          <p:cNvSpPr/>
          <p:nvPr/>
        </p:nvSpPr>
        <p:spPr>
          <a:xfrm>
            <a:off x="929640" y="1855998"/>
            <a:ext cx="2537723" cy="49708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6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6" name="New shape"/>
          <p:cNvSpPr/>
          <p:nvPr/>
        </p:nvSpPr>
        <p:spPr>
          <a:xfrm>
            <a:off x="929640" y="3016694"/>
            <a:ext cx="142365" cy="45493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6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7" name="New shape"/>
          <p:cNvSpPr/>
          <p:nvPr/>
        </p:nvSpPr>
        <p:spPr>
          <a:xfrm>
            <a:off x="1158240" y="2987187"/>
            <a:ext cx="6332079" cy="49708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6">
                <a:solidFill>
                  <a:srgbClr val="000000"/>
                </a:solidFill>
                <a:latin typeface="Calibri"/>
              </a:rPr>
              <a:t>Repeat until the (sub)array is of size 0:</a:t>
            </a:r>
          </a:p>
        </p:txBody>
      </p:sp>
      <p:sp>
        <p:nvSpPr>
          <p:cNvPr id="8" name="New shape"/>
          <p:cNvSpPr/>
          <p:nvPr/>
        </p:nvSpPr>
        <p:spPr>
          <a:xfrm>
            <a:off x="1387094" y="3519480"/>
            <a:ext cx="124143" cy="39670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9" name="New shape"/>
          <p:cNvSpPr/>
          <p:nvPr/>
        </p:nvSpPr>
        <p:spPr>
          <a:xfrm>
            <a:off x="1615694" y="3493750"/>
            <a:ext cx="7531660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Calculate the middle point of the current (sub)array.</a:t>
            </a:r>
          </a:p>
        </p:txBody>
      </p:sp>
      <p:sp>
        <p:nvSpPr>
          <p:cNvPr id="10" name="New shape"/>
          <p:cNvSpPr/>
          <p:nvPr/>
        </p:nvSpPr>
        <p:spPr>
          <a:xfrm>
            <a:off x="1387094" y="3966011"/>
            <a:ext cx="124143" cy="39670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1" name="New shape"/>
          <p:cNvSpPr/>
          <p:nvPr/>
        </p:nvSpPr>
        <p:spPr>
          <a:xfrm>
            <a:off x="1615694" y="3940282"/>
            <a:ext cx="4912857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If the target is at the middle, stop.</a:t>
            </a:r>
          </a:p>
        </p:txBody>
      </p:sp>
      <p:sp>
        <p:nvSpPr>
          <p:cNvPr id="12" name="New shape"/>
          <p:cNvSpPr/>
          <p:nvPr/>
        </p:nvSpPr>
        <p:spPr>
          <a:xfrm>
            <a:off x="1387094" y="4413829"/>
            <a:ext cx="124250" cy="39704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3" name="New shape"/>
          <p:cNvSpPr/>
          <p:nvPr/>
        </p:nvSpPr>
        <p:spPr>
          <a:xfrm>
            <a:off x="1615694" y="4388077"/>
            <a:ext cx="9368558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Otherwise, if the target is less than what’s at the middle, repeat, </a:t>
            </a:r>
          </a:p>
        </p:txBody>
      </p:sp>
      <p:sp>
        <p:nvSpPr>
          <p:cNvPr id="14" name="New shape"/>
          <p:cNvSpPr/>
          <p:nvPr/>
        </p:nvSpPr>
        <p:spPr>
          <a:xfrm>
            <a:off x="1615694" y="4772767"/>
            <a:ext cx="838298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changing the end point to be just to the left of the middle.</a:t>
            </a:r>
          </a:p>
        </p:txBody>
      </p:sp>
      <p:sp>
        <p:nvSpPr>
          <p:cNvPr id="15" name="New shape"/>
          <p:cNvSpPr/>
          <p:nvPr/>
        </p:nvSpPr>
        <p:spPr>
          <a:xfrm>
            <a:off x="1387094" y="5246553"/>
            <a:ext cx="124143" cy="39670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6" name="New shape"/>
          <p:cNvSpPr/>
          <p:nvPr/>
        </p:nvSpPr>
        <p:spPr>
          <a:xfrm>
            <a:off x="1615694" y="5220823"/>
            <a:ext cx="8680335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Otherwise, if thetarget is greater than what’s at the middle, </a:t>
            </a:r>
          </a:p>
        </p:txBody>
      </p:sp>
      <p:sp>
        <p:nvSpPr>
          <p:cNvPr id="17" name="New shape"/>
          <p:cNvSpPr/>
          <p:nvPr/>
        </p:nvSpPr>
        <p:spPr>
          <a:xfrm>
            <a:off x="1615694" y="5604559"/>
            <a:ext cx="8739151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repeat, changing the start point to be just to the right of the </a:t>
            </a:r>
          </a:p>
        </p:txBody>
      </p:sp>
      <p:sp>
        <p:nvSpPr>
          <p:cNvPr id="18" name="New shape"/>
          <p:cNvSpPr/>
          <p:nvPr/>
        </p:nvSpPr>
        <p:spPr>
          <a:xfrm>
            <a:off x="1615694" y="5989173"/>
            <a:ext cx="1085909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middle.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8382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15392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22402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29413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364236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43434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50444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7454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4465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71475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78486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854964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92506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99517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106527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153924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224028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294132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364236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434340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504444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574548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644652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714756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784860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854964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925068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995172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1065276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83820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1135380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4" name="New shape"/>
          <p:cNvSpPr/>
          <p:nvPr/>
        </p:nvSpPr>
        <p:spPr>
          <a:xfrm>
            <a:off x="831850" y="215582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5" name="New shape"/>
          <p:cNvSpPr/>
          <p:nvPr/>
        </p:nvSpPr>
        <p:spPr>
          <a:xfrm>
            <a:off x="831850" y="2734945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6" name="New shape"/>
          <p:cNvSpPr/>
          <p:nvPr/>
        </p:nvSpPr>
        <p:spPr>
          <a:xfrm>
            <a:off x="281940" y="4044061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7" name="New shape"/>
          <p:cNvSpPr/>
          <p:nvPr/>
        </p:nvSpPr>
        <p:spPr>
          <a:xfrm>
            <a:off x="703427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8" name="New shape"/>
          <p:cNvSpPr/>
          <p:nvPr/>
        </p:nvSpPr>
        <p:spPr>
          <a:xfrm>
            <a:off x="811415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9" name="New shape"/>
          <p:cNvSpPr/>
          <p:nvPr/>
        </p:nvSpPr>
        <p:spPr>
          <a:xfrm>
            <a:off x="9194037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0" name="New shape"/>
          <p:cNvSpPr/>
          <p:nvPr/>
        </p:nvSpPr>
        <p:spPr>
          <a:xfrm>
            <a:off x="10273919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1" name="New shape"/>
          <p:cNvSpPr/>
          <p:nvPr/>
        </p:nvSpPr>
        <p:spPr>
          <a:xfrm>
            <a:off x="703427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2" name="New shape"/>
          <p:cNvSpPr/>
          <p:nvPr/>
        </p:nvSpPr>
        <p:spPr>
          <a:xfrm>
            <a:off x="811415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3" name="New shape"/>
          <p:cNvSpPr/>
          <p:nvPr/>
        </p:nvSpPr>
        <p:spPr>
          <a:xfrm>
            <a:off x="9194037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4" name="New shape"/>
          <p:cNvSpPr/>
          <p:nvPr/>
        </p:nvSpPr>
        <p:spPr>
          <a:xfrm>
            <a:off x="10273919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5" name="New shape"/>
          <p:cNvSpPr/>
          <p:nvPr/>
        </p:nvSpPr>
        <p:spPr>
          <a:xfrm>
            <a:off x="8114157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6" name="New shape"/>
          <p:cNvSpPr/>
          <p:nvPr/>
        </p:nvSpPr>
        <p:spPr>
          <a:xfrm>
            <a:off x="9194038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7" name="New shape"/>
          <p:cNvSpPr/>
          <p:nvPr/>
        </p:nvSpPr>
        <p:spPr>
          <a:xfrm>
            <a:off x="10273919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8" name="New shape"/>
          <p:cNvSpPr/>
          <p:nvPr/>
        </p:nvSpPr>
        <p:spPr>
          <a:xfrm>
            <a:off x="7027926" y="1319022"/>
            <a:ext cx="4332224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9" name="New shape"/>
          <p:cNvSpPr/>
          <p:nvPr/>
        </p:nvSpPr>
        <p:spPr>
          <a:xfrm>
            <a:off x="7034276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0" name="New shape"/>
          <p:cNvSpPr/>
          <p:nvPr/>
        </p:nvSpPr>
        <p:spPr>
          <a:xfrm>
            <a:off x="11353800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1" name="New shape"/>
          <p:cNvSpPr/>
          <p:nvPr/>
        </p:nvSpPr>
        <p:spPr>
          <a:xfrm>
            <a:off x="7027926" y="8618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2" name="New shape"/>
          <p:cNvSpPr/>
          <p:nvPr/>
        </p:nvSpPr>
        <p:spPr>
          <a:xfrm>
            <a:off x="7027926" y="17762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3" name="New shape"/>
          <p:cNvSpPr/>
          <p:nvPr/>
        </p:nvSpPr>
        <p:spPr>
          <a:xfrm>
            <a:off x="929640" y="703804"/>
            <a:ext cx="3057104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Binary Search</a:t>
            </a:r>
          </a:p>
        </p:txBody>
      </p:sp>
      <p:sp>
        <p:nvSpPr>
          <p:cNvPr id="54" name="New shape"/>
          <p:cNvSpPr/>
          <p:nvPr/>
        </p:nvSpPr>
        <p:spPr>
          <a:xfrm>
            <a:off x="983285" y="2214212"/>
            <a:ext cx="10345140" cy="53925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 dirty="0">
                <a:solidFill>
                  <a:srgbClr val="FFFFFF"/>
                </a:solidFill>
                <a:latin typeface="Calibri"/>
              </a:rPr>
              <a:t>11   23     8    14   30     9    6     17   22   28   25   15     7   10   19</a:t>
            </a:r>
          </a:p>
        </p:txBody>
      </p:sp>
      <p:sp>
        <p:nvSpPr>
          <p:cNvPr id="55" name="New shape"/>
          <p:cNvSpPr/>
          <p:nvPr/>
        </p:nvSpPr>
        <p:spPr>
          <a:xfrm>
            <a:off x="281940" y="3651530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56" name="New shape"/>
          <p:cNvSpPr/>
          <p:nvPr/>
        </p:nvSpPr>
        <p:spPr>
          <a:xfrm>
            <a:off x="739140" y="4134458"/>
            <a:ext cx="5526351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Repeat until the (sub)array is of size 0:</a:t>
            </a:r>
          </a:p>
        </p:txBody>
      </p:sp>
      <p:sp>
        <p:nvSpPr>
          <p:cNvPr id="57" name="New shape"/>
          <p:cNvSpPr/>
          <p:nvPr/>
        </p:nvSpPr>
        <p:spPr>
          <a:xfrm>
            <a:off x="1196645" y="4557550"/>
            <a:ext cx="64649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Calculate the middle point of the current (sub)array.</a:t>
            </a:r>
          </a:p>
        </p:txBody>
      </p:sp>
      <p:sp>
        <p:nvSpPr>
          <p:cNvPr id="58" name="New shape"/>
          <p:cNvSpPr/>
          <p:nvPr/>
        </p:nvSpPr>
        <p:spPr>
          <a:xfrm>
            <a:off x="1196645" y="4923310"/>
            <a:ext cx="42170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If the target is at the middle, stop.</a:t>
            </a:r>
          </a:p>
        </p:txBody>
      </p:sp>
      <p:sp>
        <p:nvSpPr>
          <p:cNvPr id="59" name="New shape"/>
          <p:cNvSpPr/>
          <p:nvPr/>
        </p:nvSpPr>
        <p:spPr>
          <a:xfrm>
            <a:off x="1196645" y="5288810"/>
            <a:ext cx="10248423" cy="37244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2">
                <a:solidFill>
                  <a:srgbClr val="000000"/>
                </a:solidFill>
                <a:latin typeface="Calibri"/>
              </a:rPr>
              <a:t>Otherwise, if the target is less than what’s at the middle, repeat, changing the end </a:t>
            </a:r>
          </a:p>
        </p:txBody>
      </p:sp>
      <p:sp>
        <p:nvSpPr>
          <p:cNvPr id="60" name="New shape"/>
          <p:cNvSpPr/>
          <p:nvPr/>
        </p:nvSpPr>
        <p:spPr>
          <a:xfrm>
            <a:off x="1196645" y="5655109"/>
            <a:ext cx="4992291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left of the middle.</a:t>
            </a:r>
          </a:p>
        </p:txBody>
      </p:sp>
      <p:sp>
        <p:nvSpPr>
          <p:cNvPr id="61" name="New shape"/>
          <p:cNvSpPr/>
          <p:nvPr/>
        </p:nvSpPr>
        <p:spPr>
          <a:xfrm>
            <a:off x="1196645" y="6020870"/>
            <a:ext cx="1078929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Otherwise, if the target is greater than what’s at the middle, repeat, changing the start </a:t>
            </a:r>
          </a:p>
        </p:txBody>
      </p:sp>
      <p:sp>
        <p:nvSpPr>
          <p:cNvPr id="62" name="New shape"/>
          <p:cNvSpPr/>
          <p:nvPr/>
        </p:nvSpPr>
        <p:spPr>
          <a:xfrm>
            <a:off x="1196645" y="6386630"/>
            <a:ext cx="5157490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right of the middle.</a:t>
            </a:r>
          </a:p>
        </p:txBody>
      </p:sp>
      <p:sp>
        <p:nvSpPr>
          <p:cNvPr id="63" name="New shape"/>
          <p:cNvSpPr/>
          <p:nvPr/>
        </p:nvSpPr>
        <p:spPr>
          <a:xfrm>
            <a:off x="7182866" y="910875"/>
            <a:ext cx="1914883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Target      Start</a:t>
            </a:r>
          </a:p>
        </p:txBody>
      </p:sp>
      <p:sp>
        <p:nvSpPr>
          <p:cNvPr id="64" name="New shape"/>
          <p:cNvSpPr/>
          <p:nvPr/>
        </p:nvSpPr>
        <p:spPr>
          <a:xfrm>
            <a:off x="9496933" y="910875"/>
            <a:ext cx="1892506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End      Middle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New shape"/>
          <p:cNvSpPr/>
          <p:nvPr/>
        </p:nvSpPr>
        <p:spPr>
          <a:xfrm>
            <a:off x="8382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15392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22402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29413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364236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43434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50444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57454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64465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71475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78486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854964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92506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99517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106527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15392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4" name="New shape"/>
          <p:cNvSpPr/>
          <p:nvPr/>
        </p:nvSpPr>
        <p:spPr>
          <a:xfrm>
            <a:off x="22402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5" name="New shape"/>
          <p:cNvSpPr/>
          <p:nvPr/>
        </p:nvSpPr>
        <p:spPr>
          <a:xfrm>
            <a:off x="29413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6" name="New shape"/>
          <p:cNvSpPr/>
          <p:nvPr/>
        </p:nvSpPr>
        <p:spPr>
          <a:xfrm>
            <a:off x="36423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7" name="New shape"/>
          <p:cNvSpPr/>
          <p:nvPr/>
        </p:nvSpPr>
        <p:spPr>
          <a:xfrm>
            <a:off x="43434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8" name="New shape"/>
          <p:cNvSpPr/>
          <p:nvPr/>
        </p:nvSpPr>
        <p:spPr>
          <a:xfrm>
            <a:off x="50444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9" name="New shape"/>
          <p:cNvSpPr/>
          <p:nvPr/>
        </p:nvSpPr>
        <p:spPr>
          <a:xfrm>
            <a:off x="57454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0" name="New shape"/>
          <p:cNvSpPr/>
          <p:nvPr/>
        </p:nvSpPr>
        <p:spPr>
          <a:xfrm>
            <a:off x="64465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1" name="New shape"/>
          <p:cNvSpPr/>
          <p:nvPr/>
        </p:nvSpPr>
        <p:spPr>
          <a:xfrm>
            <a:off x="71475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2" name="New shape"/>
          <p:cNvSpPr/>
          <p:nvPr/>
        </p:nvSpPr>
        <p:spPr>
          <a:xfrm>
            <a:off x="78486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3" name="New shape"/>
          <p:cNvSpPr/>
          <p:nvPr/>
        </p:nvSpPr>
        <p:spPr>
          <a:xfrm>
            <a:off x="85496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4" name="New shape"/>
          <p:cNvSpPr/>
          <p:nvPr/>
        </p:nvSpPr>
        <p:spPr>
          <a:xfrm>
            <a:off x="92506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5" name="New shape"/>
          <p:cNvSpPr/>
          <p:nvPr/>
        </p:nvSpPr>
        <p:spPr>
          <a:xfrm>
            <a:off x="99517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6" name="New shape"/>
          <p:cNvSpPr/>
          <p:nvPr/>
        </p:nvSpPr>
        <p:spPr>
          <a:xfrm>
            <a:off x="106527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8" name="New shape"/>
          <p:cNvSpPr/>
          <p:nvPr/>
        </p:nvSpPr>
        <p:spPr>
          <a:xfrm>
            <a:off x="8382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9" name="New shape"/>
          <p:cNvSpPr/>
          <p:nvPr/>
        </p:nvSpPr>
        <p:spPr>
          <a:xfrm>
            <a:off x="113538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1" name="New shape"/>
          <p:cNvSpPr/>
          <p:nvPr/>
        </p:nvSpPr>
        <p:spPr>
          <a:xfrm>
            <a:off x="831850" y="310578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2" name="New shape"/>
          <p:cNvSpPr/>
          <p:nvPr/>
        </p:nvSpPr>
        <p:spPr>
          <a:xfrm>
            <a:off x="281940" y="4044061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9" name="New shape"/>
          <p:cNvSpPr/>
          <p:nvPr/>
        </p:nvSpPr>
        <p:spPr>
          <a:xfrm>
            <a:off x="929640" y="703804"/>
            <a:ext cx="3057104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Binary Search</a:t>
            </a:r>
          </a:p>
        </p:txBody>
      </p:sp>
      <p:sp>
        <p:nvSpPr>
          <p:cNvPr id="71" name="New shape"/>
          <p:cNvSpPr/>
          <p:nvPr/>
        </p:nvSpPr>
        <p:spPr>
          <a:xfrm>
            <a:off x="107503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[0]</a:t>
            </a:r>
          </a:p>
        </p:txBody>
      </p:sp>
      <p:sp>
        <p:nvSpPr>
          <p:cNvPr id="72" name="New shape"/>
          <p:cNvSpPr/>
          <p:nvPr/>
        </p:nvSpPr>
        <p:spPr>
          <a:xfrm>
            <a:off x="177609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[1]</a:t>
            </a:r>
          </a:p>
        </p:txBody>
      </p:sp>
      <p:sp>
        <p:nvSpPr>
          <p:cNvPr id="73" name="New shape"/>
          <p:cNvSpPr/>
          <p:nvPr/>
        </p:nvSpPr>
        <p:spPr>
          <a:xfrm>
            <a:off x="247713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[2]</a:t>
            </a:r>
          </a:p>
        </p:txBody>
      </p:sp>
      <p:sp>
        <p:nvSpPr>
          <p:cNvPr id="74" name="New shape"/>
          <p:cNvSpPr/>
          <p:nvPr/>
        </p:nvSpPr>
        <p:spPr>
          <a:xfrm>
            <a:off x="317817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[3]</a:t>
            </a:r>
          </a:p>
        </p:txBody>
      </p:sp>
      <p:sp>
        <p:nvSpPr>
          <p:cNvPr id="75" name="New shape"/>
          <p:cNvSpPr/>
          <p:nvPr/>
        </p:nvSpPr>
        <p:spPr>
          <a:xfrm>
            <a:off x="387946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[4]</a:t>
            </a:r>
          </a:p>
        </p:txBody>
      </p:sp>
      <p:sp>
        <p:nvSpPr>
          <p:cNvPr id="76" name="New shape"/>
          <p:cNvSpPr/>
          <p:nvPr/>
        </p:nvSpPr>
        <p:spPr>
          <a:xfrm>
            <a:off x="458050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[5]</a:t>
            </a:r>
          </a:p>
        </p:txBody>
      </p:sp>
      <p:sp>
        <p:nvSpPr>
          <p:cNvPr id="77" name="New shape"/>
          <p:cNvSpPr/>
          <p:nvPr/>
        </p:nvSpPr>
        <p:spPr>
          <a:xfrm>
            <a:off x="528154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[6]</a:t>
            </a:r>
          </a:p>
        </p:txBody>
      </p:sp>
      <p:sp>
        <p:nvSpPr>
          <p:cNvPr id="78" name="New shape"/>
          <p:cNvSpPr/>
          <p:nvPr/>
        </p:nvSpPr>
        <p:spPr>
          <a:xfrm>
            <a:off x="598297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[7]</a:t>
            </a:r>
          </a:p>
        </p:txBody>
      </p:sp>
      <p:sp>
        <p:nvSpPr>
          <p:cNvPr id="79" name="New shape"/>
          <p:cNvSpPr/>
          <p:nvPr/>
        </p:nvSpPr>
        <p:spPr>
          <a:xfrm>
            <a:off x="668401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[8]</a:t>
            </a:r>
          </a:p>
        </p:txBody>
      </p:sp>
      <p:sp>
        <p:nvSpPr>
          <p:cNvPr id="80" name="New shape"/>
          <p:cNvSpPr/>
          <p:nvPr/>
        </p:nvSpPr>
        <p:spPr>
          <a:xfrm>
            <a:off x="738505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[9]</a:t>
            </a:r>
          </a:p>
        </p:txBody>
      </p:sp>
      <p:sp>
        <p:nvSpPr>
          <p:cNvPr id="81" name="New shape"/>
          <p:cNvSpPr/>
          <p:nvPr/>
        </p:nvSpPr>
        <p:spPr>
          <a:xfrm>
            <a:off x="803579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[10]</a:t>
            </a:r>
          </a:p>
        </p:txBody>
      </p:sp>
      <p:sp>
        <p:nvSpPr>
          <p:cNvPr id="82" name="New shape"/>
          <p:cNvSpPr/>
          <p:nvPr/>
        </p:nvSpPr>
        <p:spPr>
          <a:xfrm>
            <a:off x="873683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[11]</a:t>
            </a:r>
          </a:p>
        </p:txBody>
      </p:sp>
      <p:sp>
        <p:nvSpPr>
          <p:cNvPr id="83" name="New shape"/>
          <p:cNvSpPr/>
          <p:nvPr/>
        </p:nvSpPr>
        <p:spPr>
          <a:xfrm>
            <a:off x="943813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[12]</a:t>
            </a:r>
          </a:p>
        </p:txBody>
      </p:sp>
      <p:sp>
        <p:nvSpPr>
          <p:cNvPr id="84" name="New shape"/>
          <p:cNvSpPr/>
          <p:nvPr/>
        </p:nvSpPr>
        <p:spPr>
          <a:xfrm>
            <a:off x="1013917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[13]</a:t>
            </a:r>
          </a:p>
        </p:txBody>
      </p:sp>
      <p:sp>
        <p:nvSpPr>
          <p:cNvPr id="85" name="New shape"/>
          <p:cNvSpPr/>
          <p:nvPr/>
        </p:nvSpPr>
        <p:spPr>
          <a:xfrm>
            <a:off x="1084021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[14]</a:t>
            </a:r>
          </a:p>
        </p:txBody>
      </p:sp>
      <p:sp>
        <p:nvSpPr>
          <p:cNvPr id="86" name="New shape"/>
          <p:cNvSpPr/>
          <p:nvPr/>
        </p:nvSpPr>
        <p:spPr>
          <a:xfrm>
            <a:off x="281940" y="3651530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87" name="New shape"/>
          <p:cNvSpPr/>
          <p:nvPr/>
        </p:nvSpPr>
        <p:spPr>
          <a:xfrm>
            <a:off x="739140" y="4134458"/>
            <a:ext cx="5526351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Repeat until the (sub)array is of size 0:</a:t>
            </a:r>
          </a:p>
        </p:txBody>
      </p:sp>
      <p:sp>
        <p:nvSpPr>
          <p:cNvPr id="88" name="New shape"/>
          <p:cNvSpPr/>
          <p:nvPr/>
        </p:nvSpPr>
        <p:spPr>
          <a:xfrm>
            <a:off x="1196645" y="4557550"/>
            <a:ext cx="64649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Calculate the middle point of the current (sub)array.</a:t>
            </a:r>
          </a:p>
        </p:txBody>
      </p:sp>
      <p:sp>
        <p:nvSpPr>
          <p:cNvPr id="89" name="New shape"/>
          <p:cNvSpPr/>
          <p:nvPr/>
        </p:nvSpPr>
        <p:spPr>
          <a:xfrm>
            <a:off x="1196645" y="4923310"/>
            <a:ext cx="42170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If the target is at the middle, stop.</a:t>
            </a:r>
          </a:p>
        </p:txBody>
      </p:sp>
      <p:sp>
        <p:nvSpPr>
          <p:cNvPr id="90" name="New shape"/>
          <p:cNvSpPr/>
          <p:nvPr/>
        </p:nvSpPr>
        <p:spPr>
          <a:xfrm>
            <a:off x="1196645" y="5288810"/>
            <a:ext cx="10248423" cy="37244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2">
                <a:solidFill>
                  <a:srgbClr val="000000"/>
                </a:solidFill>
                <a:latin typeface="Calibri"/>
              </a:rPr>
              <a:t>Otherwise, if the target is less than what’s at the middle, repeat, changing the end </a:t>
            </a:r>
          </a:p>
        </p:txBody>
      </p:sp>
      <p:sp>
        <p:nvSpPr>
          <p:cNvPr id="91" name="New shape"/>
          <p:cNvSpPr/>
          <p:nvPr/>
        </p:nvSpPr>
        <p:spPr>
          <a:xfrm>
            <a:off x="1196645" y="5655109"/>
            <a:ext cx="4992291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left of the middle.</a:t>
            </a:r>
          </a:p>
        </p:txBody>
      </p:sp>
      <p:sp>
        <p:nvSpPr>
          <p:cNvPr id="92" name="New shape"/>
          <p:cNvSpPr/>
          <p:nvPr/>
        </p:nvSpPr>
        <p:spPr>
          <a:xfrm>
            <a:off x="1196645" y="6020870"/>
            <a:ext cx="1078929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Otherwise, if the target is greater than what’s at the middle, repeat, changing the start </a:t>
            </a:r>
          </a:p>
        </p:txBody>
      </p:sp>
      <p:sp>
        <p:nvSpPr>
          <p:cNvPr id="93" name="New shape"/>
          <p:cNvSpPr/>
          <p:nvPr/>
        </p:nvSpPr>
        <p:spPr>
          <a:xfrm>
            <a:off x="1196645" y="6386630"/>
            <a:ext cx="5157490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right of the middle.</a:t>
            </a:r>
          </a:p>
        </p:txBody>
      </p:sp>
      <p:sp>
        <p:nvSpPr>
          <p:cNvPr id="96" name="New shape">
            <a:extLst>
              <a:ext uri="{FF2B5EF4-FFF2-40B4-BE49-F238E27FC236}">
                <a16:creationId xmlns:a16="http://schemas.microsoft.com/office/drawing/2014/main" id="{342290F0-9F9D-9797-B241-7AB74F8ECF90}"/>
              </a:ext>
            </a:extLst>
          </p:cNvPr>
          <p:cNvSpPr/>
          <p:nvPr/>
        </p:nvSpPr>
        <p:spPr>
          <a:xfrm>
            <a:off x="8382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7" name="New shape">
            <a:extLst>
              <a:ext uri="{FF2B5EF4-FFF2-40B4-BE49-F238E27FC236}">
                <a16:creationId xmlns:a16="http://schemas.microsoft.com/office/drawing/2014/main" id="{4A8CD06F-BB54-7153-D8DD-8195BF72239D}"/>
              </a:ext>
            </a:extLst>
          </p:cNvPr>
          <p:cNvSpPr/>
          <p:nvPr/>
        </p:nvSpPr>
        <p:spPr>
          <a:xfrm>
            <a:off x="15392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8" name="New shape">
            <a:extLst>
              <a:ext uri="{FF2B5EF4-FFF2-40B4-BE49-F238E27FC236}">
                <a16:creationId xmlns:a16="http://schemas.microsoft.com/office/drawing/2014/main" id="{416D726E-9A18-55C8-9A61-BC14020DCAA1}"/>
              </a:ext>
            </a:extLst>
          </p:cNvPr>
          <p:cNvSpPr/>
          <p:nvPr/>
        </p:nvSpPr>
        <p:spPr>
          <a:xfrm>
            <a:off x="22402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9" name="New shape">
            <a:extLst>
              <a:ext uri="{FF2B5EF4-FFF2-40B4-BE49-F238E27FC236}">
                <a16:creationId xmlns:a16="http://schemas.microsoft.com/office/drawing/2014/main" id="{C5D4A012-EDA4-B70B-A869-8CBE6F375250}"/>
              </a:ext>
            </a:extLst>
          </p:cNvPr>
          <p:cNvSpPr/>
          <p:nvPr/>
        </p:nvSpPr>
        <p:spPr>
          <a:xfrm>
            <a:off x="29413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0" name="New shape">
            <a:extLst>
              <a:ext uri="{FF2B5EF4-FFF2-40B4-BE49-F238E27FC236}">
                <a16:creationId xmlns:a16="http://schemas.microsoft.com/office/drawing/2014/main" id="{CE25D3D2-A852-B660-9A52-961051D2206C}"/>
              </a:ext>
            </a:extLst>
          </p:cNvPr>
          <p:cNvSpPr/>
          <p:nvPr/>
        </p:nvSpPr>
        <p:spPr>
          <a:xfrm>
            <a:off x="364236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1" name="New shape">
            <a:extLst>
              <a:ext uri="{FF2B5EF4-FFF2-40B4-BE49-F238E27FC236}">
                <a16:creationId xmlns:a16="http://schemas.microsoft.com/office/drawing/2014/main" id="{AC235AE8-ACD4-2CE7-9342-E90A755C67CC}"/>
              </a:ext>
            </a:extLst>
          </p:cNvPr>
          <p:cNvSpPr/>
          <p:nvPr/>
        </p:nvSpPr>
        <p:spPr>
          <a:xfrm>
            <a:off x="43434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2" name="New shape">
            <a:extLst>
              <a:ext uri="{FF2B5EF4-FFF2-40B4-BE49-F238E27FC236}">
                <a16:creationId xmlns:a16="http://schemas.microsoft.com/office/drawing/2014/main" id="{D0DE9DD6-E84E-72C1-9DED-8DA14F133FC5}"/>
              </a:ext>
            </a:extLst>
          </p:cNvPr>
          <p:cNvSpPr/>
          <p:nvPr/>
        </p:nvSpPr>
        <p:spPr>
          <a:xfrm>
            <a:off x="50444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3" name="New shape">
            <a:extLst>
              <a:ext uri="{FF2B5EF4-FFF2-40B4-BE49-F238E27FC236}">
                <a16:creationId xmlns:a16="http://schemas.microsoft.com/office/drawing/2014/main" id="{A857F883-94C6-3D25-784F-1883C1962180}"/>
              </a:ext>
            </a:extLst>
          </p:cNvPr>
          <p:cNvSpPr/>
          <p:nvPr/>
        </p:nvSpPr>
        <p:spPr>
          <a:xfrm>
            <a:off x="57454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4" name="New shape">
            <a:extLst>
              <a:ext uri="{FF2B5EF4-FFF2-40B4-BE49-F238E27FC236}">
                <a16:creationId xmlns:a16="http://schemas.microsoft.com/office/drawing/2014/main" id="{A2C951BD-A0E2-D336-F2CD-568DF320C41E}"/>
              </a:ext>
            </a:extLst>
          </p:cNvPr>
          <p:cNvSpPr/>
          <p:nvPr/>
        </p:nvSpPr>
        <p:spPr>
          <a:xfrm>
            <a:off x="64465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5" name="New shape">
            <a:extLst>
              <a:ext uri="{FF2B5EF4-FFF2-40B4-BE49-F238E27FC236}">
                <a16:creationId xmlns:a16="http://schemas.microsoft.com/office/drawing/2014/main" id="{2B0FB4ED-2E8B-472A-82E1-22C7F28D483F}"/>
              </a:ext>
            </a:extLst>
          </p:cNvPr>
          <p:cNvSpPr/>
          <p:nvPr/>
        </p:nvSpPr>
        <p:spPr>
          <a:xfrm>
            <a:off x="71475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6" name="New shape">
            <a:extLst>
              <a:ext uri="{FF2B5EF4-FFF2-40B4-BE49-F238E27FC236}">
                <a16:creationId xmlns:a16="http://schemas.microsoft.com/office/drawing/2014/main" id="{52B041C0-29E7-B19A-47E5-425CDB686E8E}"/>
              </a:ext>
            </a:extLst>
          </p:cNvPr>
          <p:cNvSpPr/>
          <p:nvPr/>
        </p:nvSpPr>
        <p:spPr>
          <a:xfrm>
            <a:off x="78486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7" name="New shape">
            <a:extLst>
              <a:ext uri="{FF2B5EF4-FFF2-40B4-BE49-F238E27FC236}">
                <a16:creationId xmlns:a16="http://schemas.microsoft.com/office/drawing/2014/main" id="{05E3A8EA-3BB8-D306-F304-628BC3E19385}"/>
              </a:ext>
            </a:extLst>
          </p:cNvPr>
          <p:cNvSpPr/>
          <p:nvPr/>
        </p:nvSpPr>
        <p:spPr>
          <a:xfrm>
            <a:off x="854964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8" name="New shape">
            <a:extLst>
              <a:ext uri="{FF2B5EF4-FFF2-40B4-BE49-F238E27FC236}">
                <a16:creationId xmlns:a16="http://schemas.microsoft.com/office/drawing/2014/main" id="{4D5EA053-93E0-1AC9-A98F-11DFD4B88E25}"/>
              </a:ext>
            </a:extLst>
          </p:cNvPr>
          <p:cNvSpPr/>
          <p:nvPr/>
        </p:nvSpPr>
        <p:spPr>
          <a:xfrm>
            <a:off x="92506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9" name="New shape">
            <a:extLst>
              <a:ext uri="{FF2B5EF4-FFF2-40B4-BE49-F238E27FC236}">
                <a16:creationId xmlns:a16="http://schemas.microsoft.com/office/drawing/2014/main" id="{642D2A86-329F-0909-35AE-D3D856278FC3}"/>
              </a:ext>
            </a:extLst>
          </p:cNvPr>
          <p:cNvSpPr/>
          <p:nvPr/>
        </p:nvSpPr>
        <p:spPr>
          <a:xfrm>
            <a:off x="99517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0" name="New shape">
            <a:extLst>
              <a:ext uri="{FF2B5EF4-FFF2-40B4-BE49-F238E27FC236}">
                <a16:creationId xmlns:a16="http://schemas.microsoft.com/office/drawing/2014/main" id="{775F04BE-D5BD-ECEB-E4B9-A52BADC884B3}"/>
              </a:ext>
            </a:extLst>
          </p:cNvPr>
          <p:cNvSpPr/>
          <p:nvPr/>
        </p:nvSpPr>
        <p:spPr>
          <a:xfrm>
            <a:off x="106527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1" name="New shape">
            <a:extLst>
              <a:ext uri="{FF2B5EF4-FFF2-40B4-BE49-F238E27FC236}">
                <a16:creationId xmlns:a16="http://schemas.microsoft.com/office/drawing/2014/main" id="{46CF54D1-BF8F-C254-79FF-4968E058A3A1}"/>
              </a:ext>
            </a:extLst>
          </p:cNvPr>
          <p:cNvSpPr/>
          <p:nvPr/>
        </p:nvSpPr>
        <p:spPr>
          <a:xfrm>
            <a:off x="153924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2" name="New shape">
            <a:extLst>
              <a:ext uri="{FF2B5EF4-FFF2-40B4-BE49-F238E27FC236}">
                <a16:creationId xmlns:a16="http://schemas.microsoft.com/office/drawing/2014/main" id="{07A3CFD2-B8D3-AE5D-C10F-5C0CA8081E0A}"/>
              </a:ext>
            </a:extLst>
          </p:cNvPr>
          <p:cNvSpPr/>
          <p:nvPr/>
        </p:nvSpPr>
        <p:spPr>
          <a:xfrm>
            <a:off x="224028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3" name="New shape">
            <a:extLst>
              <a:ext uri="{FF2B5EF4-FFF2-40B4-BE49-F238E27FC236}">
                <a16:creationId xmlns:a16="http://schemas.microsoft.com/office/drawing/2014/main" id="{DD0CB8DB-8355-D8BC-4C85-4BE7BFF45260}"/>
              </a:ext>
            </a:extLst>
          </p:cNvPr>
          <p:cNvSpPr/>
          <p:nvPr/>
        </p:nvSpPr>
        <p:spPr>
          <a:xfrm>
            <a:off x="294132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4" name="New shape">
            <a:extLst>
              <a:ext uri="{FF2B5EF4-FFF2-40B4-BE49-F238E27FC236}">
                <a16:creationId xmlns:a16="http://schemas.microsoft.com/office/drawing/2014/main" id="{8B67D9C8-A2E9-4844-FF4E-9F7E91A34347}"/>
              </a:ext>
            </a:extLst>
          </p:cNvPr>
          <p:cNvSpPr/>
          <p:nvPr/>
        </p:nvSpPr>
        <p:spPr>
          <a:xfrm>
            <a:off x="364236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5" name="New shape">
            <a:extLst>
              <a:ext uri="{FF2B5EF4-FFF2-40B4-BE49-F238E27FC236}">
                <a16:creationId xmlns:a16="http://schemas.microsoft.com/office/drawing/2014/main" id="{FB052C0D-FF75-BB3C-D5C1-5237ADB4899A}"/>
              </a:ext>
            </a:extLst>
          </p:cNvPr>
          <p:cNvSpPr/>
          <p:nvPr/>
        </p:nvSpPr>
        <p:spPr>
          <a:xfrm>
            <a:off x="434340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6" name="New shape">
            <a:extLst>
              <a:ext uri="{FF2B5EF4-FFF2-40B4-BE49-F238E27FC236}">
                <a16:creationId xmlns:a16="http://schemas.microsoft.com/office/drawing/2014/main" id="{764EA293-45FB-A10C-8664-972F116F1BEF}"/>
              </a:ext>
            </a:extLst>
          </p:cNvPr>
          <p:cNvSpPr/>
          <p:nvPr/>
        </p:nvSpPr>
        <p:spPr>
          <a:xfrm>
            <a:off x="504444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7" name="New shape">
            <a:extLst>
              <a:ext uri="{FF2B5EF4-FFF2-40B4-BE49-F238E27FC236}">
                <a16:creationId xmlns:a16="http://schemas.microsoft.com/office/drawing/2014/main" id="{5F12B3A6-6562-7512-D720-D13A24A6A891}"/>
              </a:ext>
            </a:extLst>
          </p:cNvPr>
          <p:cNvSpPr/>
          <p:nvPr/>
        </p:nvSpPr>
        <p:spPr>
          <a:xfrm>
            <a:off x="574548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8" name="New shape">
            <a:extLst>
              <a:ext uri="{FF2B5EF4-FFF2-40B4-BE49-F238E27FC236}">
                <a16:creationId xmlns:a16="http://schemas.microsoft.com/office/drawing/2014/main" id="{A37F97CF-BF8C-2C3F-90BB-496904898AF5}"/>
              </a:ext>
            </a:extLst>
          </p:cNvPr>
          <p:cNvSpPr/>
          <p:nvPr/>
        </p:nvSpPr>
        <p:spPr>
          <a:xfrm>
            <a:off x="644652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9" name="New shape">
            <a:extLst>
              <a:ext uri="{FF2B5EF4-FFF2-40B4-BE49-F238E27FC236}">
                <a16:creationId xmlns:a16="http://schemas.microsoft.com/office/drawing/2014/main" id="{36F3E57C-88B6-53C1-875A-36A45F066048}"/>
              </a:ext>
            </a:extLst>
          </p:cNvPr>
          <p:cNvSpPr/>
          <p:nvPr/>
        </p:nvSpPr>
        <p:spPr>
          <a:xfrm>
            <a:off x="714756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0" name="New shape">
            <a:extLst>
              <a:ext uri="{FF2B5EF4-FFF2-40B4-BE49-F238E27FC236}">
                <a16:creationId xmlns:a16="http://schemas.microsoft.com/office/drawing/2014/main" id="{EBFA41C7-9336-AD70-D3C7-0E50D56ADEA7}"/>
              </a:ext>
            </a:extLst>
          </p:cNvPr>
          <p:cNvSpPr/>
          <p:nvPr/>
        </p:nvSpPr>
        <p:spPr>
          <a:xfrm>
            <a:off x="784860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1" name="New shape">
            <a:extLst>
              <a:ext uri="{FF2B5EF4-FFF2-40B4-BE49-F238E27FC236}">
                <a16:creationId xmlns:a16="http://schemas.microsoft.com/office/drawing/2014/main" id="{615C0DE1-EFEC-6CE5-7887-A47B89017287}"/>
              </a:ext>
            </a:extLst>
          </p:cNvPr>
          <p:cNvSpPr/>
          <p:nvPr/>
        </p:nvSpPr>
        <p:spPr>
          <a:xfrm>
            <a:off x="854964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2" name="New shape">
            <a:extLst>
              <a:ext uri="{FF2B5EF4-FFF2-40B4-BE49-F238E27FC236}">
                <a16:creationId xmlns:a16="http://schemas.microsoft.com/office/drawing/2014/main" id="{18399C37-C7CE-E7D8-5A65-8CE18F196DCD}"/>
              </a:ext>
            </a:extLst>
          </p:cNvPr>
          <p:cNvSpPr/>
          <p:nvPr/>
        </p:nvSpPr>
        <p:spPr>
          <a:xfrm>
            <a:off x="925068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3" name="New shape">
            <a:extLst>
              <a:ext uri="{FF2B5EF4-FFF2-40B4-BE49-F238E27FC236}">
                <a16:creationId xmlns:a16="http://schemas.microsoft.com/office/drawing/2014/main" id="{51C5C1D5-73A9-A803-DA2A-9FC9212262C8}"/>
              </a:ext>
            </a:extLst>
          </p:cNvPr>
          <p:cNvSpPr/>
          <p:nvPr/>
        </p:nvSpPr>
        <p:spPr>
          <a:xfrm>
            <a:off x="995172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4" name="New shape">
            <a:extLst>
              <a:ext uri="{FF2B5EF4-FFF2-40B4-BE49-F238E27FC236}">
                <a16:creationId xmlns:a16="http://schemas.microsoft.com/office/drawing/2014/main" id="{DA24361E-5A70-D249-CE26-D5D24DEBBBFE}"/>
              </a:ext>
            </a:extLst>
          </p:cNvPr>
          <p:cNvSpPr/>
          <p:nvPr/>
        </p:nvSpPr>
        <p:spPr>
          <a:xfrm>
            <a:off x="1065276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5" name="New shape">
            <a:extLst>
              <a:ext uri="{FF2B5EF4-FFF2-40B4-BE49-F238E27FC236}">
                <a16:creationId xmlns:a16="http://schemas.microsoft.com/office/drawing/2014/main" id="{C00FBE48-9A6B-3359-1083-979FA20E8B4B}"/>
              </a:ext>
            </a:extLst>
          </p:cNvPr>
          <p:cNvSpPr/>
          <p:nvPr/>
        </p:nvSpPr>
        <p:spPr>
          <a:xfrm>
            <a:off x="83820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6" name="New shape">
            <a:extLst>
              <a:ext uri="{FF2B5EF4-FFF2-40B4-BE49-F238E27FC236}">
                <a16:creationId xmlns:a16="http://schemas.microsoft.com/office/drawing/2014/main" id="{210AA17D-7499-6269-70DD-95D65D5CD407}"/>
              </a:ext>
            </a:extLst>
          </p:cNvPr>
          <p:cNvSpPr/>
          <p:nvPr/>
        </p:nvSpPr>
        <p:spPr>
          <a:xfrm>
            <a:off x="11353800" y="2149475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7" name="New shape">
            <a:extLst>
              <a:ext uri="{FF2B5EF4-FFF2-40B4-BE49-F238E27FC236}">
                <a16:creationId xmlns:a16="http://schemas.microsoft.com/office/drawing/2014/main" id="{677CE87C-F96E-55E0-BB95-3147A4783D6E}"/>
              </a:ext>
            </a:extLst>
          </p:cNvPr>
          <p:cNvSpPr/>
          <p:nvPr/>
        </p:nvSpPr>
        <p:spPr>
          <a:xfrm>
            <a:off x="831850" y="215582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8" name="New shape">
            <a:extLst>
              <a:ext uri="{FF2B5EF4-FFF2-40B4-BE49-F238E27FC236}">
                <a16:creationId xmlns:a16="http://schemas.microsoft.com/office/drawing/2014/main" id="{26EA20B4-E686-A1DD-EEEC-0A167383113F}"/>
              </a:ext>
            </a:extLst>
          </p:cNvPr>
          <p:cNvSpPr/>
          <p:nvPr/>
        </p:nvSpPr>
        <p:spPr>
          <a:xfrm>
            <a:off x="831850" y="2734945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9" name="New shape">
            <a:extLst>
              <a:ext uri="{FF2B5EF4-FFF2-40B4-BE49-F238E27FC236}">
                <a16:creationId xmlns:a16="http://schemas.microsoft.com/office/drawing/2014/main" id="{4A59B74D-79EC-E024-7F1C-170006528F3F}"/>
              </a:ext>
            </a:extLst>
          </p:cNvPr>
          <p:cNvSpPr/>
          <p:nvPr/>
        </p:nvSpPr>
        <p:spPr>
          <a:xfrm>
            <a:off x="983285" y="2214212"/>
            <a:ext cx="10345140" cy="53925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 dirty="0">
                <a:solidFill>
                  <a:srgbClr val="FFFFFF"/>
                </a:solidFill>
                <a:latin typeface="Calibri"/>
              </a:rPr>
              <a:t>11   23     8    14   30     9    6     17   22   28   25   15     7   10   19</a:t>
            </a:r>
          </a:p>
        </p:txBody>
      </p:sp>
      <p:sp>
        <p:nvSpPr>
          <p:cNvPr id="130" name="New shape">
            <a:extLst>
              <a:ext uri="{FF2B5EF4-FFF2-40B4-BE49-F238E27FC236}">
                <a16:creationId xmlns:a16="http://schemas.microsoft.com/office/drawing/2014/main" id="{161137F8-0FDD-B83D-C218-E70A28888456}"/>
              </a:ext>
            </a:extLst>
          </p:cNvPr>
          <p:cNvSpPr/>
          <p:nvPr/>
        </p:nvSpPr>
        <p:spPr>
          <a:xfrm>
            <a:off x="703427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1" name="New shape">
            <a:extLst>
              <a:ext uri="{FF2B5EF4-FFF2-40B4-BE49-F238E27FC236}">
                <a16:creationId xmlns:a16="http://schemas.microsoft.com/office/drawing/2014/main" id="{88F67FCC-4F04-0A56-5C06-33A08C36820C}"/>
              </a:ext>
            </a:extLst>
          </p:cNvPr>
          <p:cNvSpPr/>
          <p:nvPr/>
        </p:nvSpPr>
        <p:spPr>
          <a:xfrm>
            <a:off x="811415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2" name="New shape">
            <a:extLst>
              <a:ext uri="{FF2B5EF4-FFF2-40B4-BE49-F238E27FC236}">
                <a16:creationId xmlns:a16="http://schemas.microsoft.com/office/drawing/2014/main" id="{FC85A9E2-7234-518E-3387-086DA98DAE60}"/>
              </a:ext>
            </a:extLst>
          </p:cNvPr>
          <p:cNvSpPr/>
          <p:nvPr/>
        </p:nvSpPr>
        <p:spPr>
          <a:xfrm>
            <a:off x="9194037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3" name="New shape">
            <a:extLst>
              <a:ext uri="{FF2B5EF4-FFF2-40B4-BE49-F238E27FC236}">
                <a16:creationId xmlns:a16="http://schemas.microsoft.com/office/drawing/2014/main" id="{835E9157-8B35-754D-E734-654E84DC58CA}"/>
              </a:ext>
            </a:extLst>
          </p:cNvPr>
          <p:cNvSpPr/>
          <p:nvPr/>
        </p:nvSpPr>
        <p:spPr>
          <a:xfrm>
            <a:off x="10273919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4" name="New shape">
            <a:extLst>
              <a:ext uri="{FF2B5EF4-FFF2-40B4-BE49-F238E27FC236}">
                <a16:creationId xmlns:a16="http://schemas.microsoft.com/office/drawing/2014/main" id="{2420EB9D-45CB-F1C4-CF70-FDF9900AA032}"/>
              </a:ext>
            </a:extLst>
          </p:cNvPr>
          <p:cNvSpPr/>
          <p:nvPr/>
        </p:nvSpPr>
        <p:spPr>
          <a:xfrm>
            <a:off x="703427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5" name="New shape">
            <a:extLst>
              <a:ext uri="{FF2B5EF4-FFF2-40B4-BE49-F238E27FC236}">
                <a16:creationId xmlns:a16="http://schemas.microsoft.com/office/drawing/2014/main" id="{69377840-54BA-C3C4-9331-1C02735D920E}"/>
              </a:ext>
            </a:extLst>
          </p:cNvPr>
          <p:cNvSpPr/>
          <p:nvPr/>
        </p:nvSpPr>
        <p:spPr>
          <a:xfrm>
            <a:off x="811415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6" name="New shape">
            <a:extLst>
              <a:ext uri="{FF2B5EF4-FFF2-40B4-BE49-F238E27FC236}">
                <a16:creationId xmlns:a16="http://schemas.microsoft.com/office/drawing/2014/main" id="{415C9536-3821-071C-F0F3-5FFC25BE38FA}"/>
              </a:ext>
            </a:extLst>
          </p:cNvPr>
          <p:cNvSpPr/>
          <p:nvPr/>
        </p:nvSpPr>
        <p:spPr>
          <a:xfrm>
            <a:off x="9194037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7" name="New shape">
            <a:extLst>
              <a:ext uri="{FF2B5EF4-FFF2-40B4-BE49-F238E27FC236}">
                <a16:creationId xmlns:a16="http://schemas.microsoft.com/office/drawing/2014/main" id="{95C90B4E-E5CF-65CB-41B6-8594F8A03893}"/>
              </a:ext>
            </a:extLst>
          </p:cNvPr>
          <p:cNvSpPr/>
          <p:nvPr/>
        </p:nvSpPr>
        <p:spPr>
          <a:xfrm>
            <a:off x="10273919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8" name="New shape">
            <a:extLst>
              <a:ext uri="{FF2B5EF4-FFF2-40B4-BE49-F238E27FC236}">
                <a16:creationId xmlns:a16="http://schemas.microsoft.com/office/drawing/2014/main" id="{716F2073-C714-C711-BE8F-C82772B95D32}"/>
              </a:ext>
            </a:extLst>
          </p:cNvPr>
          <p:cNvSpPr/>
          <p:nvPr/>
        </p:nvSpPr>
        <p:spPr>
          <a:xfrm>
            <a:off x="8114157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9" name="New shape">
            <a:extLst>
              <a:ext uri="{FF2B5EF4-FFF2-40B4-BE49-F238E27FC236}">
                <a16:creationId xmlns:a16="http://schemas.microsoft.com/office/drawing/2014/main" id="{7AC88562-E919-ADC8-E758-15910C05FA56}"/>
              </a:ext>
            </a:extLst>
          </p:cNvPr>
          <p:cNvSpPr/>
          <p:nvPr/>
        </p:nvSpPr>
        <p:spPr>
          <a:xfrm>
            <a:off x="9194038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0" name="New shape">
            <a:extLst>
              <a:ext uri="{FF2B5EF4-FFF2-40B4-BE49-F238E27FC236}">
                <a16:creationId xmlns:a16="http://schemas.microsoft.com/office/drawing/2014/main" id="{A61D9DF6-7582-848C-B1B7-6A284814B2F7}"/>
              </a:ext>
            </a:extLst>
          </p:cNvPr>
          <p:cNvSpPr/>
          <p:nvPr/>
        </p:nvSpPr>
        <p:spPr>
          <a:xfrm>
            <a:off x="10273919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1" name="New shape">
            <a:extLst>
              <a:ext uri="{FF2B5EF4-FFF2-40B4-BE49-F238E27FC236}">
                <a16:creationId xmlns:a16="http://schemas.microsoft.com/office/drawing/2014/main" id="{A313252F-7A88-A151-EF78-138554A4B6D0}"/>
              </a:ext>
            </a:extLst>
          </p:cNvPr>
          <p:cNvSpPr/>
          <p:nvPr/>
        </p:nvSpPr>
        <p:spPr>
          <a:xfrm>
            <a:off x="7027926" y="1319022"/>
            <a:ext cx="4332224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2" name="New shape">
            <a:extLst>
              <a:ext uri="{FF2B5EF4-FFF2-40B4-BE49-F238E27FC236}">
                <a16:creationId xmlns:a16="http://schemas.microsoft.com/office/drawing/2014/main" id="{7F3AC40B-FCAF-58E6-FADA-245902D5FBF2}"/>
              </a:ext>
            </a:extLst>
          </p:cNvPr>
          <p:cNvSpPr/>
          <p:nvPr/>
        </p:nvSpPr>
        <p:spPr>
          <a:xfrm>
            <a:off x="7034276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3" name="New shape">
            <a:extLst>
              <a:ext uri="{FF2B5EF4-FFF2-40B4-BE49-F238E27FC236}">
                <a16:creationId xmlns:a16="http://schemas.microsoft.com/office/drawing/2014/main" id="{AA78D32B-0F6A-D132-615D-DFB43B68B86D}"/>
              </a:ext>
            </a:extLst>
          </p:cNvPr>
          <p:cNvSpPr/>
          <p:nvPr/>
        </p:nvSpPr>
        <p:spPr>
          <a:xfrm>
            <a:off x="11353800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4" name="New shape">
            <a:extLst>
              <a:ext uri="{FF2B5EF4-FFF2-40B4-BE49-F238E27FC236}">
                <a16:creationId xmlns:a16="http://schemas.microsoft.com/office/drawing/2014/main" id="{DD98E6B2-692D-0BD1-7E31-8441F475DCD8}"/>
              </a:ext>
            </a:extLst>
          </p:cNvPr>
          <p:cNvSpPr/>
          <p:nvPr/>
        </p:nvSpPr>
        <p:spPr>
          <a:xfrm>
            <a:off x="7027926" y="8618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5" name="New shape">
            <a:extLst>
              <a:ext uri="{FF2B5EF4-FFF2-40B4-BE49-F238E27FC236}">
                <a16:creationId xmlns:a16="http://schemas.microsoft.com/office/drawing/2014/main" id="{A0244493-7867-C94D-731E-779CD66EC2E0}"/>
              </a:ext>
            </a:extLst>
          </p:cNvPr>
          <p:cNvSpPr/>
          <p:nvPr/>
        </p:nvSpPr>
        <p:spPr>
          <a:xfrm>
            <a:off x="7027926" y="17762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6" name="New shape">
            <a:extLst>
              <a:ext uri="{FF2B5EF4-FFF2-40B4-BE49-F238E27FC236}">
                <a16:creationId xmlns:a16="http://schemas.microsoft.com/office/drawing/2014/main" id="{820454D0-2CCD-AB5A-E6C9-1A52C0E09286}"/>
              </a:ext>
            </a:extLst>
          </p:cNvPr>
          <p:cNvSpPr/>
          <p:nvPr/>
        </p:nvSpPr>
        <p:spPr>
          <a:xfrm>
            <a:off x="7182866" y="910875"/>
            <a:ext cx="1914883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Target      Start</a:t>
            </a:r>
          </a:p>
        </p:txBody>
      </p:sp>
      <p:sp>
        <p:nvSpPr>
          <p:cNvPr id="147" name="New shape">
            <a:extLst>
              <a:ext uri="{FF2B5EF4-FFF2-40B4-BE49-F238E27FC236}">
                <a16:creationId xmlns:a16="http://schemas.microsoft.com/office/drawing/2014/main" id="{79613FCE-B05C-BF13-E181-B3D29D01A46E}"/>
              </a:ext>
            </a:extLst>
          </p:cNvPr>
          <p:cNvSpPr/>
          <p:nvPr/>
        </p:nvSpPr>
        <p:spPr>
          <a:xfrm>
            <a:off x="9496933" y="910875"/>
            <a:ext cx="1892506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End      Middle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8382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15392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22402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29413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364236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43434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50444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7454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4465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71475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78486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854964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92506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99517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106527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8382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15392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22402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29413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364236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43434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50444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57454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64465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71475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78486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854964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92506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99517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106527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15392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4" name="New shape"/>
          <p:cNvSpPr/>
          <p:nvPr/>
        </p:nvSpPr>
        <p:spPr>
          <a:xfrm>
            <a:off x="22402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5" name="New shape"/>
          <p:cNvSpPr/>
          <p:nvPr/>
        </p:nvSpPr>
        <p:spPr>
          <a:xfrm>
            <a:off x="29413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6" name="New shape"/>
          <p:cNvSpPr/>
          <p:nvPr/>
        </p:nvSpPr>
        <p:spPr>
          <a:xfrm>
            <a:off x="36423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7" name="New shape"/>
          <p:cNvSpPr/>
          <p:nvPr/>
        </p:nvSpPr>
        <p:spPr>
          <a:xfrm>
            <a:off x="43434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8" name="New shape"/>
          <p:cNvSpPr/>
          <p:nvPr/>
        </p:nvSpPr>
        <p:spPr>
          <a:xfrm>
            <a:off x="50444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9" name="New shape"/>
          <p:cNvSpPr/>
          <p:nvPr/>
        </p:nvSpPr>
        <p:spPr>
          <a:xfrm>
            <a:off x="57454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0" name="New shape"/>
          <p:cNvSpPr/>
          <p:nvPr/>
        </p:nvSpPr>
        <p:spPr>
          <a:xfrm>
            <a:off x="64465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1" name="New shape"/>
          <p:cNvSpPr/>
          <p:nvPr/>
        </p:nvSpPr>
        <p:spPr>
          <a:xfrm>
            <a:off x="71475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2" name="New shape"/>
          <p:cNvSpPr/>
          <p:nvPr/>
        </p:nvSpPr>
        <p:spPr>
          <a:xfrm>
            <a:off x="78486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3" name="New shape"/>
          <p:cNvSpPr/>
          <p:nvPr/>
        </p:nvSpPr>
        <p:spPr>
          <a:xfrm>
            <a:off x="85496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4" name="New shape"/>
          <p:cNvSpPr/>
          <p:nvPr/>
        </p:nvSpPr>
        <p:spPr>
          <a:xfrm>
            <a:off x="92506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5" name="New shape"/>
          <p:cNvSpPr/>
          <p:nvPr/>
        </p:nvSpPr>
        <p:spPr>
          <a:xfrm>
            <a:off x="99517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6" name="New shape"/>
          <p:cNvSpPr/>
          <p:nvPr/>
        </p:nvSpPr>
        <p:spPr>
          <a:xfrm>
            <a:off x="106527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7" name="New shape"/>
          <p:cNvSpPr/>
          <p:nvPr/>
        </p:nvSpPr>
        <p:spPr>
          <a:xfrm>
            <a:off x="831850" y="2734945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8" name="New shape"/>
          <p:cNvSpPr/>
          <p:nvPr/>
        </p:nvSpPr>
        <p:spPr>
          <a:xfrm>
            <a:off x="8382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9" name="New shape"/>
          <p:cNvSpPr/>
          <p:nvPr/>
        </p:nvSpPr>
        <p:spPr>
          <a:xfrm>
            <a:off x="113538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0" name="New shape"/>
          <p:cNvSpPr/>
          <p:nvPr/>
        </p:nvSpPr>
        <p:spPr>
          <a:xfrm>
            <a:off x="831850" y="215582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1" name="New shape"/>
          <p:cNvSpPr/>
          <p:nvPr/>
        </p:nvSpPr>
        <p:spPr>
          <a:xfrm>
            <a:off x="831850" y="310578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2" name="New shape"/>
          <p:cNvSpPr/>
          <p:nvPr/>
        </p:nvSpPr>
        <p:spPr>
          <a:xfrm>
            <a:off x="281940" y="4044061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9" name="New shape"/>
          <p:cNvSpPr/>
          <p:nvPr/>
        </p:nvSpPr>
        <p:spPr>
          <a:xfrm>
            <a:off x="929640" y="703804"/>
            <a:ext cx="3057104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Binary Search</a:t>
            </a:r>
          </a:p>
        </p:txBody>
      </p:sp>
      <p:sp>
        <p:nvSpPr>
          <p:cNvPr id="70" name="New shape"/>
          <p:cNvSpPr/>
          <p:nvPr/>
        </p:nvSpPr>
        <p:spPr>
          <a:xfrm>
            <a:off x="1085393" y="2214212"/>
            <a:ext cx="10345140" cy="53925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 dirty="0">
                <a:solidFill>
                  <a:srgbClr val="FFFFFF"/>
                </a:solidFill>
                <a:latin typeface="Calibri"/>
              </a:rPr>
              <a:t>6      7     8     9     10   11   14   15    17  19    22   23   25   28   30</a:t>
            </a:r>
          </a:p>
        </p:txBody>
      </p:sp>
      <p:sp>
        <p:nvSpPr>
          <p:cNvPr id="71" name="New shape"/>
          <p:cNvSpPr/>
          <p:nvPr/>
        </p:nvSpPr>
        <p:spPr>
          <a:xfrm>
            <a:off x="107503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[0]</a:t>
            </a:r>
          </a:p>
        </p:txBody>
      </p:sp>
      <p:sp>
        <p:nvSpPr>
          <p:cNvPr id="72" name="New shape"/>
          <p:cNvSpPr/>
          <p:nvPr/>
        </p:nvSpPr>
        <p:spPr>
          <a:xfrm>
            <a:off x="177609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[1]</a:t>
            </a:r>
          </a:p>
        </p:txBody>
      </p:sp>
      <p:sp>
        <p:nvSpPr>
          <p:cNvPr id="73" name="New shape"/>
          <p:cNvSpPr/>
          <p:nvPr/>
        </p:nvSpPr>
        <p:spPr>
          <a:xfrm>
            <a:off x="247713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[2]</a:t>
            </a:r>
          </a:p>
        </p:txBody>
      </p:sp>
      <p:sp>
        <p:nvSpPr>
          <p:cNvPr id="74" name="New shape"/>
          <p:cNvSpPr/>
          <p:nvPr/>
        </p:nvSpPr>
        <p:spPr>
          <a:xfrm>
            <a:off x="317817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[3]</a:t>
            </a:r>
          </a:p>
        </p:txBody>
      </p:sp>
      <p:sp>
        <p:nvSpPr>
          <p:cNvPr id="75" name="New shape"/>
          <p:cNvSpPr/>
          <p:nvPr/>
        </p:nvSpPr>
        <p:spPr>
          <a:xfrm>
            <a:off x="387946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[4]</a:t>
            </a:r>
          </a:p>
        </p:txBody>
      </p:sp>
      <p:sp>
        <p:nvSpPr>
          <p:cNvPr id="76" name="New shape"/>
          <p:cNvSpPr/>
          <p:nvPr/>
        </p:nvSpPr>
        <p:spPr>
          <a:xfrm>
            <a:off x="458050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[5]</a:t>
            </a:r>
          </a:p>
        </p:txBody>
      </p:sp>
      <p:sp>
        <p:nvSpPr>
          <p:cNvPr id="77" name="New shape"/>
          <p:cNvSpPr/>
          <p:nvPr/>
        </p:nvSpPr>
        <p:spPr>
          <a:xfrm>
            <a:off x="528154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[6]</a:t>
            </a:r>
          </a:p>
        </p:txBody>
      </p:sp>
      <p:sp>
        <p:nvSpPr>
          <p:cNvPr id="78" name="New shape"/>
          <p:cNvSpPr/>
          <p:nvPr/>
        </p:nvSpPr>
        <p:spPr>
          <a:xfrm>
            <a:off x="598297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[7]</a:t>
            </a:r>
          </a:p>
        </p:txBody>
      </p:sp>
      <p:sp>
        <p:nvSpPr>
          <p:cNvPr id="79" name="New shape"/>
          <p:cNvSpPr/>
          <p:nvPr/>
        </p:nvSpPr>
        <p:spPr>
          <a:xfrm>
            <a:off x="668401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[8]</a:t>
            </a:r>
          </a:p>
        </p:txBody>
      </p:sp>
      <p:sp>
        <p:nvSpPr>
          <p:cNvPr id="80" name="New shape"/>
          <p:cNvSpPr/>
          <p:nvPr/>
        </p:nvSpPr>
        <p:spPr>
          <a:xfrm>
            <a:off x="738505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[9]</a:t>
            </a:r>
          </a:p>
        </p:txBody>
      </p:sp>
      <p:sp>
        <p:nvSpPr>
          <p:cNvPr id="81" name="New shape"/>
          <p:cNvSpPr/>
          <p:nvPr/>
        </p:nvSpPr>
        <p:spPr>
          <a:xfrm>
            <a:off x="803579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[10]</a:t>
            </a:r>
          </a:p>
        </p:txBody>
      </p:sp>
      <p:sp>
        <p:nvSpPr>
          <p:cNvPr id="82" name="New shape"/>
          <p:cNvSpPr/>
          <p:nvPr/>
        </p:nvSpPr>
        <p:spPr>
          <a:xfrm>
            <a:off x="873683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[11]</a:t>
            </a:r>
          </a:p>
        </p:txBody>
      </p:sp>
      <p:sp>
        <p:nvSpPr>
          <p:cNvPr id="83" name="New shape"/>
          <p:cNvSpPr/>
          <p:nvPr/>
        </p:nvSpPr>
        <p:spPr>
          <a:xfrm>
            <a:off x="943813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[12]</a:t>
            </a:r>
          </a:p>
        </p:txBody>
      </p:sp>
      <p:sp>
        <p:nvSpPr>
          <p:cNvPr id="84" name="New shape"/>
          <p:cNvSpPr/>
          <p:nvPr/>
        </p:nvSpPr>
        <p:spPr>
          <a:xfrm>
            <a:off x="1013917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[13]</a:t>
            </a:r>
          </a:p>
        </p:txBody>
      </p:sp>
      <p:sp>
        <p:nvSpPr>
          <p:cNvPr id="85" name="New shape"/>
          <p:cNvSpPr/>
          <p:nvPr/>
        </p:nvSpPr>
        <p:spPr>
          <a:xfrm>
            <a:off x="1084021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[14]</a:t>
            </a:r>
          </a:p>
        </p:txBody>
      </p:sp>
      <p:sp>
        <p:nvSpPr>
          <p:cNvPr id="86" name="New shape"/>
          <p:cNvSpPr/>
          <p:nvPr/>
        </p:nvSpPr>
        <p:spPr>
          <a:xfrm>
            <a:off x="281940" y="3651530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87" name="New shape"/>
          <p:cNvSpPr/>
          <p:nvPr/>
        </p:nvSpPr>
        <p:spPr>
          <a:xfrm>
            <a:off x="739140" y="4134458"/>
            <a:ext cx="5526351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Repeat until the (sub)array is of size 0:</a:t>
            </a:r>
          </a:p>
        </p:txBody>
      </p:sp>
      <p:sp>
        <p:nvSpPr>
          <p:cNvPr id="88" name="New shape"/>
          <p:cNvSpPr/>
          <p:nvPr/>
        </p:nvSpPr>
        <p:spPr>
          <a:xfrm>
            <a:off x="1196645" y="4557550"/>
            <a:ext cx="64649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Calculate the middle point of the current (sub)array.</a:t>
            </a:r>
          </a:p>
        </p:txBody>
      </p:sp>
      <p:sp>
        <p:nvSpPr>
          <p:cNvPr id="89" name="New shape"/>
          <p:cNvSpPr/>
          <p:nvPr/>
        </p:nvSpPr>
        <p:spPr>
          <a:xfrm>
            <a:off x="1196645" y="4923310"/>
            <a:ext cx="42170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If the target is at the middle, stop.</a:t>
            </a:r>
          </a:p>
        </p:txBody>
      </p:sp>
      <p:sp>
        <p:nvSpPr>
          <p:cNvPr id="90" name="New shape"/>
          <p:cNvSpPr/>
          <p:nvPr/>
        </p:nvSpPr>
        <p:spPr>
          <a:xfrm>
            <a:off x="1196645" y="5288810"/>
            <a:ext cx="10248423" cy="37244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2">
                <a:solidFill>
                  <a:srgbClr val="000000"/>
                </a:solidFill>
                <a:latin typeface="Calibri"/>
              </a:rPr>
              <a:t>Otherwise, if the target is less than what’s at the middle, repeat, changing the end </a:t>
            </a:r>
          </a:p>
        </p:txBody>
      </p:sp>
      <p:sp>
        <p:nvSpPr>
          <p:cNvPr id="91" name="New shape"/>
          <p:cNvSpPr/>
          <p:nvPr/>
        </p:nvSpPr>
        <p:spPr>
          <a:xfrm>
            <a:off x="1196645" y="5655109"/>
            <a:ext cx="4992291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left of the middle.</a:t>
            </a:r>
          </a:p>
        </p:txBody>
      </p:sp>
      <p:sp>
        <p:nvSpPr>
          <p:cNvPr id="92" name="New shape"/>
          <p:cNvSpPr/>
          <p:nvPr/>
        </p:nvSpPr>
        <p:spPr>
          <a:xfrm>
            <a:off x="1196645" y="6020870"/>
            <a:ext cx="1078929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Otherwise, if the target is greater than what’s at the middle, repeat, changing the start </a:t>
            </a:r>
          </a:p>
        </p:txBody>
      </p:sp>
      <p:sp>
        <p:nvSpPr>
          <p:cNvPr id="93" name="New shape"/>
          <p:cNvSpPr/>
          <p:nvPr/>
        </p:nvSpPr>
        <p:spPr>
          <a:xfrm>
            <a:off x="1196645" y="6386630"/>
            <a:ext cx="5157490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right of the middle.</a:t>
            </a:r>
          </a:p>
        </p:txBody>
      </p:sp>
      <p:sp>
        <p:nvSpPr>
          <p:cNvPr id="114" name="New shape">
            <a:extLst>
              <a:ext uri="{FF2B5EF4-FFF2-40B4-BE49-F238E27FC236}">
                <a16:creationId xmlns:a16="http://schemas.microsoft.com/office/drawing/2014/main" id="{6600F8B7-49A8-C174-F547-1321D8E49ABF}"/>
              </a:ext>
            </a:extLst>
          </p:cNvPr>
          <p:cNvSpPr/>
          <p:nvPr/>
        </p:nvSpPr>
        <p:spPr>
          <a:xfrm>
            <a:off x="703427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5" name="New shape">
            <a:extLst>
              <a:ext uri="{FF2B5EF4-FFF2-40B4-BE49-F238E27FC236}">
                <a16:creationId xmlns:a16="http://schemas.microsoft.com/office/drawing/2014/main" id="{015F7BAF-643C-A3A9-29E3-736A3AF9E88D}"/>
              </a:ext>
            </a:extLst>
          </p:cNvPr>
          <p:cNvSpPr/>
          <p:nvPr/>
        </p:nvSpPr>
        <p:spPr>
          <a:xfrm>
            <a:off x="811415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6" name="New shape">
            <a:extLst>
              <a:ext uri="{FF2B5EF4-FFF2-40B4-BE49-F238E27FC236}">
                <a16:creationId xmlns:a16="http://schemas.microsoft.com/office/drawing/2014/main" id="{603D6666-4DD3-1D82-FC6C-51CBF747ED05}"/>
              </a:ext>
            </a:extLst>
          </p:cNvPr>
          <p:cNvSpPr/>
          <p:nvPr/>
        </p:nvSpPr>
        <p:spPr>
          <a:xfrm>
            <a:off x="9194037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7" name="New shape">
            <a:extLst>
              <a:ext uri="{FF2B5EF4-FFF2-40B4-BE49-F238E27FC236}">
                <a16:creationId xmlns:a16="http://schemas.microsoft.com/office/drawing/2014/main" id="{88BB3964-31D8-DF29-3911-741C5ECD5000}"/>
              </a:ext>
            </a:extLst>
          </p:cNvPr>
          <p:cNvSpPr/>
          <p:nvPr/>
        </p:nvSpPr>
        <p:spPr>
          <a:xfrm>
            <a:off x="10273919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8" name="New shape">
            <a:extLst>
              <a:ext uri="{FF2B5EF4-FFF2-40B4-BE49-F238E27FC236}">
                <a16:creationId xmlns:a16="http://schemas.microsoft.com/office/drawing/2014/main" id="{9FE5F409-9F24-BBC0-CFD6-CEAF0E8B373B}"/>
              </a:ext>
            </a:extLst>
          </p:cNvPr>
          <p:cNvSpPr/>
          <p:nvPr/>
        </p:nvSpPr>
        <p:spPr>
          <a:xfrm>
            <a:off x="703427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9" name="New shape">
            <a:extLst>
              <a:ext uri="{FF2B5EF4-FFF2-40B4-BE49-F238E27FC236}">
                <a16:creationId xmlns:a16="http://schemas.microsoft.com/office/drawing/2014/main" id="{BF9C61BE-12C5-58F4-D714-CD2C8517B0E7}"/>
              </a:ext>
            </a:extLst>
          </p:cNvPr>
          <p:cNvSpPr/>
          <p:nvPr/>
        </p:nvSpPr>
        <p:spPr>
          <a:xfrm>
            <a:off x="811415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0" name="New shape">
            <a:extLst>
              <a:ext uri="{FF2B5EF4-FFF2-40B4-BE49-F238E27FC236}">
                <a16:creationId xmlns:a16="http://schemas.microsoft.com/office/drawing/2014/main" id="{15B5C5D3-19CA-5FA9-26DB-C209BD8C668F}"/>
              </a:ext>
            </a:extLst>
          </p:cNvPr>
          <p:cNvSpPr/>
          <p:nvPr/>
        </p:nvSpPr>
        <p:spPr>
          <a:xfrm>
            <a:off x="9194037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1" name="New shape">
            <a:extLst>
              <a:ext uri="{FF2B5EF4-FFF2-40B4-BE49-F238E27FC236}">
                <a16:creationId xmlns:a16="http://schemas.microsoft.com/office/drawing/2014/main" id="{47B84421-665A-BC53-5EA7-FD0A8F58FC8F}"/>
              </a:ext>
            </a:extLst>
          </p:cNvPr>
          <p:cNvSpPr/>
          <p:nvPr/>
        </p:nvSpPr>
        <p:spPr>
          <a:xfrm>
            <a:off x="10273919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2" name="New shape">
            <a:extLst>
              <a:ext uri="{FF2B5EF4-FFF2-40B4-BE49-F238E27FC236}">
                <a16:creationId xmlns:a16="http://schemas.microsoft.com/office/drawing/2014/main" id="{FCF5A4AB-73CA-4A41-77EE-1FAAD8E4E2D8}"/>
              </a:ext>
            </a:extLst>
          </p:cNvPr>
          <p:cNvSpPr/>
          <p:nvPr/>
        </p:nvSpPr>
        <p:spPr>
          <a:xfrm>
            <a:off x="8114157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3" name="New shape">
            <a:extLst>
              <a:ext uri="{FF2B5EF4-FFF2-40B4-BE49-F238E27FC236}">
                <a16:creationId xmlns:a16="http://schemas.microsoft.com/office/drawing/2014/main" id="{3BB8C8DA-E048-461C-110F-F431F8AFA401}"/>
              </a:ext>
            </a:extLst>
          </p:cNvPr>
          <p:cNvSpPr/>
          <p:nvPr/>
        </p:nvSpPr>
        <p:spPr>
          <a:xfrm>
            <a:off x="9194038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4" name="New shape">
            <a:extLst>
              <a:ext uri="{FF2B5EF4-FFF2-40B4-BE49-F238E27FC236}">
                <a16:creationId xmlns:a16="http://schemas.microsoft.com/office/drawing/2014/main" id="{3AA05137-CDCE-B7B6-F95B-65D87C0D3522}"/>
              </a:ext>
            </a:extLst>
          </p:cNvPr>
          <p:cNvSpPr/>
          <p:nvPr/>
        </p:nvSpPr>
        <p:spPr>
          <a:xfrm>
            <a:off x="10273919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5" name="New shape">
            <a:extLst>
              <a:ext uri="{FF2B5EF4-FFF2-40B4-BE49-F238E27FC236}">
                <a16:creationId xmlns:a16="http://schemas.microsoft.com/office/drawing/2014/main" id="{A1CFCB41-8F36-064D-54D4-3091987B3EA5}"/>
              </a:ext>
            </a:extLst>
          </p:cNvPr>
          <p:cNvSpPr/>
          <p:nvPr/>
        </p:nvSpPr>
        <p:spPr>
          <a:xfrm>
            <a:off x="7027926" y="1319022"/>
            <a:ext cx="4332224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6" name="New shape">
            <a:extLst>
              <a:ext uri="{FF2B5EF4-FFF2-40B4-BE49-F238E27FC236}">
                <a16:creationId xmlns:a16="http://schemas.microsoft.com/office/drawing/2014/main" id="{E6170F71-CE99-3CA5-9BD2-03763BEEF3EC}"/>
              </a:ext>
            </a:extLst>
          </p:cNvPr>
          <p:cNvSpPr/>
          <p:nvPr/>
        </p:nvSpPr>
        <p:spPr>
          <a:xfrm>
            <a:off x="7034276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7" name="New shape">
            <a:extLst>
              <a:ext uri="{FF2B5EF4-FFF2-40B4-BE49-F238E27FC236}">
                <a16:creationId xmlns:a16="http://schemas.microsoft.com/office/drawing/2014/main" id="{A2A5E53D-691E-16DD-49B6-DA566C08BA90}"/>
              </a:ext>
            </a:extLst>
          </p:cNvPr>
          <p:cNvSpPr/>
          <p:nvPr/>
        </p:nvSpPr>
        <p:spPr>
          <a:xfrm>
            <a:off x="11353800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8" name="New shape">
            <a:extLst>
              <a:ext uri="{FF2B5EF4-FFF2-40B4-BE49-F238E27FC236}">
                <a16:creationId xmlns:a16="http://schemas.microsoft.com/office/drawing/2014/main" id="{6A7ED039-CCBF-7CEE-EEF1-BA32A5ECCC53}"/>
              </a:ext>
            </a:extLst>
          </p:cNvPr>
          <p:cNvSpPr/>
          <p:nvPr/>
        </p:nvSpPr>
        <p:spPr>
          <a:xfrm>
            <a:off x="7027926" y="8618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9" name="New shape">
            <a:extLst>
              <a:ext uri="{FF2B5EF4-FFF2-40B4-BE49-F238E27FC236}">
                <a16:creationId xmlns:a16="http://schemas.microsoft.com/office/drawing/2014/main" id="{A16C4846-281B-C58C-03B8-672FBEF936F9}"/>
              </a:ext>
            </a:extLst>
          </p:cNvPr>
          <p:cNvSpPr/>
          <p:nvPr/>
        </p:nvSpPr>
        <p:spPr>
          <a:xfrm>
            <a:off x="7027926" y="17762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0" name="New shape">
            <a:extLst>
              <a:ext uri="{FF2B5EF4-FFF2-40B4-BE49-F238E27FC236}">
                <a16:creationId xmlns:a16="http://schemas.microsoft.com/office/drawing/2014/main" id="{E817E1C5-2E3E-DA76-8DDE-CFC01C70354D}"/>
              </a:ext>
            </a:extLst>
          </p:cNvPr>
          <p:cNvSpPr/>
          <p:nvPr/>
        </p:nvSpPr>
        <p:spPr>
          <a:xfrm>
            <a:off x="7182866" y="910875"/>
            <a:ext cx="1914883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Target      Start</a:t>
            </a:r>
          </a:p>
        </p:txBody>
      </p:sp>
      <p:sp>
        <p:nvSpPr>
          <p:cNvPr id="131" name="New shape">
            <a:extLst>
              <a:ext uri="{FF2B5EF4-FFF2-40B4-BE49-F238E27FC236}">
                <a16:creationId xmlns:a16="http://schemas.microsoft.com/office/drawing/2014/main" id="{0DF43D6D-95A2-2D0E-A24E-1892F7A81DC9}"/>
              </a:ext>
            </a:extLst>
          </p:cNvPr>
          <p:cNvSpPr/>
          <p:nvPr/>
        </p:nvSpPr>
        <p:spPr>
          <a:xfrm>
            <a:off x="9496933" y="910875"/>
            <a:ext cx="1892506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End      Middle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8382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15392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22402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29413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364236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43434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50444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7454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4465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71475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78486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854964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92506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99517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106527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8382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15392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22402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29413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364236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43434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50444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57454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64465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71475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78486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854964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92506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99517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106527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15392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4" name="New shape"/>
          <p:cNvSpPr/>
          <p:nvPr/>
        </p:nvSpPr>
        <p:spPr>
          <a:xfrm>
            <a:off x="22402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5" name="New shape"/>
          <p:cNvSpPr/>
          <p:nvPr/>
        </p:nvSpPr>
        <p:spPr>
          <a:xfrm>
            <a:off x="29413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6" name="New shape"/>
          <p:cNvSpPr/>
          <p:nvPr/>
        </p:nvSpPr>
        <p:spPr>
          <a:xfrm>
            <a:off x="36423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7" name="New shape"/>
          <p:cNvSpPr/>
          <p:nvPr/>
        </p:nvSpPr>
        <p:spPr>
          <a:xfrm>
            <a:off x="43434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8" name="New shape"/>
          <p:cNvSpPr/>
          <p:nvPr/>
        </p:nvSpPr>
        <p:spPr>
          <a:xfrm>
            <a:off x="50444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9" name="New shape"/>
          <p:cNvSpPr/>
          <p:nvPr/>
        </p:nvSpPr>
        <p:spPr>
          <a:xfrm>
            <a:off x="57454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0" name="New shape"/>
          <p:cNvSpPr/>
          <p:nvPr/>
        </p:nvSpPr>
        <p:spPr>
          <a:xfrm>
            <a:off x="64465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1" name="New shape"/>
          <p:cNvSpPr/>
          <p:nvPr/>
        </p:nvSpPr>
        <p:spPr>
          <a:xfrm>
            <a:off x="71475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2" name="New shape"/>
          <p:cNvSpPr/>
          <p:nvPr/>
        </p:nvSpPr>
        <p:spPr>
          <a:xfrm>
            <a:off x="78486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3" name="New shape"/>
          <p:cNvSpPr/>
          <p:nvPr/>
        </p:nvSpPr>
        <p:spPr>
          <a:xfrm>
            <a:off x="85496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4" name="New shape"/>
          <p:cNvSpPr/>
          <p:nvPr/>
        </p:nvSpPr>
        <p:spPr>
          <a:xfrm>
            <a:off x="92506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5" name="New shape"/>
          <p:cNvSpPr/>
          <p:nvPr/>
        </p:nvSpPr>
        <p:spPr>
          <a:xfrm>
            <a:off x="99517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6" name="New shape"/>
          <p:cNvSpPr/>
          <p:nvPr/>
        </p:nvSpPr>
        <p:spPr>
          <a:xfrm>
            <a:off x="106527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7" name="New shape"/>
          <p:cNvSpPr/>
          <p:nvPr/>
        </p:nvSpPr>
        <p:spPr>
          <a:xfrm>
            <a:off x="831850" y="2734945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8" name="New shape"/>
          <p:cNvSpPr/>
          <p:nvPr/>
        </p:nvSpPr>
        <p:spPr>
          <a:xfrm>
            <a:off x="8382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9" name="New shape"/>
          <p:cNvSpPr/>
          <p:nvPr/>
        </p:nvSpPr>
        <p:spPr>
          <a:xfrm>
            <a:off x="113538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0" name="New shape"/>
          <p:cNvSpPr/>
          <p:nvPr/>
        </p:nvSpPr>
        <p:spPr>
          <a:xfrm>
            <a:off x="831850" y="215582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1" name="New shape"/>
          <p:cNvSpPr/>
          <p:nvPr/>
        </p:nvSpPr>
        <p:spPr>
          <a:xfrm>
            <a:off x="831850" y="310578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2" name="New shape"/>
          <p:cNvSpPr/>
          <p:nvPr/>
        </p:nvSpPr>
        <p:spPr>
          <a:xfrm>
            <a:off x="281940" y="4044061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3" name="New shape"/>
          <p:cNvSpPr/>
          <p:nvPr/>
        </p:nvSpPr>
        <p:spPr>
          <a:xfrm>
            <a:off x="703427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4" name="New shape"/>
          <p:cNvSpPr/>
          <p:nvPr/>
        </p:nvSpPr>
        <p:spPr>
          <a:xfrm>
            <a:off x="811415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5" name="New shape"/>
          <p:cNvSpPr/>
          <p:nvPr/>
        </p:nvSpPr>
        <p:spPr>
          <a:xfrm>
            <a:off x="9194037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6" name="New shape"/>
          <p:cNvSpPr/>
          <p:nvPr/>
        </p:nvSpPr>
        <p:spPr>
          <a:xfrm>
            <a:off x="10273919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7" name="New shape"/>
          <p:cNvSpPr/>
          <p:nvPr/>
        </p:nvSpPr>
        <p:spPr>
          <a:xfrm>
            <a:off x="703427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8" name="New shape"/>
          <p:cNvSpPr/>
          <p:nvPr/>
        </p:nvSpPr>
        <p:spPr>
          <a:xfrm>
            <a:off x="811415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9" name="New shape"/>
          <p:cNvSpPr/>
          <p:nvPr/>
        </p:nvSpPr>
        <p:spPr>
          <a:xfrm>
            <a:off x="9194037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0" name="New shape"/>
          <p:cNvSpPr/>
          <p:nvPr/>
        </p:nvSpPr>
        <p:spPr>
          <a:xfrm>
            <a:off x="10273919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1" name="New shape"/>
          <p:cNvSpPr/>
          <p:nvPr/>
        </p:nvSpPr>
        <p:spPr>
          <a:xfrm>
            <a:off x="8114157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2" name="New shape"/>
          <p:cNvSpPr/>
          <p:nvPr/>
        </p:nvSpPr>
        <p:spPr>
          <a:xfrm>
            <a:off x="9194038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3" name="New shape"/>
          <p:cNvSpPr/>
          <p:nvPr/>
        </p:nvSpPr>
        <p:spPr>
          <a:xfrm>
            <a:off x="10273919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4" name="New shape"/>
          <p:cNvSpPr/>
          <p:nvPr/>
        </p:nvSpPr>
        <p:spPr>
          <a:xfrm>
            <a:off x="7027926" y="1319022"/>
            <a:ext cx="4332224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5" name="New shape"/>
          <p:cNvSpPr/>
          <p:nvPr/>
        </p:nvSpPr>
        <p:spPr>
          <a:xfrm>
            <a:off x="7034276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6" name="New shape"/>
          <p:cNvSpPr/>
          <p:nvPr/>
        </p:nvSpPr>
        <p:spPr>
          <a:xfrm>
            <a:off x="11353800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7" name="New shape"/>
          <p:cNvSpPr/>
          <p:nvPr/>
        </p:nvSpPr>
        <p:spPr>
          <a:xfrm>
            <a:off x="7027926" y="8618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8" name="New shape"/>
          <p:cNvSpPr/>
          <p:nvPr/>
        </p:nvSpPr>
        <p:spPr>
          <a:xfrm>
            <a:off x="7027926" y="17762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9" name="New shape"/>
          <p:cNvSpPr/>
          <p:nvPr/>
        </p:nvSpPr>
        <p:spPr>
          <a:xfrm>
            <a:off x="929640" y="703804"/>
            <a:ext cx="3057104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Binary Search</a:t>
            </a:r>
          </a:p>
        </p:txBody>
      </p:sp>
      <p:sp>
        <p:nvSpPr>
          <p:cNvPr id="71" name="New shape"/>
          <p:cNvSpPr/>
          <p:nvPr/>
        </p:nvSpPr>
        <p:spPr>
          <a:xfrm>
            <a:off x="107503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[0]</a:t>
            </a:r>
          </a:p>
        </p:txBody>
      </p:sp>
      <p:sp>
        <p:nvSpPr>
          <p:cNvPr id="72" name="New shape"/>
          <p:cNvSpPr/>
          <p:nvPr/>
        </p:nvSpPr>
        <p:spPr>
          <a:xfrm>
            <a:off x="177609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[1]</a:t>
            </a:r>
          </a:p>
        </p:txBody>
      </p:sp>
      <p:sp>
        <p:nvSpPr>
          <p:cNvPr id="73" name="New shape"/>
          <p:cNvSpPr/>
          <p:nvPr/>
        </p:nvSpPr>
        <p:spPr>
          <a:xfrm>
            <a:off x="247713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[2]</a:t>
            </a:r>
          </a:p>
        </p:txBody>
      </p:sp>
      <p:sp>
        <p:nvSpPr>
          <p:cNvPr id="74" name="New shape"/>
          <p:cNvSpPr/>
          <p:nvPr/>
        </p:nvSpPr>
        <p:spPr>
          <a:xfrm>
            <a:off x="317817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[3]</a:t>
            </a:r>
          </a:p>
        </p:txBody>
      </p:sp>
      <p:sp>
        <p:nvSpPr>
          <p:cNvPr id="75" name="New shape"/>
          <p:cNvSpPr/>
          <p:nvPr/>
        </p:nvSpPr>
        <p:spPr>
          <a:xfrm>
            <a:off x="387946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[4]</a:t>
            </a:r>
          </a:p>
        </p:txBody>
      </p:sp>
      <p:sp>
        <p:nvSpPr>
          <p:cNvPr id="76" name="New shape"/>
          <p:cNvSpPr/>
          <p:nvPr/>
        </p:nvSpPr>
        <p:spPr>
          <a:xfrm>
            <a:off x="458050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[5]</a:t>
            </a:r>
          </a:p>
        </p:txBody>
      </p:sp>
      <p:sp>
        <p:nvSpPr>
          <p:cNvPr id="77" name="New shape"/>
          <p:cNvSpPr/>
          <p:nvPr/>
        </p:nvSpPr>
        <p:spPr>
          <a:xfrm>
            <a:off x="528154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[6]</a:t>
            </a:r>
          </a:p>
        </p:txBody>
      </p:sp>
      <p:sp>
        <p:nvSpPr>
          <p:cNvPr id="78" name="New shape"/>
          <p:cNvSpPr/>
          <p:nvPr/>
        </p:nvSpPr>
        <p:spPr>
          <a:xfrm>
            <a:off x="598297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[7]</a:t>
            </a:r>
          </a:p>
        </p:txBody>
      </p:sp>
      <p:sp>
        <p:nvSpPr>
          <p:cNvPr id="79" name="New shape"/>
          <p:cNvSpPr/>
          <p:nvPr/>
        </p:nvSpPr>
        <p:spPr>
          <a:xfrm>
            <a:off x="668401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[8]</a:t>
            </a:r>
          </a:p>
        </p:txBody>
      </p:sp>
      <p:sp>
        <p:nvSpPr>
          <p:cNvPr id="80" name="New shape"/>
          <p:cNvSpPr/>
          <p:nvPr/>
        </p:nvSpPr>
        <p:spPr>
          <a:xfrm>
            <a:off x="738505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[9]</a:t>
            </a:r>
          </a:p>
        </p:txBody>
      </p:sp>
      <p:sp>
        <p:nvSpPr>
          <p:cNvPr id="81" name="New shape"/>
          <p:cNvSpPr/>
          <p:nvPr/>
        </p:nvSpPr>
        <p:spPr>
          <a:xfrm>
            <a:off x="803579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[10]</a:t>
            </a:r>
          </a:p>
        </p:txBody>
      </p:sp>
      <p:sp>
        <p:nvSpPr>
          <p:cNvPr id="82" name="New shape"/>
          <p:cNvSpPr/>
          <p:nvPr/>
        </p:nvSpPr>
        <p:spPr>
          <a:xfrm>
            <a:off x="873683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[11]</a:t>
            </a:r>
          </a:p>
        </p:txBody>
      </p:sp>
      <p:sp>
        <p:nvSpPr>
          <p:cNvPr id="83" name="New shape"/>
          <p:cNvSpPr/>
          <p:nvPr/>
        </p:nvSpPr>
        <p:spPr>
          <a:xfrm>
            <a:off x="943813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[12]</a:t>
            </a:r>
          </a:p>
        </p:txBody>
      </p:sp>
      <p:sp>
        <p:nvSpPr>
          <p:cNvPr id="84" name="New shape"/>
          <p:cNvSpPr/>
          <p:nvPr/>
        </p:nvSpPr>
        <p:spPr>
          <a:xfrm>
            <a:off x="1013917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[13]</a:t>
            </a:r>
          </a:p>
        </p:txBody>
      </p:sp>
      <p:sp>
        <p:nvSpPr>
          <p:cNvPr id="85" name="New shape"/>
          <p:cNvSpPr/>
          <p:nvPr/>
        </p:nvSpPr>
        <p:spPr>
          <a:xfrm>
            <a:off x="1084021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[14]</a:t>
            </a:r>
          </a:p>
        </p:txBody>
      </p:sp>
      <p:sp>
        <p:nvSpPr>
          <p:cNvPr id="86" name="New shape"/>
          <p:cNvSpPr/>
          <p:nvPr/>
        </p:nvSpPr>
        <p:spPr>
          <a:xfrm>
            <a:off x="281940" y="3651530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87" name="New shape"/>
          <p:cNvSpPr/>
          <p:nvPr/>
        </p:nvSpPr>
        <p:spPr>
          <a:xfrm>
            <a:off x="739140" y="4134458"/>
            <a:ext cx="5526351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Repeat until the (sub)array is of size 0:</a:t>
            </a:r>
          </a:p>
        </p:txBody>
      </p:sp>
      <p:sp>
        <p:nvSpPr>
          <p:cNvPr id="88" name="New shape"/>
          <p:cNvSpPr/>
          <p:nvPr/>
        </p:nvSpPr>
        <p:spPr>
          <a:xfrm>
            <a:off x="1196645" y="4557550"/>
            <a:ext cx="64649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Calculate the middle point of the current (sub)array.</a:t>
            </a:r>
          </a:p>
        </p:txBody>
      </p:sp>
      <p:sp>
        <p:nvSpPr>
          <p:cNvPr id="89" name="New shape"/>
          <p:cNvSpPr/>
          <p:nvPr/>
        </p:nvSpPr>
        <p:spPr>
          <a:xfrm>
            <a:off x="1196645" y="4923310"/>
            <a:ext cx="42170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If the target is at the middle, stop.</a:t>
            </a:r>
          </a:p>
        </p:txBody>
      </p:sp>
      <p:sp>
        <p:nvSpPr>
          <p:cNvPr id="90" name="New shape"/>
          <p:cNvSpPr/>
          <p:nvPr/>
        </p:nvSpPr>
        <p:spPr>
          <a:xfrm>
            <a:off x="1196645" y="5288810"/>
            <a:ext cx="10248423" cy="37244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2">
                <a:solidFill>
                  <a:srgbClr val="000000"/>
                </a:solidFill>
                <a:latin typeface="Calibri"/>
              </a:rPr>
              <a:t>Otherwise, if the target is less than what’s at the middle, repeat, changing the end </a:t>
            </a:r>
          </a:p>
        </p:txBody>
      </p:sp>
      <p:sp>
        <p:nvSpPr>
          <p:cNvPr id="91" name="New shape"/>
          <p:cNvSpPr/>
          <p:nvPr/>
        </p:nvSpPr>
        <p:spPr>
          <a:xfrm>
            <a:off x="1196645" y="5655109"/>
            <a:ext cx="4992291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left of the middle.</a:t>
            </a:r>
          </a:p>
        </p:txBody>
      </p:sp>
      <p:sp>
        <p:nvSpPr>
          <p:cNvPr id="92" name="New shape"/>
          <p:cNvSpPr/>
          <p:nvPr/>
        </p:nvSpPr>
        <p:spPr>
          <a:xfrm>
            <a:off x="1196645" y="6020870"/>
            <a:ext cx="1078929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Otherwise, if the target is greater than what’s at the middle, repeat, changing the start </a:t>
            </a:r>
          </a:p>
        </p:txBody>
      </p:sp>
      <p:sp>
        <p:nvSpPr>
          <p:cNvPr id="93" name="New shape"/>
          <p:cNvSpPr/>
          <p:nvPr/>
        </p:nvSpPr>
        <p:spPr>
          <a:xfrm>
            <a:off x="1196645" y="6386630"/>
            <a:ext cx="5157490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right of the middle.</a:t>
            </a:r>
          </a:p>
        </p:txBody>
      </p:sp>
      <p:sp>
        <p:nvSpPr>
          <p:cNvPr id="94" name="New shape"/>
          <p:cNvSpPr/>
          <p:nvPr/>
        </p:nvSpPr>
        <p:spPr>
          <a:xfrm>
            <a:off x="7182866" y="910875"/>
            <a:ext cx="1914883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Target      Start</a:t>
            </a:r>
          </a:p>
        </p:txBody>
      </p:sp>
      <p:sp>
        <p:nvSpPr>
          <p:cNvPr id="95" name="New shape"/>
          <p:cNvSpPr/>
          <p:nvPr/>
        </p:nvSpPr>
        <p:spPr>
          <a:xfrm>
            <a:off x="9496933" y="910875"/>
            <a:ext cx="1892506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End      Middle</a:t>
            </a:r>
          </a:p>
        </p:txBody>
      </p:sp>
      <p:sp>
        <p:nvSpPr>
          <p:cNvPr id="96" name="New shape"/>
          <p:cNvSpPr/>
          <p:nvPr/>
        </p:nvSpPr>
        <p:spPr>
          <a:xfrm>
            <a:off x="7420610" y="1389789"/>
            <a:ext cx="308967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19</a:t>
            </a:r>
          </a:p>
        </p:txBody>
      </p:sp>
      <p:sp>
        <p:nvSpPr>
          <p:cNvPr id="97" name="New shape"/>
          <p:cNvSpPr/>
          <p:nvPr/>
        </p:nvSpPr>
        <p:spPr>
          <a:xfrm>
            <a:off x="8578596" y="1389789"/>
            <a:ext cx="154484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0</a:t>
            </a:r>
          </a:p>
        </p:txBody>
      </p:sp>
      <p:sp>
        <p:nvSpPr>
          <p:cNvPr id="98" name="New shape"/>
          <p:cNvSpPr/>
          <p:nvPr/>
        </p:nvSpPr>
        <p:spPr>
          <a:xfrm>
            <a:off x="9580753" y="1389789"/>
            <a:ext cx="308967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14</a:t>
            </a:r>
          </a:p>
        </p:txBody>
      </p:sp>
      <p:sp>
        <p:nvSpPr>
          <p:cNvPr id="118" name="New shape">
            <a:extLst>
              <a:ext uri="{FF2B5EF4-FFF2-40B4-BE49-F238E27FC236}">
                <a16:creationId xmlns:a16="http://schemas.microsoft.com/office/drawing/2014/main" id="{5B943636-CA35-AADF-0219-E08094A104D3}"/>
              </a:ext>
            </a:extLst>
          </p:cNvPr>
          <p:cNvSpPr/>
          <p:nvPr/>
        </p:nvSpPr>
        <p:spPr>
          <a:xfrm>
            <a:off x="1085393" y="2214212"/>
            <a:ext cx="10345140" cy="53925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 dirty="0">
                <a:solidFill>
                  <a:srgbClr val="FFFFFF"/>
                </a:solidFill>
                <a:latin typeface="Calibri"/>
              </a:rPr>
              <a:t>6      7     8     9     10   11   14   15    17  19    22   23   25   28   30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8382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15392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22402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29413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364236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43434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50444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745480" y="2155825"/>
            <a:ext cx="701040" cy="579120"/>
          </a:xfrm>
          <a:prstGeom prst="rect">
            <a:avLst/>
          </a:prstGeom>
          <a:solidFill>
            <a:srgbClr val="FFC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4465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71475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78486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854964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92506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99517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106527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8382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15392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22402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29413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364236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43434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50444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57454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64465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71475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78486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854964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92506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99517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106527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15392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4" name="New shape"/>
          <p:cNvSpPr/>
          <p:nvPr/>
        </p:nvSpPr>
        <p:spPr>
          <a:xfrm>
            <a:off x="22402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5" name="New shape"/>
          <p:cNvSpPr/>
          <p:nvPr/>
        </p:nvSpPr>
        <p:spPr>
          <a:xfrm>
            <a:off x="29413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6" name="New shape"/>
          <p:cNvSpPr/>
          <p:nvPr/>
        </p:nvSpPr>
        <p:spPr>
          <a:xfrm>
            <a:off x="36423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7" name="New shape"/>
          <p:cNvSpPr/>
          <p:nvPr/>
        </p:nvSpPr>
        <p:spPr>
          <a:xfrm>
            <a:off x="43434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8" name="New shape"/>
          <p:cNvSpPr/>
          <p:nvPr/>
        </p:nvSpPr>
        <p:spPr>
          <a:xfrm>
            <a:off x="50444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9" name="New shape"/>
          <p:cNvSpPr/>
          <p:nvPr/>
        </p:nvSpPr>
        <p:spPr>
          <a:xfrm>
            <a:off x="57454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0" name="New shape"/>
          <p:cNvSpPr/>
          <p:nvPr/>
        </p:nvSpPr>
        <p:spPr>
          <a:xfrm>
            <a:off x="64465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1" name="New shape"/>
          <p:cNvSpPr/>
          <p:nvPr/>
        </p:nvSpPr>
        <p:spPr>
          <a:xfrm>
            <a:off x="71475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2" name="New shape"/>
          <p:cNvSpPr/>
          <p:nvPr/>
        </p:nvSpPr>
        <p:spPr>
          <a:xfrm>
            <a:off x="78486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3" name="New shape"/>
          <p:cNvSpPr/>
          <p:nvPr/>
        </p:nvSpPr>
        <p:spPr>
          <a:xfrm>
            <a:off x="85496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4" name="New shape"/>
          <p:cNvSpPr/>
          <p:nvPr/>
        </p:nvSpPr>
        <p:spPr>
          <a:xfrm>
            <a:off x="92506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5" name="New shape"/>
          <p:cNvSpPr/>
          <p:nvPr/>
        </p:nvSpPr>
        <p:spPr>
          <a:xfrm>
            <a:off x="99517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6" name="New shape"/>
          <p:cNvSpPr/>
          <p:nvPr/>
        </p:nvSpPr>
        <p:spPr>
          <a:xfrm>
            <a:off x="106527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7" name="New shape"/>
          <p:cNvSpPr/>
          <p:nvPr/>
        </p:nvSpPr>
        <p:spPr>
          <a:xfrm>
            <a:off x="831850" y="2734945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8" name="New shape"/>
          <p:cNvSpPr/>
          <p:nvPr/>
        </p:nvSpPr>
        <p:spPr>
          <a:xfrm>
            <a:off x="8382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9" name="New shape"/>
          <p:cNvSpPr/>
          <p:nvPr/>
        </p:nvSpPr>
        <p:spPr>
          <a:xfrm>
            <a:off x="113538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0" name="New shape"/>
          <p:cNvSpPr/>
          <p:nvPr/>
        </p:nvSpPr>
        <p:spPr>
          <a:xfrm>
            <a:off x="831850" y="215582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1" name="New shape"/>
          <p:cNvSpPr/>
          <p:nvPr/>
        </p:nvSpPr>
        <p:spPr>
          <a:xfrm>
            <a:off x="831850" y="310578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2" name="New shape"/>
          <p:cNvSpPr/>
          <p:nvPr/>
        </p:nvSpPr>
        <p:spPr>
          <a:xfrm>
            <a:off x="281940" y="4044061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3" name="New shape"/>
          <p:cNvSpPr/>
          <p:nvPr/>
        </p:nvSpPr>
        <p:spPr>
          <a:xfrm>
            <a:off x="703427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4" name="New shape"/>
          <p:cNvSpPr/>
          <p:nvPr/>
        </p:nvSpPr>
        <p:spPr>
          <a:xfrm>
            <a:off x="811415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5" name="New shape"/>
          <p:cNvSpPr/>
          <p:nvPr/>
        </p:nvSpPr>
        <p:spPr>
          <a:xfrm>
            <a:off x="9194037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6" name="New shape"/>
          <p:cNvSpPr/>
          <p:nvPr/>
        </p:nvSpPr>
        <p:spPr>
          <a:xfrm>
            <a:off x="10273919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7" name="New shape"/>
          <p:cNvSpPr/>
          <p:nvPr/>
        </p:nvSpPr>
        <p:spPr>
          <a:xfrm>
            <a:off x="703427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8" name="New shape"/>
          <p:cNvSpPr/>
          <p:nvPr/>
        </p:nvSpPr>
        <p:spPr>
          <a:xfrm>
            <a:off x="811415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9" name="New shape"/>
          <p:cNvSpPr/>
          <p:nvPr/>
        </p:nvSpPr>
        <p:spPr>
          <a:xfrm>
            <a:off x="9194037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0" name="New shape"/>
          <p:cNvSpPr/>
          <p:nvPr/>
        </p:nvSpPr>
        <p:spPr>
          <a:xfrm>
            <a:off x="10273919" y="1319022"/>
            <a:ext cx="1079881" cy="457200"/>
          </a:xfrm>
          <a:prstGeom prst="rect">
            <a:avLst/>
          </a:prstGeom>
          <a:solidFill>
            <a:srgbClr val="C5DF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1" name="New shape"/>
          <p:cNvSpPr/>
          <p:nvPr/>
        </p:nvSpPr>
        <p:spPr>
          <a:xfrm>
            <a:off x="8114157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2" name="New shape"/>
          <p:cNvSpPr/>
          <p:nvPr/>
        </p:nvSpPr>
        <p:spPr>
          <a:xfrm>
            <a:off x="9194038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3" name="New shape"/>
          <p:cNvSpPr/>
          <p:nvPr/>
        </p:nvSpPr>
        <p:spPr>
          <a:xfrm>
            <a:off x="10273919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4" name="New shape"/>
          <p:cNvSpPr/>
          <p:nvPr/>
        </p:nvSpPr>
        <p:spPr>
          <a:xfrm>
            <a:off x="7027926" y="1319022"/>
            <a:ext cx="4332224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5" name="New shape"/>
          <p:cNvSpPr/>
          <p:nvPr/>
        </p:nvSpPr>
        <p:spPr>
          <a:xfrm>
            <a:off x="7034276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6" name="New shape"/>
          <p:cNvSpPr/>
          <p:nvPr/>
        </p:nvSpPr>
        <p:spPr>
          <a:xfrm>
            <a:off x="11353800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7" name="New shape"/>
          <p:cNvSpPr/>
          <p:nvPr/>
        </p:nvSpPr>
        <p:spPr>
          <a:xfrm>
            <a:off x="7027926" y="8618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8" name="New shape"/>
          <p:cNvSpPr/>
          <p:nvPr/>
        </p:nvSpPr>
        <p:spPr>
          <a:xfrm>
            <a:off x="7027926" y="17762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9" name="New shape"/>
          <p:cNvSpPr/>
          <p:nvPr/>
        </p:nvSpPr>
        <p:spPr>
          <a:xfrm>
            <a:off x="929640" y="703804"/>
            <a:ext cx="3057104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Binary Search</a:t>
            </a:r>
          </a:p>
        </p:txBody>
      </p:sp>
      <p:sp>
        <p:nvSpPr>
          <p:cNvPr id="71" name="New shape"/>
          <p:cNvSpPr/>
          <p:nvPr/>
        </p:nvSpPr>
        <p:spPr>
          <a:xfrm>
            <a:off x="107503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[0]</a:t>
            </a:r>
          </a:p>
        </p:txBody>
      </p:sp>
      <p:sp>
        <p:nvSpPr>
          <p:cNvPr id="72" name="New shape"/>
          <p:cNvSpPr/>
          <p:nvPr/>
        </p:nvSpPr>
        <p:spPr>
          <a:xfrm>
            <a:off x="177609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[1]</a:t>
            </a:r>
          </a:p>
        </p:txBody>
      </p:sp>
      <p:sp>
        <p:nvSpPr>
          <p:cNvPr id="73" name="New shape"/>
          <p:cNvSpPr/>
          <p:nvPr/>
        </p:nvSpPr>
        <p:spPr>
          <a:xfrm>
            <a:off x="247713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[2]</a:t>
            </a:r>
          </a:p>
        </p:txBody>
      </p:sp>
      <p:sp>
        <p:nvSpPr>
          <p:cNvPr id="74" name="New shape"/>
          <p:cNvSpPr/>
          <p:nvPr/>
        </p:nvSpPr>
        <p:spPr>
          <a:xfrm>
            <a:off x="317817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[3]</a:t>
            </a:r>
          </a:p>
        </p:txBody>
      </p:sp>
      <p:sp>
        <p:nvSpPr>
          <p:cNvPr id="75" name="New shape"/>
          <p:cNvSpPr/>
          <p:nvPr/>
        </p:nvSpPr>
        <p:spPr>
          <a:xfrm>
            <a:off x="387946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[4]</a:t>
            </a:r>
          </a:p>
        </p:txBody>
      </p:sp>
      <p:sp>
        <p:nvSpPr>
          <p:cNvPr id="76" name="New shape"/>
          <p:cNvSpPr/>
          <p:nvPr/>
        </p:nvSpPr>
        <p:spPr>
          <a:xfrm>
            <a:off x="458050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[5]</a:t>
            </a:r>
          </a:p>
        </p:txBody>
      </p:sp>
      <p:sp>
        <p:nvSpPr>
          <p:cNvPr id="77" name="New shape"/>
          <p:cNvSpPr/>
          <p:nvPr/>
        </p:nvSpPr>
        <p:spPr>
          <a:xfrm>
            <a:off x="528154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[6]</a:t>
            </a:r>
          </a:p>
        </p:txBody>
      </p:sp>
      <p:sp>
        <p:nvSpPr>
          <p:cNvPr id="78" name="New shape"/>
          <p:cNvSpPr/>
          <p:nvPr/>
        </p:nvSpPr>
        <p:spPr>
          <a:xfrm>
            <a:off x="598297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[7]</a:t>
            </a:r>
          </a:p>
        </p:txBody>
      </p:sp>
      <p:sp>
        <p:nvSpPr>
          <p:cNvPr id="79" name="New shape"/>
          <p:cNvSpPr/>
          <p:nvPr/>
        </p:nvSpPr>
        <p:spPr>
          <a:xfrm>
            <a:off x="668401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[8]</a:t>
            </a:r>
          </a:p>
        </p:txBody>
      </p:sp>
      <p:sp>
        <p:nvSpPr>
          <p:cNvPr id="80" name="New shape"/>
          <p:cNvSpPr/>
          <p:nvPr/>
        </p:nvSpPr>
        <p:spPr>
          <a:xfrm>
            <a:off x="738505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[9]</a:t>
            </a:r>
          </a:p>
        </p:txBody>
      </p:sp>
      <p:sp>
        <p:nvSpPr>
          <p:cNvPr id="81" name="New shape"/>
          <p:cNvSpPr/>
          <p:nvPr/>
        </p:nvSpPr>
        <p:spPr>
          <a:xfrm>
            <a:off x="803579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[10]</a:t>
            </a:r>
          </a:p>
        </p:txBody>
      </p:sp>
      <p:sp>
        <p:nvSpPr>
          <p:cNvPr id="82" name="New shape"/>
          <p:cNvSpPr/>
          <p:nvPr/>
        </p:nvSpPr>
        <p:spPr>
          <a:xfrm>
            <a:off x="873683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[11]</a:t>
            </a:r>
          </a:p>
        </p:txBody>
      </p:sp>
      <p:sp>
        <p:nvSpPr>
          <p:cNvPr id="83" name="New shape"/>
          <p:cNvSpPr/>
          <p:nvPr/>
        </p:nvSpPr>
        <p:spPr>
          <a:xfrm>
            <a:off x="943813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[12]</a:t>
            </a:r>
          </a:p>
        </p:txBody>
      </p:sp>
      <p:sp>
        <p:nvSpPr>
          <p:cNvPr id="84" name="New shape"/>
          <p:cNvSpPr/>
          <p:nvPr/>
        </p:nvSpPr>
        <p:spPr>
          <a:xfrm>
            <a:off x="1013917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[13]</a:t>
            </a:r>
          </a:p>
        </p:txBody>
      </p:sp>
      <p:sp>
        <p:nvSpPr>
          <p:cNvPr id="85" name="New shape"/>
          <p:cNvSpPr/>
          <p:nvPr/>
        </p:nvSpPr>
        <p:spPr>
          <a:xfrm>
            <a:off x="1084021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[14]</a:t>
            </a:r>
          </a:p>
        </p:txBody>
      </p:sp>
      <p:sp>
        <p:nvSpPr>
          <p:cNvPr id="86" name="New shape"/>
          <p:cNvSpPr/>
          <p:nvPr/>
        </p:nvSpPr>
        <p:spPr>
          <a:xfrm>
            <a:off x="281940" y="3651530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87" name="New shape"/>
          <p:cNvSpPr/>
          <p:nvPr/>
        </p:nvSpPr>
        <p:spPr>
          <a:xfrm>
            <a:off x="739140" y="4134458"/>
            <a:ext cx="5526351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Repeat until the (sub)array is of size 0:</a:t>
            </a:r>
          </a:p>
        </p:txBody>
      </p:sp>
      <p:sp>
        <p:nvSpPr>
          <p:cNvPr id="88" name="New shape"/>
          <p:cNvSpPr/>
          <p:nvPr/>
        </p:nvSpPr>
        <p:spPr>
          <a:xfrm>
            <a:off x="1196645" y="4557550"/>
            <a:ext cx="64649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Calculate the middle point of the current (sub)array.</a:t>
            </a:r>
          </a:p>
        </p:txBody>
      </p:sp>
      <p:sp>
        <p:nvSpPr>
          <p:cNvPr id="89" name="New shape"/>
          <p:cNvSpPr/>
          <p:nvPr/>
        </p:nvSpPr>
        <p:spPr>
          <a:xfrm>
            <a:off x="1196645" y="4923310"/>
            <a:ext cx="42170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If the target is at the middle, stop.</a:t>
            </a:r>
          </a:p>
        </p:txBody>
      </p:sp>
      <p:sp>
        <p:nvSpPr>
          <p:cNvPr id="90" name="New shape"/>
          <p:cNvSpPr/>
          <p:nvPr/>
        </p:nvSpPr>
        <p:spPr>
          <a:xfrm>
            <a:off x="1196645" y="5288810"/>
            <a:ext cx="10248423" cy="37244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2">
                <a:solidFill>
                  <a:srgbClr val="000000"/>
                </a:solidFill>
                <a:latin typeface="Calibri"/>
              </a:rPr>
              <a:t>Otherwise, if the target is less than what’s at the middle, repeat, changing the end </a:t>
            </a:r>
          </a:p>
        </p:txBody>
      </p:sp>
      <p:sp>
        <p:nvSpPr>
          <p:cNvPr id="91" name="New shape"/>
          <p:cNvSpPr/>
          <p:nvPr/>
        </p:nvSpPr>
        <p:spPr>
          <a:xfrm>
            <a:off x="1196645" y="5655109"/>
            <a:ext cx="4992291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left of the middle.</a:t>
            </a:r>
          </a:p>
        </p:txBody>
      </p:sp>
      <p:sp>
        <p:nvSpPr>
          <p:cNvPr id="92" name="New shape"/>
          <p:cNvSpPr/>
          <p:nvPr/>
        </p:nvSpPr>
        <p:spPr>
          <a:xfrm>
            <a:off x="1196645" y="6020870"/>
            <a:ext cx="1078929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Otherwise, if the target is greater than what’s at the middle, repeat, changing the start </a:t>
            </a:r>
          </a:p>
        </p:txBody>
      </p:sp>
      <p:sp>
        <p:nvSpPr>
          <p:cNvPr id="93" name="New shape"/>
          <p:cNvSpPr/>
          <p:nvPr/>
        </p:nvSpPr>
        <p:spPr>
          <a:xfrm>
            <a:off x="1196645" y="6386630"/>
            <a:ext cx="5157490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right of the middle.</a:t>
            </a:r>
          </a:p>
        </p:txBody>
      </p:sp>
      <p:sp>
        <p:nvSpPr>
          <p:cNvPr id="94" name="New shape"/>
          <p:cNvSpPr/>
          <p:nvPr/>
        </p:nvSpPr>
        <p:spPr>
          <a:xfrm>
            <a:off x="7182866" y="910875"/>
            <a:ext cx="1914883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Target      Start</a:t>
            </a:r>
          </a:p>
        </p:txBody>
      </p:sp>
      <p:sp>
        <p:nvSpPr>
          <p:cNvPr id="95" name="New shape"/>
          <p:cNvSpPr/>
          <p:nvPr/>
        </p:nvSpPr>
        <p:spPr>
          <a:xfrm>
            <a:off x="9496933" y="910875"/>
            <a:ext cx="1892506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End      Middle</a:t>
            </a:r>
          </a:p>
        </p:txBody>
      </p:sp>
      <p:sp>
        <p:nvSpPr>
          <p:cNvPr id="96" name="New shape"/>
          <p:cNvSpPr/>
          <p:nvPr/>
        </p:nvSpPr>
        <p:spPr>
          <a:xfrm>
            <a:off x="7420610" y="1389789"/>
            <a:ext cx="308967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19</a:t>
            </a:r>
          </a:p>
        </p:txBody>
      </p:sp>
      <p:sp>
        <p:nvSpPr>
          <p:cNvPr id="97" name="New shape"/>
          <p:cNvSpPr/>
          <p:nvPr/>
        </p:nvSpPr>
        <p:spPr>
          <a:xfrm>
            <a:off x="8578596" y="1389789"/>
            <a:ext cx="154484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0</a:t>
            </a:r>
          </a:p>
        </p:txBody>
      </p:sp>
      <p:sp>
        <p:nvSpPr>
          <p:cNvPr id="98" name="New shape"/>
          <p:cNvSpPr/>
          <p:nvPr/>
        </p:nvSpPr>
        <p:spPr>
          <a:xfrm>
            <a:off x="9580753" y="1389789"/>
            <a:ext cx="308967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14</a:t>
            </a:r>
          </a:p>
        </p:txBody>
      </p:sp>
      <p:sp>
        <p:nvSpPr>
          <p:cNvPr id="99" name="New shape"/>
          <p:cNvSpPr/>
          <p:nvPr/>
        </p:nvSpPr>
        <p:spPr>
          <a:xfrm>
            <a:off x="10738358" y="1389789"/>
            <a:ext cx="154484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7</a:t>
            </a:r>
          </a:p>
        </p:txBody>
      </p:sp>
      <p:sp>
        <p:nvSpPr>
          <p:cNvPr id="100" name="New shape">
            <a:extLst>
              <a:ext uri="{FF2B5EF4-FFF2-40B4-BE49-F238E27FC236}">
                <a16:creationId xmlns:a16="http://schemas.microsoft.com/office/drawing/2014/main" id="{270D670E-D65A-1192-0776-7351CC5EBE13}"/>
              </a:ext>
            </a:extLst>
          </p:cNvPr>
          <p:cNvSpPr/>
          <p:nvPr/>
        </p:nvSpPr>
        <p:spPr>
          <a:xfrm>
            <a:off x="1085393" y="2214212"/>
            <a:ext cx="10345140" cy="53925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 dirty="0">
                <a:solidFill>
                  <a:srgbClr val="FFFFFF"/>
                </a:solidFill>
                <a:latin typeface="Calibri"/>
              </a:rPr>
              <a:t>6      7     8     9     10   11   14   15    17  19    22   23   25   28   30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8382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15392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22402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29413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364236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43434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504444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745480" y="2155825"/>
            <a:ext cx="701040" cy="579120"/>
          </a:xfrm>
          <a:prstGeom prst="rect">
            <a:avLst/>
          </a:prstGeom>
          <a:solidFill>
            <a:srgbClr val="FFC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4465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71475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78486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854964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92506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99517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106527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8382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15392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22402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29413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364236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43434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50444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57454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64465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71475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78486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854964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92506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99517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106527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15392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4" name="New shape"/>
          <p:cNvSpPr/>
          <p:nvPr/>
        </p:nvSpPr>
        <p:spPr>
          <a:xfrm>
            <a:off x="22402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5" name="New shape"/>
          <p:cNvSpPr/>
          <p:nvPr/>
        </p:nvSpPr>
        <p:spPr>
          <a:xfrm>
            <a:off x="29413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6" name="New shape"/>
          <p:cNvSpPr/>
          <p:nvPr/>
        </p:nvSpPr>
        <p:spPr>
          <a:xfrm>
            <a:off x="36423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7" name="New shape"/>
          <p:cNvSpPr/>
          <p:nvPr/>
        </p:nvSpPr>
        <p:spPr>
          <a:xfrm>
            <a:off x="43434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8" name="New shape"/>
          <p:cNvSpPr/>
          <p:nvPr/>
        </p:nvSpPr>
        <p:spPr>
          <a:xfrm>
            <a:off x="50444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9" name="New shape"/>
          <p:cNvSpPr/>
          <p:nvPr/>
        </p:nvSpPr>
        <p:spPr>
          <a:xfrm>
            <a:off x="57454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0" name="New shape"/>
          <p:cNvSpPr/>
          <p:nvPr/>
        </p:nvSpPr>
        <p:spPr>
          <a:xfrm>
            <a:off x="64465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1" name="New shape"/>
          <p:cNvSpPr/>
          <p:nvPr/>
        </p:nvSpPr>
        <p:spPr>
          <a:xfrm>
            <a:off x="71475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2" name="New shape"/>
          <p:cNvSpPr/>
          <p:nvPr/>
        </p:nvSpPr>
        <p:spPr>
          <a:xfrm>
            <a:off x="78486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3" name="New shape"/>
          <p:cNvSpPr/>
          <p:nvPr/>
        </p:nvSpPr>
        <p:spPr>
          <a:xfrm>
            <a:off x="85496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4" name="New shape"/>
          <p:cNvSpPr/>
          <p:nvPr/>
        </p:nvSpPr>
        <p:spPr>
          <a:xfrm>
            <a:off x="92506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5" name="New shape"/>
          <p:cNvSpPr/>
          <p:nvPr/>
        </p:nvSpPr>
        <p:spPr>
          <a:xfrm>
            <a:off x="99517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6" name="New shape"/>
          <p:cNvSpPr/>
          <p:nvPr/>
        </p:nvSpPr>
        <p:spPr>
          <a:xfrm>
            <a:off x="106527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7" name="New shape"/>
          <p:cNvSpPr/>
          <p:nvPr/>
        </p:nvSpPr>
        <p:spPr>
          <a:xfrm>
            <a:off x="831850" y="2734945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8" name="New shape"/>
          <p:cNvSpPr/>
          <p:nvPr/>
        </p:nvSpPr>
        <p:spPr>
          <a:xfrm>
            <a:off x="8382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9" name="New shape"/>
          <p:cNvSpPr/>
          <p:nvPr/>
        </p:nvSpPr>
        <p:spPr>
          <a:xfrm>
            <a:off x="113538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0" name="New shape"/>
          <p:cNvSpPr/>
          <p:nvPr/>
        </p:nvSpPr>
        <p:spPr>
          <a:xfrm>
            <a:off x="831850" y="215582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1" name="New shape"/>
          <p:cNvSpPr/>
          <p:nvPr/>
        </p:nvSpPr>
        <p:spPr>
          <a:xfrm>
            <a:off x="831850" y="310578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2" name="New shape"/>
          <p:cNvSpPr/>
          <p:nvPr/>
        </p:nvSpPr>
        <p:spPr>
          <a:xfrm>
            <a:off x="281940" y="4044061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3" name="New shape"/>
          <p:cNvSpPr/>
          <p:nvPr/>
        </p:nvSpPr>
        <p:spPr>
          <a:xfrm>
            <a:off x="703427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4" name="New shape"/>
          <p:cNvSpPr/>
          <p:nvPr/>
        </p:nvSpPr>
        <p:spPr>
          <a:xfrm>
            <a:off x="811415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5" name="New shape"/>
          <p:cNvSpPr/>
          <p:nvPr/>
        </p:nvSpPr>
        <p:spPr>
          <a:xfrm>
            <a:off x="9194037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6" name="New shape"/>
          <p:cNvSpPr/>
          <p:nvPr/>
        </p:nvSpPr>
        <p:spPr>
          <a:xfrm>
            <a:off x="10273919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7" name="New shape"/>
          <p:cNvSpPr/>
          <p:nvPr/>
        </p:nvSpPr>
        <p:spPr>
          <a:xfrm>
            <a:off x="703427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8" name="New shape"/>
          <p:cNvSpPr/>
          <p:nvPr/>
        </p:nvSpPr>
        <p:spPr>
          <a:xfrm>
            <a:off x="811415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9" name="New shape"/>
          <p:cNvSpPr/>
          <p:nvPr/>
        </p:nvSpPr>
        <p:spPr>
          <a:xfrm>
            <a:off x="9194037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0" name="New shape"/>
          <p:cNvSpPr/>
          <p:nvPr/>
        </p:nvSpPr>
        <p:spPr>
          <a:xfrm>
            <a:off x="10273919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1" name="New shape"/>
          <p:cNvSpPr/>
          <p:nvPr/>
        </p:nvSpPr>
        <p:spPr>
          <a:xfrm>
            <a:off x="8114157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2" name="New shape"/>
          <p:cNvSpPr/>
          <p:nvPr/>
        </p:nvSpPr>
        <p:spPr>
          <a:xfrm>
            <a:off x="9194038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3" name="New shape"/>
          <p:cNvSpPr/>
          <p:nvPr/>
        </p:nvSpPr>
        <p:spPr>
          <a:xfrm>
            <a:off x="10273919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4" name="New shape"/>
          <p:cNvSpPr/>
          <p:nvPr/>
        </p:nvSpPr>
        <p:spPr>
          <a:xfrm>
            <a:off x="7027926" y="1319022"/>
            <a:ext cx="4332224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5" name="New shape"/>
          <p:cNvSpPr/>
          <p:nvPr/>
        </p:nvSpPr>
        <p:spPr>
          <a:xfrm>
            <a:off x="7034276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6" name="New shape"/>
          <p:cNvSpPr/>
          <p:nvPr/>
        </p:nvSpPr>
        <p:spPr>
          <a:xfrm>
            <a:off x="11353800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7" name="New shape"/>
          <p:cNvSpPr/>
          <p:nvPr/>
        </p:nvSpPr>
        <p:spPr>
          <a:xfrm>
            <a:off x="7027926" y="8618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8" name="New shape"/>
          <p:cNvSpPr/>
          <p:nvPr/>
        </p:nvSpPr>
        <p:spPr>
          <a:xfrm>
            <a:off x="7027926" y="17762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9" name="New shape"/>
          <p:cNvSpPr/>
          <p:nvPr/>
        </p:nvSpPr>
        <p:spPr>
          <a:xfrm>
            <a:off x="929640" y="703804"/>
            <a:ext cx="3057104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Binary Search</a:t>
            </a:r>
          </a:p>
        </p:txBody>
      </p:sp>
      <p:sp>
        <p:nvSpPr>
          <p:cNvPr id="71" name="New shape"/>
          <p:cNvSpPr/>
          <p:nvPr/>
        </p:nvSpPr>
        <p:spPr>
          <a:xfrm>
            <a:off x="107503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[0]</a:t>
            </a:r>
          </a:p>
        </p:txBody>
      </p:sp>
      <p:sp>
        <p:nvSpPr>
          <p:cNvPr id="72" name="New shape"/>
          <p:cNvSpPr/>
          <p:nvPr/>
        </p:nvSpPr>
        <p:spPr>
          <a:xfrm>
            <a:off x="177609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[1]</a:t>
            </a:r>
          </a:p>
        </p:txBody>
      </p:sp>
      <p:sp>
        <p:nvSpPr>
          <p:cNvPr id="73" name="New shape"/>
          <p:cNvSpPr/>
          <p:nvPr/>
        </p:nvSpPr>
        <p:spPr>
          <a:xfrm>
            <a:off x="247713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[2]</a:t>
            </a:r>
          </a:p>
        </p:txBody>
      </p:sp>
      <p:sp>
        <p:nvSpPr>
          <p:cNvPr id="74" name="New shape"/>
          <p:cNvSpPr/>
          <p:nvPr/>
        </p:nvSpPr>
        <p:spPr>
          <a:xfrm>
            <a:off x="317817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[3]</a:t>
            </a:r>
          </a:p>
        </p:txBody>
      </p:sp>
      <p:sp>
        <p:nvSpPr>
          <p:cNvPr id="75" name="New shape"/>
          <p:cNvSpPr/>
          <p:nvPr/>
        </p:nvSpPr>
        <p:spPr>
          <a:xfrm>
            <a:off x="387946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[4]</a:t>
            </a:r>
          </a:p>
        </p:txBody>
      </p:sp>
      <p:sp>
        <p:nvSpPr>
          <p:cNvPr id="76" name="New shape"/>
          <p:cNvSpPr/>
          <p:nvPr/>
        </p:nvSpPr>
        <p:spPr>
          <a:xfrm>
            <a:off x="458050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[5]</a:t>
            </a:r>
          </a:p>
        </p:txBody>
      </p:sp>
      <p:sp>
        <p:nvSpPr>
          <p:cNvPr id="77" name="New shape"/>
          <p:cNvSpPr/>
          <p:nvPr/>
        </p:nvSpPr>
        <p:spPr>
          <a:xfrm>
            <a:off x="528154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[6]</a:t>
            </a:r>
          </a:p>
        </p:txBody>
      </p:sp>
      <p:sp>
        <p:nvSpPr>
          <p:cNvPr id="78" name="New shape"/>
          <p:cNvSpPr/>
          <p:nvPr/>
        </p:nvSpPr>
        <p:spPr>
          <a:xfrm>
            <a:off x="598297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[7]</a:t>
            </a:r>
          </a:p>
        </p:txBody>
      </p:sp>
      <p:sp>
        <p:nvSpPr>
          <p:cNvPr id="79" name="New shape"/>
          <p:cNvSpPr/>
          <p:nvPr/>
        </p:nvSpPr>
        <p:spPr>
          <a:xfrm>
            <a:off x="668401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[8]</a:t>
            </a:r>
          </a:p>
        </p:txBody>
      </p:sp>
      <p:sp>
        <p:nvSpPr>
          <p:cNvPr id="80" name="New shape"/>
          <p:cNvSpPr/>
          <p:nvPr/>
        </p:nvSpPr>
        <p:spPr>
          <a:xfrm>
            <a:off x="738505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[9]</a:t>
            </a:r>
          </a:p>
        </p:txBody>
      </p:sp>
      <p:sp>
        <p:nvSpPr>
          <p:cNvPr id="81" name="New shape"/>
          <p:cNvSpPr/>
          <p:nvPr/>
        </p:nvSpPr>
        <p:spPr>
          <a:xfrm>
            <a:off x="803579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[10]</a:t>
            </a:r>
          </a:p>
        </p:txBody>
      </p:sp>
      <p:sp>
        <p:nvSpPr>
          <p:cNvPr id="82" name="New shape"/>
          <p:cNvSpPr/>
          <p:nvPr/>
        </p:nvSpPr>
        <p:spPr>
          <a:xfrm>
            <a:off x="873683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[11]</a:t>
            </a:r>
          </a:p>
        </p:txBody>
      </p:sp>
      <p:sp>
        <p:nvSpPr>
          <p:cNvPr id="83" name="New shape"/>
          <p:cNvSpPr/>
          <p:nvPr/>
        </p:nvSpPr>
        <p:spPr>
          <a:xfrm>
            <a:off x="943813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[12]</a:t>
            </a:r>
          </a:p>
        </p:txBody>
      </p:sp>
      <p:sp>
        <p:nvSpPr>
          <p:cNvPr id="84" name="New shape"/>
          <p:cNvSpPr/>
          <p:nvPr/>
        </p:nvSpPr>
        <p:spPr>
          <a:xfrm>
            <a:off x="1013917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[13]</a:t>
            </a:r>
          </a:p>
        </p:txBody>
      </p:sp>
      <p:sp>
        <p:nvSpPr>
          <p:cNvPr id="85" name="New shape"/>
          <p:cNvSpPr/>
          <p:nvPr/>
        </p:nvSpPr>
        <p:spPr>
          <a:xfrm>
            <a:off x="1084021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[14]</a:t>
            </a:r>
          </a:p>
        </p:txBody>
      </p:sp>
      <p:sp>
        <p:nvSpPr>
          <p:cNvPr id="86" name="New shape"/>
          <p:cNvSpPr/>
          <p:nvPr/>
        </p:nvSpPr>
        <p:spPr>
          <a:xfrm>
            <a:off x="281940" y="3651530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87" name="New shape"/>
          <p:cNvSpPr/>
          <p:nvPr/>
        </p:nvSpPr>
        <p:spPr>
          <a:xfrm>
            <a:off x="739140" y="4134458"/>
            <a:ext cx="5526351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Repeat until the (sub)array is of size 0:</a:t>
            </a:r>
          </a:p>
        </p:txBody>
      </p:sp>
      <p:sp>
        <p:nvSpPr>
          <p:cNvPr id="88" name="New shape"/>
          <p:cNvSpPr/>
          <p:nvPr/>
        </p:nvSpPr>
        <p:spPr>
          <a:xfrm>
            <a:off x="1196645" y="4557550"/>
            <a:ext cx="64649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Calculate the middle point of the current (sub)array.</a:t>
            </a:r>
          </a:p>
        </p:txBody>
      </p:sp>
      <p:sp>
        <p:nvSpPr>
          <p:cNvPr id="89" name="New shape"/>
          <p:cNvSpPr/>
          <p:nvPr/>
        </p:nvSpPr>
        <p:spPr>
          <a:xfrm>
            <a:off x="1196645" y="4923310"/>
            <a:ext cx="42170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If the target is at the middle, stop.</a:t>
            </a:r>
          </a:p>
        </p:txBody>
      </p:sp>
      <p:sp>
        <p:nvSpPr>
          <p:cNvPr id="90" name="New shape"/>
          <p:cNvSpPr/>
          <p:nvPr/>
        </p:nvSpPr>
        <p:spPr>
          <a:xfrm>
            <a:off x="1196645" y="5288810"/>
            <a:ext cx="10248423" cy="37244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2">
                <a:solidFill>
                  <a:srgbClr val="000000"/>
                </a:solidFill>
                <a:latin typeface="Calibri"/>
              </a:rPr>
              <a:t>Otherwise, if the target is less than what’s at the middle, repeat, changing the end </a:t>
            </a:r>
          </a:p>
        </p:txBody>
      </p:sp>
      <p:sp>
        <p:nvSpPr>
          <p:cNvPr id="91" name="New shape"/>
          <p:cNvSpPr/>
          <p:nvPr/>
        </p:nvSpPr>
        <p:spPr>
          <a:xfrm>
            <a:off x="1196645" y="5655109"/>
            <a:ext cx="4992291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left of the middle.</a:t>
            </a:r>
          </a:p>
        </p:txBody>
      </p:sp>
      <p:sp>
        <p:nvSpPr>
          <p:cNvPr id="92" name="New shape"/>
          <p:cNvSpPr/>
          <p:nvPr/>
        </p:nvSpPr>
        <p:spPr>
          <a:xfrm>
            <a:off x="1196645" y="6020870"/>
            <a:ext cx="1078929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AFEF"/>
                </a:solidFill>
                <a:latin typeface="Calibri"/>
              </a:rPr>
              <a:t>Otherwise, if the target is greater than what’s at the middle, repeat, changing the start </a:t>
            </a:r>
          </a:p>
        </p:txBody>
      </p:sp>
      <p:sp>
        <p:nvSpPr>
          <p:cNvPr id="93" name="New shape"/>
          <p:cNvSpPr/>
          <p:nvPr/>
        </p:nvSpPr>
        <p:spPr>
          <a:xfrm>
            <a:off x="1196645" y="6386630"/>
            <a:ext cx="5157490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AFEF"/>
                </a:solidFill>
                <a:latin typeface="Calibri"/>
              </a:rPr>
              <a:t>point to be just to the right of the middle.</a:t>
            </a:r>
          </a:p>
        </p:txBody>
      </p:sp>
      <p:sp>
        <p:nvSpPr>
          <p:cNvPr id="94" name="New shape"/>
          <p:cNvSpPr/>
          <p:nvPr/>
        </p:nvSpPr>
        <p:spPr>
          <a:xfrm>
            <a:off x="7182866" y="910875"/>
            <a:ext cx="1914883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Target      Start</a:t>
            </a:r>
          </a:p>
        </p:txBody>
      </p:sp>
      <p:sp>
        <p:nvSpPr>
          <p:cNvPr id="95" name="New shape"/>
          <p:cNvSpPr/>
          <p:nvPr/>
        </p:nvSpPr>
        <p:spPr>
          <a:xfrm>
            <a:off x="9496933" y="910875"/>
            <a:ext cx="1892506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End      Middle</a:t>
            </a:r>
          </a:p>
        </p:txBody>
      </p:sp>
      <p:sp>
        <p:nvSpPr>
          <p:cNvPr id="96" name="New shape"/>
          <p:cNvSpPr/>
          <p:nvPr/>
        </p:nvSpPr>
        <p:spPr>
          <a:xfrm>
            <a:off x="7420610" y="1389789"/>
            <a:ext cx="308967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19</a:t>
            </a:r>
          </a:p>
        </p:txBody>
      </p:sp>
      <p:sp>
        <p:nvSpPr>
          <p:cNvPr id="97" name="New shape"/>
          <p:cNvSpPr/>
          <p:nvPr/>
        </p:nvSpPr>
        <p:spPr>
          <a:xfrm>
            <a:off x="8578596" y="1389789"/>
            <a:ext cx="154484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0</a:t>
            </a:r>
          </a:p>
        </p:txBody>
      </p:sp>
      <p:sp>
        <p:nvSpPr>
          <p:cNvPr id="98" name="New shape"/>
          <p:cNvSpPr/>
          <p:nvPr/>
        </p:nvSpPr>
        <p:spPr>
          <a:xfrm>
            <a:off x="9580753" y="1389789"/>
            <a:ext cx="308967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14</a:t>
            </a:r>
          </a:p>
        </p:txBody>
      </p:sp>
      <p:sp>
        <p:nvSpPr>
          <p:cNvPr id="99" name="New shape"/>
          <p:cNvSpPr/>
          <p:nvPr/>
        </p:nvSpPr>
        <p:spPr>
          <a:xfrm>
            <a:off x="10738358" y="1389789"/>
            <a:ext cx="154484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7</a:t>
            </a:r>
          </a:p>
        </p:txBody>
      </p:sp>
      <p:sp>
        <p:nvSpPr>
          <p:cNvPr id="100" name="New shape">
            <a:extLst>
              <a:ext uri="{FF2B5EF4-FFF2-40B4-BE49-F238E27FC236}">
                <a16:creationId xmlns:a16="http://schemas.microsoft.com/office/drawing/2014/main" id="{11B97A1B-24B7-C43A-5FF4-1C6A140EC178}"/>
              </a:ext>
            </a:extLst>
          </p:cNvPr>
          <p:cNvSpPr/>
          <p:nvPr/>
        </p:nvSpPr>
        <p:spPr>
          <a:xfrm>
            <a:off x="1085393" y="2214212"/>
            <a:ext cx="10345140" cy="53925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 dirty="0">
                <a:solidFill>
                  <a:srgbClr val="FFFFFF"/>
                </a:solidFill>
                <a:latin typeface="Calibri"/>
              </a:rPr>
              <a:t>6      7     8     9     10   11   14   15    17  19    22   23   25   28   30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838200" y="2155825"/>
            <a:ext cx="70104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1539240" y="2155825"/>
            <a:ext cx="70104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2240280" y="2155825"/>
            <a:ext cx="70104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2941320" y="2155825"/>
            <a:ext cx="70104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3642360" y="2155825"/>
            <a:ext cx="70104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4343400" y="2155825"/>
            <a:ext cx="70104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5044440" y="2155825"/>
            <a:ext cx="70104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745480" y="2155825"/>
            <a:ext cx="70104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4465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71475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784860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854964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925068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9951720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10652761" y="2155825"/>
            <a:ext cx="701040" cy="579120"/>
          </a:xfrm>
          <a:prstGeom prst="rect">
            <a:avLst/>
          </a:prstGeom>
          <a:solidFill>
            <a:srgbClr val="FF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8382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15392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22402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29413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364236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43434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504444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57454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64465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71475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784860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854964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925068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9951720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10652761" y="2734945"/>
            <a:ext cx="701040" cy="370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15392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4" name="New shape"/>
          <p:cNvSpPr/>
          <p:nvPr/>
        </p:nvSpPr>
        <p:spPr>
          <a:xfrm>
            <a:off x="22402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5" name="New shape"/>
          <p:cNvSpPr/>
          <p:nvPr/>
        </p:nvSpPr>
        <p:spPr>
          <a:xfrm>
            <a:off x="29413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6" name="New shape"/>
          <p:cNvSpPr/>
          <p:nvPr/>
        </p:nvSpPr>
        <p:spPr>
          <a:xfrm>
            <a:off x="36423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7" name="New shape"/>
          <p:cNvSpPr/>
          <p:nvPr/>
        </p:nvSpPr>
        <p:spPr>
          <a:xfrm>
            <a:off x="43434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8" name="New shape"/>
          <p:cNvSpPr/>
          <p:nvPr/>
        </p:nvSpPr>
        <p:spPr>
          <a:xfrm>
            <a:off x="50444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9" name="New shape"/>
          <p:cNvSpPr/>
          <p:nvPr/>
        </p:nvSpPr>
        <p:spPr>
          <a:xfrm>
            <a:off x="57454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0" name="New shape"/>
          <p:cNvSpPr/>
          <p:nvPr/>
        </p:nvSpPr>
        <p:spPr>
          <a:xfrm>
            <a:off x="64465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1" name="New shape"/>
          <p:cNvSpPr/>
          <p:nvPr/>
        </p:nvSpPr>
        <p:spPr>
          <a:xfrm>
            <a:off x="71475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2" name="New shape"/>
          <p:cNvSpPr/>
          <p:nvPr/>
        </p:nvSpPr>
        <p:spPr>
          <a:xfrm>
            <a:off x="78486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3" name="New shape"/>
          <p:cNvSpPr/>
          <p:nvPr/>
        </p:nvSpPr>
        <p:spPr>
          <a:xfrm>
            <a:off x="854964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4" name="New shape"/>
          <p:cNvSpPr/>
          <p:nvPr/>
        </p:nvSpPr>
        <p:spPr>
          <a:xfrm>
            <a:off x="925068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5" name="New shape"/>
          <p:cNvSpPr/>
          <p:nvPr/>
        </p:nvSpPr>
        <p:spPr>
          <a:xfrm>
            <a:off x="995172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6" name="New shape"/>
          <p:cNvSpPr/>
          <p:nvPr/>
        </p:nvSpPr>
        <p:spPr>
          <a:xfrm>
            <a:off x="1065276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7" name="New shape"/>
          <p:cNvSpPr/>
          <p:nvPr/>
        </p:nvSpPr>
        <p:spPr>
          <a:xfrm>
            <a:off x="831850" y="2734945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8" name="New shape"/>
          <p:cNvSpPr/>
          <p:nvPr/>
        </p:nvSpPr>
        <p:spPr>
          <a:xfrm>
            <a:off x="8382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9" name="New shape"/>
          <p:cNvSpPr/>
          <p:nvPr/>
        </p:nvSpPr>
        <p:spPr>
          <a:xfrm>
            <a:off x="11353800" y="2149475"/>
            <a:ext cx="0" cy="9626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0" name="New shape"/>
          <p:cNvSpPr/>
          <p:nvPr/>
        </p:nvSpPr>
        <p:spPr>
          <a:xfrm>
            <a:off x="831850" y="215582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1" name="New shape"/>
          <p:cNvSpPr/>
          <p:nvPr/>
        </p:nvSpPr>
        <p:spPr>
          <a:xfrm>
            <a:off x="831850" y="3105785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2" name="New shape"/>
          <p:cNvSpPr/>
          <p:nvPr/>
        </p:nvSpPr>
        <p:spPr>
          <a:xfrm>
            <a:off x="281940" y="4044061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3" name="New shape"/>
          <p:cNvSpPr/>
          <p:nvPr/>
        </p:nvSpPr>
        <p:spPr>
          <a:xfrm>
            <a:off x="703427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4" name="New shape"/>
          <p:cNvSpPr/>
          <p:nvPr/>
        </p:nvSpPr>
        <p:spPr>
          <a:xfrm>
            <a:off x="8114156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5" name="New shape"/>
          <p:cNvSpPr/>
          <p:nvPr/>
        </p:nvSpPr>
        <p:spPr>
          <a:xfrm>
            <a:off x="9194037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6" name="New shape"/>
          <p:cNvSpPr/>
          <p:nvPr/>
        </p:nvSpPr>
        <p:spPr>
          <a:xfrm>
            <a:off x="10273919" y="861822"/>
            <a:ext cx="1079881" cy="457200"/>
          </a:xfrm>
          <a:prstGeom prst="rect">
            <a:avLst/>
          </a:prstGeom>
          <a:solidFill>
            <a:srgbClr val="5B9BD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7" name="New shape"/>
          <p:cNvSpPr/>
          <p:nvPr/>
        </p:nvSpPr>
        <p:spPr>
          <a:xfrm>
            <a:off x="7034276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8" name="New shape"/>
          <p:cNvSpPr/>
          <p:nvPr/>
        </p:nvSpPr>
        <p:spPr>
          <a:xfrm>
            <a:off x="8114156" y="1319022"/>
            <a:ext cx="1079881" cy="457200"/>
          </a:xfrm>
          <a:prstGeom prst="rect">
            <a:avLst/>
          </a:prstGeom>
          <a:solidFill>
            <a:srgbClr val="C5DF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9" name="New shape"/>
          <p:cNvSpPr/>
          <p:nvPr/>
        </p:nvSpPr>
        <p:spPr>
          <a:xfrm>
            <a:off x="9194037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0" name="New shape"/>
          <p:cNvSpPr/>
          <p:nvPr/>
        </p:nvSpPr>
        <p:spPr>
          <a:xfrm>
            <a:off x="10273919" y="1319022"/>
            <a:ext cx="1079881" cy="457200"/>
          </a:xfrm>
          <a:prstGeom prst="rect">
            <a:avLst/>
          </a:prstGeom>
          <a:solidFill>
            <a:srgbClr val="D2DEE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1" name="New shape"/>
          <p:cNvSpPr/>
          <p:nvPr/>
        </p:nvSpPr>
        <p:spPr>
          <a:xfrm>
            <a:off x="8114157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2" name="New shape"/>
          <p:cNvSpPr/>
          <p:nvPr/>
        </p:nvSpPr>
        <p:spPr>
          <a:xfrm>
            <a:off x="9194038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3" name="New shape"/>
          <p:cNvSpPr/>
          <p:nvPr/>
        </p:nvSpPr>
        <p:spPr>
          <a:xfrm>
            <a:off x="10273919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4" name="New shape"/>
          <p:cNvSpPr/>
          <p:nvPr/>
        </p:nvSpPr>
        <p:spPr>
          <a:xfrm>
            <a:off x="7027926" y="1319022"/>
            <a:ext cx="4332224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5" name="New shape"/>
          <p:cNvSpPr/>
          <p:nvPr/>
        </p:nvSpPr>
        <p:spPr>
          <a:xfrm>
            <a:off x="7034276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6" name="New shape"/>
          <p:cNvSpPr/>
          <p:nvPr/>
        </p:nvSpPr>
        <p:spPr>
          <a:xfrm>
            <a:off x="11353800" y="855472"/>
            <a:ext cx="0" cy="92710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7" name="New shape"/>
          <p:cNvSpPr/>
          <p:nvPr/>
        </p:nvSpPr>
        <p:spPr>
          <a:xfrm>
            <a:off x="7027926" y="8618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8" name="New shape"/>
          <p:cNvSpPr/>
          <p:nvPr/>
        </p:nvSpPr>
        <p:spPr>
          <a:xfrm>
            <a:off x="7027926" y="1776222"/>
            <a:ext cx="4332224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9" name="New shape"/>
          <p:cNvSpPr/>
          <p:nvPr/>
        </p:nvSpPr>
        <p:spPr>
          <a:xfrm>
            <a:off x="929640" y="703804"/>
            <a:ext cx="3057104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Binary Search</a:t>
            </a:r>
          </a:p>
        </p:txBody>
      </p:sp>
      <p:sp>
        <p:nvSpPr>
          <p:cNvPr id="71" name="New shape"/>
          <p:cNvSpPr/>
          <p:nvPr/>
        </p:nvSpPr>
        <p:spPr>
          <a:xfrm>
            <a:off x="107503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[0]</a:t>
            </a:r>
          </a:p>
        </p:txBody>
      </p:sp>
      <p:sp>
        <p:nvSpPr>
          <p:cNvPr id="72" name="New shape"/>
          <p:cNvSpPr/>
          <p:nvPr/>
        </p:nvSpPr>
        <p:spPr>
          <a:xfrm>
            <a:off x="177609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[1]</a:t>
            </a:r>
          </a:p>
        </p:txBody>
      </p:sp>
      <p:sp>
        <p:nvSpPr>
          <p:cNvPr id="73" name="New shape"/>
          <p:cNvSpPr/>
          <p:nvPr/>
        </p:nvSpPr>
        <p:spPr>
          <a:xfrm>
            <a:off x="247713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[2]</a:t>
            </a:r>
          </a:p>
        </p:txBody>
      </p:sp>
      <p:sp>
        <p:nvSpPr>
          <p:cNvPr id="74" name="New shape"/>
          <p:cNvSpPr/>
          <p:nvPr/>
        </p:nvSpPr>
        <p:spPr>
          <a:xfrm>
            <a:off x="3178175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[3]</a:t>
            </a:r>
          </a:p>
        </p:txBody>
      </p:sp>
      <p:sp>
        <p:nvSpPr>
          <p:cNvPr id="75" name="New shape"/>
          <p:cNvSpPr/>
          <p:nvPr/>
        </p:nvSpPr>
        <p:spPr>
          <a:xfrm>
            <a:off x="387946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[4]</a:t>
            </a:r>
          </a:p>
        </p:txBody>
      </p:sp>
      <p:sp>
        <p:nvSpPr>
          <p:cNvPr id="76" name="New shape"/>
          <p:cNvSpPr/>
          <p:nvPr/>
        </p:nvSpPr>
        <p:spPr>
          <a:xfrm>
            <a:off x="458050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[5]</a:t>
            </a:r>
          </a:p>
        </p:txBody>
      </p:sp>
      <p:sp>
        <p:nvSpPr>
          <p:cNvPr id="77" name="New shape"/>
          <p:cNvSpPr/>
          <p:nvPr/>
        </p:nvSpPr>
        <p:spPr>
          <a:xfrm>
            <a:off x="5281549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[6]</a:t>
            </a:r>
          </a:p>
        </p:txBody>
      </p:sp>
      <p:sp>
        <p:nvSpPr>
          <p:cNvPr id="78" name="New shape"/>
          <p:cNvSpPr/>
          <p:nvPr/>
        </p:nvSpPr>
        <p:spPr>
          <a:xfrm>
            <a:off x="598297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[7]</a:t>
            </a:r>
          </a:p>
        </p:txBody>
      </p:sp>
      <p:sp>
        <p:nvSpPr>
          <p:cNvPr id="79" name="New shape"/>
          <p:cNvSpPr/>
          <p:nvPr/>
        </p:nvSpPr>
        <p:spPr>
          <a:xfrm>
            <a:off x="668401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[8]</a:t>
            </a:r>
          </a:p>
        </p:txBody>
      </p:sp>
      <p:sp>
        <p:nvSpPr>
          <p:cNvPr id="80" name="New shape"/>
          <p:cNvSpPr/>
          <p:nvPr/>
        </p:nvSpPr>
        <p:spPr>
          <a:xfrm>
            <a:off x="7385050" y="2798601"/>
            <a:ext cx="227039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[9]</a:t>
            </a:r>
          </a:p>
        </p:txBody>
      </p:sp>
      <p:sp>
        <p:nvSpPr>
          <p:cNvPr id="81" name="New shape"/>
          <p:cNvSpPr/>
          <p:nvPr/>
        </p:nvSpPr>
        <p:spPr>
          <a:xfrm>
            <a:off x="803579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[10]</a:t>
            </a:r>
          </a:p>
        </p:txBody>
      </p:sp>
      <p:sp>
        <p:nvSpPr>
          <p:cNvPr id="82" name="New shape"/>
          <p:cNvSpPr/>
          <p:nvPr/>
        </p:nvSpPr>
        <p:spPr>
          <a:xfrm>
            <a:off x="8736838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[11]</a:t>
            </a:r>
          </a:p>
        </p:txBody>
      </p:sp>
      <p:sp>
        <p:nvSpPr>
          <p:cNvPr id="83" name="New shape"/>
          <p:cNvSpPr/>
          <p:nvPr/>
        </p:nvSpPr>
        <p:spPr>
          <a:xfrm>
            <a:off x="943813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[12]</a:t>
            </a:r>
          </a:p>
        </p:txBody>
      </p:sp>
      <p:sp>
        <p:nvSpPr>
          <p:cNvPr id="84" name="New shape"/>
          <p:cNvSpPr/>
          <p:nvPr/>
        </p:nvSpPr>
        <p:spPr>
          <a:xfrm>
            <a:off x="1013917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[13]</a:t>
            </a:r>
          </a:p>
        </p:txBody>
      </p:sp>
      <p:sp>
        <p:nvSpPr>
          <p:cNvPr id="85" name="New shape"/>
          <p:cNvSpPr/>
          <p:nvPr/>
        </p:nvSpPr>
        <p:spPr>
          <a:xfrm>
            <a:off x="10840212" y="2798601"/>
            <a:ext cx="329770" cy="24742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 i="1">
                <a:solidFill>
                  <a:srgbClr val="7E7E7E"/>
                </a:solidFill>
                <a:latin typeface="Calibri"/>
              </a:rPr>
              <a:t>[14]</a:t>
            </a:r>
          </a:p>
        </p:txBody>
      </p:sp>
      <p:sp>
        <p:nvSpPr>
          <p:cNvPr id="86" name="New shape"/>
          <p:cNvSpPr/>
          <p:nvPr/>
        </p:nvSpPr>
        <p:spPr>
          <a:xfrm>
            <a:off x="281940" y="3651530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87" name="New shape"/>
          <p:cNvSpPr/>
          <p:nvPr/>
        </p:nvSpPr>
        <p:spPr>
          <a:xfrm>
            <a:off x="739140" y="4134458"/>
            <a:ext cx="5526351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Repeat until the (sub)array is of size 0:</a:t>
            </a:r>
          </a:p>
        </p:txBody>
      </p:sp>
      <p:sp>
        <p:nvSpPr>
          <p:cNvPr id="88" name="New shape"/>
          <p:cNvSpPr/>
          <p:nvPr/>
        </p:nvSpPr>
        <p:spPr>
          <a:xfrm>
            <a:off x="1196645" y="4557550"/>
            <a:ext cx="5982444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Calculate middle point of the current (sub)array.</a:t>
            </a:r>
          </a:p>
        </p:txBody>
      </p:sp>
      <p:sp>
        <p:nvSpPr>
          <p:cNvPr id="89" name="New shape"/>
          <p:cNvSpPr/>
          <p:nvPr/>
        </p:nvSpPr>
        <p:spPr>
          <a:xfrm>
            <a:off x="1196645" y="4923310"/>
            <a:ext cx="421704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If the target is at the middle, stop.</a:t>
            </a:r>
          </a:p>
        </p:txBody>
      </p:sp>
      <p:sp>
        <p:nvSpPr>
          <p:cNvPr id="90" name="New shape"/>
          <p:cNvSpPr/>
          <p:nvPr/>
        </p:nvSpPr>
        <p:spPr>
          <a:xfrm>
            <a:off x="1196645" y="5288810"/>
            <a:ext cx="10248423" cy="37244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2" dirty="0">
                <a:solidFill>
                  <a:srgbClr val="000000"/>
                </a:solidFill>
                <a:latin typeface="Calibri"/>
              </a:rPr>
              <a:t>Otherwise, if the target is less than what’s at the middle, repeat, changing the end </a:t>
            </a:r>
          </a:p>
        </p:txBody>
      </p:sp>
      <p:sp>
        <p:nvSpPr>
          <p:cNvPr id="91" name="New shape"/>
          <p:cNvSpPr/>
          <p:nvPr/>
        </p:nvSpPr>
        <p:spPr>
          <a:xfrm>
            <a:off x="1196645" y="5655109"/>
            <a:ext cx="4992291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left of the middle.</a:t>
            </a:r>
          </a:p>
        </p:txBody>
      </p:sp>
      <p:sp>
        <p:nvSpPr>
          <p:cNvPr id="92" name="New shape"/>
          <p:cNvSpPr/>
          <p:nvPr/>
        </p:nvSpPr>
        <p:spPr>
          <a:xfrm>
            <a:off x="1196645" y="6020870"/>
            <a:ext cx="10789295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Otherwise, if the target is greater than what’s at the middle, repeat, changing the start </a:t>
            </a:r>
          </a:p>
        </p:txBody>
      </p:sp>
      <p:sp>
        <p:nvSpPr>
          <p:cNvPr id="93" name="New shape"/>
          <p:cNvSpPr/>
          <p:nvPr/>
        </p:nvSpPr>
        <p:spPr>
          <a:xfrm>
            <a:off x="1196645" y="6386630"/>
            <a:ext cx="5157490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point to be just to the right of the middle.</a:t>
            </a:r>
          </a:p>
        </p:txBody>
      </p:sp>
      <p:sp>
        <p:nvSpPr>
          <p:cNvPr id="94" name="New shape"/>
          <p:cNvSpPr/>
          <p:nvPr/>
        </p:nvSpPr>
        <p:spPr>
          <a:xfrm>
            <a:off x="7182866" y="910875"/>
            <a:ext cx="1914883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Target      Start</a:t>
            </a:r>
          </a:p>
        </p:txBody>
      </p:sp>
      <p:sp>
        <p:nvSpPr>
          <p:cNvPr id="95" name="New shape"/>
          <p:cNvSpPr/>
          <p:nvPr/>
        </p:nvSpPr>
        <p:spPr>
          <a:xfrm>
            <a:off x="9496933" y="910875"/>
            <a:ext cx="1892506" cy="41549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End      Middle</a:t>
            </a:r>
          </a:p>
        </p:txBody>
      </p:sp>
      <p:sp>
        <p:nvSpPr>
          <p:cNvPr id="96" name="New shape"/>
          <p:cNvSpPr/>
          <p:nvPr/>
        </p:nvSpPr>
        <p:spPr>
          <a:xfrm>
            <a:off x="7420610" y="1389789"/>
            <a:ext cx="308967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19</a:t>
            </a:r>
          </a:p>
        </p:txBody>
      </p:sp>
      <p:sp>
        <p:nvSpPr>
          <p:cNvPr id="97" name="New shape"/>
          <p:cNvSpPr/>
          <p:nvPr/>
        </p:nvSpPr>
        <p:spPr>
          <a:xfrm>
            <a:off x="8578596" y="1389789"/>
            <a:ext cx="154484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8</a:t>
            </a:r>
          </a:p>
        </p:txBody>
      </p:sp>
      <p:sp>
        <p:nvSpPr>
          <p:cNvPr id="98" name="New shape"/>
          <p:cNvSpPr/>
          <p:nvPr/>
        </p:nvSpPr>
        <p:spPr>
          <a:xfrm>
            <a:off x="9580753" y="1389789"/>
            <a:ext cx="308967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14</a:t>
            </a:r>
          </a:p>
        </p:txBody>
      </p:sp>
      <p:sp>
        <p:nvSpPr>
          <p:cNvPr id="99" name="New shape"/>
          <p:cNvSpPr/>
          <p:nvPr/>
        </p:nvSpPr>
        <p:spPr>
          <a:xfrm>
            <a:off x="10738358" y="1389789"/>
            <a:ext cx="154484" cy="37207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00">
                <a:solidFill>
                  <a:srgbClr val="000000"/>
                </a:solidFill>
                <a:latin typeface="Calibri"/>
              </a:rPr>
              <a:t>7</a:t>
            </a:r>
          </a:p>
        </p:txBody>
      </p:sp>
      <p:sp>
        <p:nvSpPr>
          <p:cNvPr id="100" name="New shape">
            <a:extLst>
              <a:ext uri="{FF2B5EF4-FFF2-40B4-BE49-F238E27FC236}">
                <a16:creationId xmlns:a16="http://schemas.microsoft.com/office/drawing/2014/main" id="{257664BD-3C8C-EAFE-0AD0-CAB073B83C69}"/>
              </a:ext>
            </a:extLst>
          </p:cNvPr>
          <p:cNvSpPr/>
          <p:nvPr/>
        </p:nvSpPr>
        <p:spPr>
          <a:xfrm>
            <a:off x="1085393" y="2214212"/>
            <a:ext cx="10345140" cy="53925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 dirty="0">
                <a:solidFill>
                  <a:srgbClr val="FFFFFF"/>
                </a:solidFill>
                <a:latin typeface="Calibri"/>
              </a:rPr>
              <a:t>6      7     8     9     10   11   14   15    17  19    22   23   25   28   30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Times New Roman"/>
        <a:font script="Hebr" typeface="Times New Roman"/>
        <a:font script="Deva" typeface="Mangal"/>
        <a:font script="Uigh" typeface="Microsoft Uighur"/>
        <a:font script="Ethi" typeface="Nyala"/>
        <a:font script="Yiii" typeface="Microsoft Yi Baiti"/>
        <a:font script="Khmr" typeface="MoolBoran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Angsana New"/>
        <a:font script="Guru" typeface="Raavi"/>
        <a:font script="Viet" typeface="Times New Roman"/>
        <a:font script="Hang" typeface="맑은 고딕"/>
        <a:font script="Hant" typeface="新細明體"/>
        <a:font script="Gujr" typeface="Shruti"/>
      </a:majorFont>
      <a:min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Arial"/>
        <a:font script="Hebr" typeface="Arial"/>
        <a:font script="Deva" typeface="Mangal"/>
        <a:font script="Uigh" typeface="Microsoft Uighur"/>
        <a:font script="Ethi" typeface="Nyala"/>
        <a:font script="Yiii" typeface="Microsoft Yi Baiti"/>
        <a:font script="Khmr" typeface="DaunPenh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Cordia New"/>
        <a:font script="Guru" typeface="Raavi"/>
        <a:font script="Viet" typeface="Arial"/>
        <a:font script="Hang" typeface="맑은 고딕"/>
        <a:font script="Hant" typeface="新細明體"/>
        <a:font script="Gujr" typeface="Shruti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1257</Words>
  <Application>Microsoft Office PowerPoint</Application>
  <PresentationFormat>Widescreen</PresentationFormat>
  <Paragraphs>213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Ed Harris</cp:lastModifiedBy>
  <cp:revision>3</cp:revision>
  <dcterms:created xsi:type="dcterms:W3CDTF">2025-07-22T13:59:22Z</dcterms:created>
  <dcterms:modified xsi:type="dcterms:W3CDTF">2025-10-16T15:40:09Z</dcterms:modified>
</cp:coreProperties>
</file>