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954" y="3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rtlCol="0" anchor="ctr">
            <a:normAutofit/>
          </a:bodyPr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 rtlCol="0">
            <a:normAutofit/>
          </a:bodyPr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929640" y="1885563"/>
            <a:ext cx="137570" cy="43961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5" name="New shape"/>
          <p:cNvSpPr/>
          <p:nvPr/>
        </p:nvSpPr>
        <p:spPr>
          <a:xfrm>
            <a:off x="1158240" y="1835772"/>
            <a:ext cx="10340908" cy="52290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 dirty="0">
                <a:solidFill>
                  <a:srgbClr val="000000"/>
                </a:solidFill>
                <a:latin typeface="Calibri"/>
              </a:rPr>
              <a:t>We might describe an implementation of an algorithm as being </a:t>
            </a:r>
          </a:p>
        </p:txBody>
      </p:sp>
      <p:sp>
        <p:nvSpPr>
          <p:cNvPr id="6" name="New shape"/>
          <p:cNvSpPr/>
          <p:nvPr/>
        </p:nvSpPr>
        <p:spPr>
          <a:xfrm>
            <a:off x="1158240" y="2282887"/>
            <a:ext cx="9386307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particularly “elegant” if it solves a problem in a way that is </a:t>
            </a:r>
          </a:p>
        </p:txBody>
      </p:sp>
      <p:sp>
        <p:nvSpPr>
          <p:cNvPr id="7" name="New shape"/>
          <p:cNvSpPr/>
          <p:nvPr/>
        </p:nvSpPr>
        <p:spPr>
          <a:xfrm>
            <a:off x="1158240" y="2708084"/>
            <a:ext cx="5932438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both interesting andeasy to visualize.</a:t>
            </a:r>
          </a:p>
        </p:txBody>
      </p:sp>
      <p:sp>
        <p:nvSpPr>
          <p:cNvPr id="8" name="New shape"/>
          <p:cNvSpPr/>
          <p:nvPr/>
        </p:nvSpPr>
        <p:spPr>
          <a:xfrm>
            <a:off x="929640" y="3840204"/>
            <a:ext cx="137464" cy="4392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9" name="New shape"/>
          <p:cNvSpPr/>
          <p:nvPr/>
        </p:nvSpPr>
        <p:spPr>
          <a:xfrm>
            <a:off x="1158240" y="3811713"/>
            <a:ext cx="2791701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The technique of </a:t>
            </a:r>
          </a:p>
        </p:txBody>
      </p:sp>
      <p:sp>
        <p:nvSpPr>
          <p:cNvPr id="10" name="New shape"/>
          <p:cNvSpPr/>
          <p:nvPr/>
        </p:nvSpPr>
        <p:spPr>
          <a:xfrm>
            <a:off x="3949319" y="3811713"/>
            <a:ext cx="1528035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 b="1">
                <a:solidFill>
                  <a:srgbClr val="000000"/>
                </a:solidFill>
                <a:latin typeface="Calibri"/>
              </a:rPr>
              <a:t>recursion</a:t>
            </a:r>
          </a:p>
        </p:txBody>
      </p:sp>
      <p:sp>
        <p:nvSpPr>
          <p:cNvPr id="11" name="New shape"/>
          <p:cNvSpPr/>
          <p:nvPr/>
        </p:nvSpPr>
        <p:spPr>
          <a:xfrm>
            <a:off x="5558663" y="3811713"/>
            <a:ext cx="4053833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is a very common way to </a:t>
            </a:r>
          </a:p>
        </p:txBody>
      </p:sp>
      <p:sp>
        <p:nvSpPr>
          <p:cNvPr id="12" name="New shape"/>
          <p:cNvSpPr/>
          <p:nvPr/>
        </p:nvSpPr>
        <p:spPr>
          <a:xfrm>
            <a:off x="1158240" y="4236910"/>
            <a:ext cx="6052047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implement suchan “elegant” solution.</a:t>
            </a:r>
          </a:p>
        </p:txBody>
      </p:sp>
      <p:sp>
        <p:nvSpPr>
          <p:cNvPr id="13" name="New shape"/>
          <p:cNvSpPr/>
          <p:nvPr/>
        </p:nvSpPr>
        <p:spPr>
          <a:xfrm>
            <a:off x="929640" y="5370630"/>
            <a:ext cx="137464" cy="4392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4" name="New shape"/>
          <p:cNvSpPr/>
          <p:nvPr/>
        </p:nvSpPr>
        <p:spPr>
          <a:xfrm>
            <a:off x="1158240" y="5342140"/>
            <a:ext cx="9917730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The definition of a recursive function is one that, as part of its </a:t>
            </a:r>
          </a:p>
        </p:txBody>
      </p:sp>
      <p:sp>
        <p:nvSpPr>
          <p:cNvPr id="15" name="New shape"/>
          <p:cNvSpPr/>
          <p:nvPr/>
        </p:nvSpPr>
        <p:spPr>
          <a:xfrm>
            <a:off x="1158240" y="5767075"/>
            <a:ext cx="3938619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execution, invokes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929640" y="1885563"/>
            <a:ext cx="137570" cy="43961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5" name="New shape"/>
          <p:cNvSpPr/>
          <p:nvPr/>
        </p:nvSpPr>
        <p:spPr>
          <a:xfrm>
            <a:off x="1158240" y="1857050"/>
            <a:ext cx="3635042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The factorial function (</a:t>
            </a:r>
          </a:p>
        </p:txBody>
      </p:sp>
      <p:sp>
        <p:nvSpPr>
          <p:cNvPr id="6" name="New shape"/>
          <p:cNvSpPr/>
          <p:nvPr/>
        </p:nvSpPr>
        <p:spPr>
          <a:xfrm>
            <a:off x="4785995" y="1857050"/>
            <a:ext cx="202128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 i="1">
                <a:solidFill>
                  <a:srgbClr val="00AF50"/>
                </a:solidFill>
                <a:latin typeface="Calibri"/>
              </a:rPr>
              <a:t>n</a:t>
            </a:r>
          </a:p>
        </p:txBody>
      </p:sp>
      <p:sp>
        <p:nvSpPr>
          <p:cNvPr id="7" name="New shape"/>
          <p:cNvSpPr/>
          <p:nvPr/>
        </p:nvSpPr>
        <p:spPr>
          <a:xfrm>
            <a:off x="4988687" y="1857050"/>
            <a:ext cx="128155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AF50"/>
                </a:solidFill>
                <a:latin typeface="Calibri"/>
              </a:rPr>
              <a:t>!</a:t>
            </a:r>
          </a:p>
        </p:txBody>
      </p:sp>
      <p:sp>
        <p:nvSpPr>
          <p:cNvPr id="8" name="New shape"/>
          <p:cNvSpPr/>
          <p:nvPr/>
        </p:nvSpPr>
        <p:spPr>
          <a:xfrm>
            <a:off x="5116703" y="1857050"/>
            <a:ext cx="5943185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) is defined over all positive integers. </a:t>
            </a:r>
          </a:p>
        </p:txBody>
      </p:sp>
      <p:sp>
        <p:nvSpPr>
          <p:cNvPr id="9" name="New shape"/>
          <p:cNvSpPr/>
          <p:nvPr/>
        </p:nvSpPr>
        <p:spPr>
          <a:xfrm>
            <a:off x="929640" y="2989559"/>
            <a:ext cx="137464" cy="4392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0" name="New shape"/>
          <p:cNvSpPr/>
          <p:nvPr/>
        </p:nvSpPr>
        <p:spPr>
          <a:xfrm>
            <a:off x="1158240" y="2961067"/>
            <a:ext cx="201972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11" name="New shape"/>
          <p:cNvSpPr/>
          <p:nvPr/>
        </p:nvSpPr>
        <p:spPr>
          <a:xfrm>
            <a:off x="1361186" y="2939763"/>
            <a:ext cx="8649099" cy="52257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 dirty="0">
                <a:solidFill>
                  <a:srgbClr val="000000"/>
                </a:solidFill>
                <a:latin typeface="Calibri"/>
              </a:rPr>
              <a:t>! equals all the positive integers less than or equal to </a:t>
            </a:r>
          </a:p>
        </p:txBody>
      </p:sp>
      <p:sp>
        <p:nvSpPr>
          <p:cNvPr id="12" name="New shape"/>
          <p:cNvSpPr/>
          <p:nvPr/>
        </p:nvSpPr>
        <p:spPr>
          <a:xfrm>
            <a:off x="9882847" y="2961067"/>
            <a:ext cx="201972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 i="1" dirty="0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13" name="New shape"/>
          <p:cNvSpPr/>
          <p:nvPr/>
        </p:nvSpPr>
        <p:spPr>
          <a:xfrm>
            <a:off x="10085539" y="2961067"/>
            <a:ext cx="98298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,</a:t>
            </a:r>
          </a:p>
        </p:txBody>
      </p:sp>
      <p:sp>
        <p:nvSpPr>
          <p:cNvPr id="14" name="New shape"/>
          <p:cNvSpPr/>
          <p:nvPr/>
        </p:nvSpPr>
        <p:spPr>
          <a:xfrm>
            <a:off x="1158240" y="3386003"/>
            <a:ext cx="3202926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multiplied together.</a:t>
            </a:r>
          </a:p>
        </p:txBody>
      </p:sp>
      <p:sp>
        <p:nvSpPr>
          <p:cNvPr id="15" name="New shape"/>
          <p:cNvSpPr/>
          <p:nvPr/>
        </p:nvSpPr>
        <p:spPr>
          <a:xfrm>
            <a:off x="929640" y="4519670"/>
            <a:ext cx="137570" cy="43961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6" name="New shape"/>
          <p:cNvSpPr/>
          <p:nvPr/>
        </p:nvSpPr>
        <p:spPr>
          <a:xfrm>
            <a:off x="1158240" y="4491157"/>
            <a:ext cx="8200220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Thinking in terms of programming, we’ll define the </a:t>
            </a:r>
          </a:p>
        </p:txBody>
      </p:sp>
      <p:sp>
        <p:nvSpPr>
          <p:cNvPr id="17" name="New shape"/>
          <p:cNvSpPr/>
          <p:nvPr/>
        </p:nvSpPr>
        <p:spPr>
          <a:xfrm>
            <a:off x="1158240" y="4918518"/>
            <a:ext cx="3717085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mathematical function </a:t>
            </a:r>
          </a:p>
        </p:txBody>
      </p:sp>
      <p:sp>
        <p:nvSpPr>
          <p:cNvPr id="18" name="New shape"/>
          <p:cNvSpPr/>
          <p:nvPr/>
        </p:nvSpPr>
        <p:spPr>
          <a:xfrm>
            <a:off x="4871339" y="4918518"/>
            <a:ext cx="201972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19" name="New shape"/>
          <p:cNvSpPr/>
          <p:nvPr/>
        </p:nvSpPr>
        <p:spPr>
          <a:xfrm>
            <a:off x="5074031" y="4918518"/>
            <a:ext cx="647192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! as </a:t>
            </a:r>
          </a:p>
        </p:txBody>
      </p:sp>
      <p:sp>
        <p:nvSpPr>
          <p:cNvPr id="20" name="New shape"/>
          <p:cNvSpPr/>
          <p:nvPr/>
        </p:nvSpPr>
        <p:spPr>
          <a:xfrm>
            <a:off x="5723255" y="4932227"/>
            <a:ext cx="1513252" cy="46038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onsolas"/>
              </a:rPr>
              <a:t>fact(n)</a:t>
            </a:r>
          </a:p>
        </p:txBody>
      </p:sp>
      <p:sp>
        <p:nvSpPr>
          <p:cNvPr id="21" name="New shape"/>
          <p:cNvSpPr/>
          <p:nvPr/>
        </p:nvSpPr>
        <p:spPr>
          <a:xfrm>
            <a:off x="7238365" y="4918518"/>
            <a:ext cx="99066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3238754" y="1817135"/>
            <a:ext cx="2306075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fact(1) = 1</a:t>
            </a:r>
          </a:p>
        </p:txBody>
      </p:sp>
      <p:sp>
        <p:nvSpPr>
          <p:cNvPr id="5" name="New shape"/>
          <p:cNvSpPr/>
          <p:nvPr/>
        </p:nvSpPr>
        <p:spPr>
          <a:xfrm>
            <a:off x="3238754" y="2355610"/>
            <a:ext cx="3142134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fact(2) = 2 * 1</a:t>
            </a:r>
          </a:p>
        </p:txBody>
      </p:sp>
      <p:sp>
        <p:nvSpPr>
          <p:cNvPr id="6" name="New shape"/>
          <p:cNvSpPr/>
          <p:nvPr/>
        </p:nvSpPr>
        <p:spPr>
          <a:xfrm>
            <a:off x="3238754" y="2893582"/>
            <a:ext cx="3980036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fact(3) = 3 * 2 * 1</a:t>
            </a:r>
          </a:p>
        </p:txBody>
      </p:sp>
      <p:sp>
        <p:nvSpPr>
          <p:cNvPr id="7" name="New shape"/>
          <p:cNvSpPr/>
          <p:nvPr/>
        </p:nvSpPr>
        <p:spPr>
          <a:xfrm>
            <a:off x="3238754" y="3433459"/>
            <a:ext cx="481793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fact(4) = 4 * 3 * 2 * 1</a:t>
            </a:r>
          </a:p>
        </p:txBody>
      </p:sp>
      <p:sp>
        <p:nvSpPr>
          <p:cNvPr id="8" name="New shape"/>
          <p:cNvSpPr/>
          <p:nvPr/>
        </p:nvSpPr>
        <p:spPr>
          <a:xfrm>
            <a:off x="3238754" y="3971431"/>
            <a:ext cx="5655841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fact(5) = 5 * 4 * 3 * 2 * 1</a:t>
            </a:r>
          </a:p>
        </p:txBody>
      </p:sp>
      <p:sp>
        <p:nvSpPr>
          <p:cNvPr id="9" name="New shape"/>
          <p:cNvSpPr/>
          <p:nvPr/>
        </p:nvSpPr>
        <p:spPr>
          <a:xfrm>
            <a:off x="3238754" y="4509153"/>
            <a:ext cx="628929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3238754" y="1817135"/>
            <a:ext cx="2306075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fact(1) = 1</a:t>
            </a:r>
          </a:p>
        </p:txBody>
      </p:sp>
      <p:sp>
        <p:nvSpPr>
          <p:cNvPr id="5" name="New shape"/>
          <p:cNvSpPr/>
          <p:nvPr/>
        </p:nvSpPr>
        <p:spPr>
          <a:xfrm>
            <a:off x="3238754" y="2355610"/>
            <a:ext cx="293265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fact(2) = 2 * </a:t>
            </a:r>
          </a:p>
        </p:txBody>
      </p:sp>
      <p:sp>
        <p:nvSpPr>
          <p:cNvPr id="6" name="New shape"/>
          <p:cNvSpPr/>
          <p:nvPr/>
        </p:nvSpPr>
        <p:spPr>
          <a:xfrm>
            <a:off x="6171311" y="2355610"/>
            <a:ext cx="1466329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FF0000"/>
                </a:solidFill>
                <a:latin typeface="Consolas"/>
              </a:rPr>
              <a:t>fact(1)</a:t>
            </a:r>
          </a:p>
        </p:txBody>
      </p:sp>
      <p:sp>
        <p:nvSpPr>
          <p:cNvPr id="7" name="New shape"/>
          <p:cNvSpPr/>
          <p:nvPr/>
        </p:nvSpPr>
        <p:spPr>
          <a:xfrm>
            <a:off x="3238754" y="2893582"/>
            <a:ext cx="3980036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fact(3) = 3 * 2 * 1</a:t>
            </a:r>
          </a:p>
        </p:txBody>
      </p:sp>
      <p:sp>
        <p:nvSpPr>
          <p:cNvPr id="8" name="New shape"/>
          <p:cNvSpPr/>
          <p:nvPr/>
        </p:nvSpPr>
        <p:spPr>
          <a:xfrm>
            <a:off x="3238754" y="3433459"/>
            <a:ext cx="481793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fact(4) = 4 * 3 * 2 * 1</a:t>
            </a:r>
          </a:p>
        </p:txBody>
      </p:sp>
      <p:sp>
        <p:nvSpPr>
          <p:cNvPr id="9" name="New shape"/>
          <p:cNvSpPr/>
          <p:nvPr/>
        </p:nvSpPr>
        <p:spPr>
          <a:xfrm>
            <a:off x="3238754" y="3971431"/>
            <a:ext cx="5655841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fact(5) = 5 * 4 * 3 * 2 * 1</a:t>
            </a:r>
          </a:p>
        </p:txBody>
      </p:sp>
      <p:sp>
        <p:nvSpPr>
          <p:cNvPr id="10" name="New shape"/>
          <p:cNvSpPr/>
          <p:nvPr/>
        </p:nvSpPr>
        <p:spPr>
          <a:xfrm>
            <a:off x="3238754" y="4509153"/>
            <a:ext cx="628929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3238754" y="1817135"/>
            <a:ext cx="2306075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fact(1) = 1</a:t>
            </a:r>
          </a:p>
        </p:txBody>
      </p:sp>
      <p:sp>
        <p:nvSpPr>
          <p:cNvPr id="5" name="New shape"/>
          <p:cNvSpPr/>
          <p:nvPr/>
        </p:nvSpPr>
        <p:spPr>
          <a:xfrm>
            <a:off x="3238754" y="2355610"/>
            <a:ext cx="4398987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fact(2) = 2 * fact(1)</a:t>
            </a:r>
          </a:p>
        </p:txBody>
      </p:sp>
      <p:sp>
        <p:nvSpPr>
          <p:cNvPr id="6" name="New shape"/>
          <p:cNvSpPr/>
          <p:nvPr/>
        </p:nvSpPr>
        <p:spPr>
          <a:xfrm>
            <a:off x="3238754" y="2893582"/>
            <a:ext cx="293265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fact(3) = 3 * </a:t>
            </a:r>
          </a:p>
        </p:txBody>
      </p:sp>
      <p:sp>
        <p:nvSpPr>
          <p:cNvPr id="7" name="New shape"/>
          <p:cNvSpPr/>
          <p:nvPr/>
        </p:nvSpPr>
        <p:spPr>
          <a:xfrm>
            <a:off x="6171311" y="2893582"/>
            <a:ext cx="1466329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FF0000"/>
                </a:solidFill>
                <a:latin typeface="Consolas"/>
              </a:rPr>
              <a:t>fact(2)</a:t>
            </a:r>
          </a:p>
        </p:txBody>
      </p:sp>
      <p:sp>
        <p:nvSpPr>
          <p:cNvPr id="8" name="New shape"/>
          <p:cNvSpPr/>
          <p:nvPr/>
        </p:nvSpPr>
        <p:spPr>
          <a:xfrm>
            <a:off x="3238754" y="3433459"/>
            <a:ext cx="481793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fact(4) = 4 * 3 * 2 * 1</a:t>
            </a:r>
          </a:p>
        </p:txBody>
      </p:sp>
      <p:sp>
        <p:nvSpPr>
          <p:cNvPr id="9" name="New shape"/>
          <p:cNvSpPr/>
          <p:nvPr/>
        </p:nvSpPr>
        <p:spPr>
          <a:xfrm>
            <a:off x="3238754" y="3971431"/>
            <a:ext cx="5655841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fact(5) = 5 * 4 * 3 * 2 * 1</a:t>
            </a:r>
          </a:p>
        </p:txBody>
      </p:sp>
      <p:sp>
        <p:nvSpPr>
          <p:cNvPr id="10" name="New shape"/>
          <p:cNvSpPr/>
          <p:nvPr/>
        </p:nvSpPr>
        <p:spPr>
          <a:xfrm>
            <a:off x="3238754" y="4509153"/>
            <a:ext cx="628929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3238754" y="1817135"/>
            <a:ext cx="2306075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fact(1) = 1</a:t>
            </a:r>
          </a:p>
        </p:txBody>
      </p:sp>
      <p:sp>
        <p:nvSpPr>
          <p:cNvPr id="5" name="New shape"/>
          <p:cNvSpPr/>
          <p:nvPr/>
        </p:nvSpPr>
        <p:spPr>
          <a:xfrm>
            <a:off x="3238754" y="2355610"/>
            <a:ext cx="4398987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fact(2) = 2 * fact(1)</a:t>
            </a:r>
          </a:p>
        </p:txBody>
      </p:sp>
      <p:sp>
        <p:nvSpPr>
          <p:cNvPr id="6" name="New shape"/>
          <p:cNvSpPr/>
          <p:nvPr/>
        </p:nvSpPr>
        <p:spPr>
          <a:xfrm>
            <a:off x="3238754" y="2893582"/>
            <a:ext cx="4398987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fact(3) = 3 * fact(2)</a:t>
            </a:r>
          </a:p>
        </p:txBody>
      </p:sp>
      <p:sp>
        <p:nvSpPr>
          <p:cNvPr id="7" name="New shape"/>
          <p:cNvSpPr/>
          <p:nvPr/>
        </p:nvSpPr>
        <p:spPr>
          <a:xfrm>
            <a:off x="3238754" y="3433459"/>
            <a:ext cx="293265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fact(4) = 4 * </a:t>
            </a:r>
          </a:p>
        </p:txBody>
      </p:sp>
      <p:sp>
        <p:nvSpPr>
          <p:cNvPr id="8" name="New shape"/>
          <p:cNvSpPr/>
          <p:nvPr/>
        </p:nvSpPr>
        <p:spPr>
          <a:xfrm>
            <a:off x="6171311" y="3433459"/>
            <a:ext cx="1466329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FF0000"/>
                </a:solidFill>
                <a:latin typeface="Consolas"/>
              </a:rPr>
              <a:t>fact(3)</a:t>
            </a:r>
          </a:p>
        </p:txBody>
      </p:sp>
      <p:sp>
        <p:nvSpPr>
          <p:cNvPr id="9" name="New shape"/>
          <p:cNvSpPr/>
          <p:nvPr/>
        </p:nvSpPr>
        <p:spPr>
          <a:xfrm>
            <a:off x="3238754" y="3971431"/>
            <a:ext cx="5655841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fact(5) = 5 * 4 * 3 * 2 * 1</a:t>
            </a:r>
          </a:p>
        </p:txBody>
      </p:sp>
      <p:sp>
        <p:nvSpPr>
          <p:cNvPr id="10" name="New shape"/>
          <p:cNvSpPr/>
          <p:nvPr/>
        </p:nvSpPr>
        <p:spPr>
          <a:xfrm>
            <a:off x="3238754" y="4509153"/>
            <a:ext cx="628929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3238754" y="1817135"/>
            <a:ext cx="2306075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fact(1) = 1</a:t>
            </a:r>
          </a:p>
        </p:txBody>
      </p:sp>
      <p:sp>
        <p:nvSpPr>
          <p:cNvPr id="5" name="New shape"/>
          <p:cNvSpPr/>
          <p:nvPr/>
        </p:nvSpPr>
        <p:spPr>
          <a:xfrm>
            <a:off x="3238754" y="2355610"/>
            <a:ext cx="4398987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fact(2) = 2 * fact(1)</a:t>
            </a:r>
          </a:p>
        </p:txBody>
      </p:sp>
      <p:sp>
        <p:nvSpPr>
          <p:cNvPr id="6" name="New shape"/>
          <p:cNvSpPr/>
          <p:nvPr/>
        </p:nvSpPr>
        <p:spPr>
          <a:xfrm>
            <a:off x="3238754" y="2893582"/>
            <a:ext cx="4398987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fact(3) = 3 * fact(2)</a:t>
            </a:r>
          </a:p>
        </p:txBody>
      </p:sp>
      <p:sp>
        <p:nvSpPr>
          <p:cNvPr id="7" name="New shape"/>
          <p:cNvSpPr/>
          <p:nvPr/>
        </p:nvSpPr>
        <p:spPr>
          <a:xfrm>
            <a:off x="3238754" y="3433459"/>
            <a:ext cx="4398987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fact(4) = 4 * fact(3)</a:t>
            </a:r>
          </a:p>
        </p:txBody>
      </p:sp>
      <p:sp>
        <p:nvSpPr>
          <p:cNvPr id="8" name="New shape"/>
          <p:cNvSpPr/>
          <p:nvPr/>
        </p:nvSpPr>
        <p:spPr>
          <a:xfrm>
            <a:off x="3238754" y="3971431"/>
            <a:ext cx="293265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fact(5) = 5 * </a:t>
            </a:r>
          </a:p>
        </p:txBody>
      </p:sp>
      <p:sp>
        <p:nvSpPr>
          <p:cNvPr id="9" name="New shape"/>
          <p:cNvSpPr/>
          <p:nvPr/>
        </p:nvSpPr>
        <p:spPr>
          <a:xfrm>
            <a:off x="6171311" y="3971431"/>
            <a:ext cx="1466329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FF0000"/>
                </a:solidFill>
                <a:latin typeface="Consolas"/>
              </a:rPr>
              <a:t>fact(4)</a:t>
            </a:r>
          </a:p>
        </p:txBody>
      </p:sp>
      <p:sp>
        <p:nvSpPr>
          <p:cNvPr id="10" name="New shape"/>
          <p:cNvSpPr/>
          <p:nvPr/>
        </p:nvSpPr>
        <p:spPr>
          <a:xfrm>
            <a:off x="3238754" y="4509153"/>
            <a:ext cx="628929" cy="44646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onsolas"/>
              </a:rPr>
              <a:t>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3238754" y="2893582"/>
            <a:ext cx="4817938" cy="44611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onsolas"/>
              </a:rPr>
              <a:t>fact(n) = n * fact(n-1)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2217411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Recursion</a:t>
            </a:r>
          </a:p>
        </p:txBody>
      </p:sp>
      <p:sp>
        <p:nvSpPr>
          <p:cNvPr id="4" name="New shape"/>
          <p:cNvSpPr/>
          <p:nvPr/>
        </p:nvSpPr>
        <p:spPr>
          <a:xfrm>
            <a:off x="929640" y="1885563"/>
            <a:ext cx="137570" cy="43961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5" name="New shape"/>
          <p:cNvSpPr/>
          <p:nvPr/>
        </p:nvSpPr>
        <p:spPr>
          <a:xfrm>
            <a:off x="1158240" y="1857050"/>
            <a:ext cx="4086949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This forms the basis for a </a:t>
            </a:r>
          </a:p>
        </p:txBody>
      </p:sp>
      <p:sp>
        <p:nvSpPr>
          <p:cNvPr id="6" name="New shape"/>
          <p:cNvSpPr/>
          <p:nvPr/>
        </p:nvSpPr>
        <p:spPr>
          <a:xfrm>
            <a:off x="5234051" y="1857050"/>
            <a:ext cx="3172760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 b="1">
                <a:solidFill>
                  <a:srgbClr val="000000"/>
                </a:solidFill>
                <a:latin typeface="Calibri"/>
              </a:rPr>
              <a:t>recursive definition</a:t>
            </a:r>
          </a:p>
        </p:txBody>
      </p:sp>
      <p:sp>
        <p:nvSpPr>
          <p:cNvPr id="7" name="New shape"/>
          <p:cNvSpPr/>
          <p:nvPr/>
        </p:nvSpPr>
        <p:spPr>
          <a:xfrm>
            <a:off x="8481949" y="1857050"/>
            <a:ext cx="2447827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of the factorial </a:t>
            </a:r>
          </a:p>
        </p:txBody>
      </p:sp>
      <p:sp>
        <p:nvSpPr>
          <p:cNvPr id="8" name="New shape"/>
          <p:cNvSpPr/>
          <p:nvPr/>
        </p:nvSpPr>
        <p:spPr>
          <a:xfrm>
            <a:off x="1158240" y="2282887"/>
            <a:ext cx="1433576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function.</a:t>
            </a:r>
          </a:p>
        </p:txBody>
      </p:sp>
      <p:sp>
        <p:nvSpPr>
          <p:cNvPr id="9" name="New shape"/>
          <p:cNvSpPr/>
          <p:nvPr/>
        </p:nvSpPr>
        <p:spPr>
          <a:xfrm>
            <a:off x="929640" y="3414516"/>
            <a:ext cx="137570" cy="43961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0" name="New shape"/>
          <p:cNvSpPr/>
          <p:nvPr/>
        </p:nvSpPr>
        <p:spPr>
          <a:xfrm>
            <a:off x="1158240" y="3386003"/>
            <a:ext cx="9951549" cy="4803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8">
                <a:solidFill>
                  <a:srgbClr val="000000"/>
                </a:solidFill>
                <a:latin typeface="Calibri"/>
              </a:rPr>
              <a:t>Every recursive function has two cases that could apply, given </a:t>
            </a:r>
          </a:p>
        </p:txBody>
      </p:sp>
      <p:sp>
        <p:nvSpPr>
          <p:cNvPr id="11" name="New shape"/>
          <p:cNvSpPr/>
          <p:nvPr/>
        </p:nvSpPr>
        <p:spPr>
          <a:xfrm>
            <a:off x="1158240" y="3811713"/>
            <a:ext cx="1601566" cy="47997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96">
                <a:solidFill>
                  <a:srgbClr val="000000"/>
                </a:solidFill>
                <a:latin typeface="Calibri"/>
              </a:rPr>
              <a:t>any input.</a:t>
            </a:r>
          </a:p>
        </p:txBody>
      </p:sp>
      <p:sp>
        <p:nvSpPr>
          <p:cNvPr id="12" name="New shape"/>
          <p:cNvSpPr/>
          <p:nvPr/>
        </p:nvSpPr>
        <p:spPr>
          <a:xfrm>
            <a:off x="1387094" y="4327590"/>
            <a:ext cx="119881" cy="38308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3" name="New shape"/>
          <p:cNvSpPr/>
          <p:nvPr/>
        </p:nvSpPr>
        <p:spPr>
          <a:xfrm>
            <a:off x="1615694" y="4302744"/>
            <a:ext cx="594885" cy="41857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>
                <a:solidFill>
                  <a:srgbClr val="000000"/>
                </a:solidFill>
                <a:latin typeface="Calibri"/>
              </a:rPr>
              <a:t>The </a:t>
            </a:r>
          </a:p>
        </p:txBody>
      </p:sp>
      <p:sp>
        <p:nvSpPr>
          <p:cNvPr id="14" name="New shape"/>
          <p:cNvSpPr/>
          <p:nvPr/>
        </p:nvSpPr>
        <p:spPr>
          <a:xfrm>
            <a:off x="2210054" y="4302744"/>
            <a:ext cx="1342299" cy="41857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 i="1">
                <a:solidFill>
                  <a:srgbClr val="000000"/>
                </a:solidFill>
                <a:latin typeface="Calibri"/>
              </a:rPr>
              <a:t>base case</a:t>
            </a:r>
          </a:p>
        </p:txBody>
      </p:sp>
      <p:sp>
        <p:nvSpPr>
          <p:cNvPr id="15" name="New shape"/>
          <p:cNvSpPr/>
          <p:nvPr/>
        </p:nvSpPr>
        <p:spPr>
          <a:xfrm>
            <a:off x="3552698" y="4302744"/>
            <a:ext cx="7193533" cy="41857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>
                <a:solidFill>
                  <a:srgbClr val="000000"/>
                </a:solidFill>
                <a:latin typeface="Calibri"/>
              </a:rPr>
              <a:t>, which when triggered will terminate the recursive </a:t>
            </a:r>
          </a:p>
        </p:txBody>
      </p:sp>
      <p:sp>
        <p:nvSpPr>
          <p:cNvPr id="16" name="New shape"/>
          <p:cNvSpPr/>
          <p:nvPr/>
        </p:nvSpPr>
        <p:spPr>
          <a:xfrm>
            <a:off x="1615694" y="4672815"/>
            <a:ext cx="1151110" cy="41895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2">
                <a:solidFill>
                  <a:srgbClr val="000000"/>
                </a:solidFill>
                <a:latin typeface="Calibri"/>
              </a:rPr>
              <a:t>process.</a:t>
            </a:r>
          </a:p>
        </p:txBody>
      </p:sp>
      <p:sp>
        <p:nvSpPr>
          <p:cNvPr id="17" name="New shape"/>
          <p:cNvSpPr/>
          <p:nvPr/>
        </p:nvSpPr>
        <p:spPr>
          <a:xfrm>
            <a:off x="1387094" y="5132643"/>
            <a:ext cx="119881" cy="38308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8" name="New shape"/>
          <p:cNvSpPr/>
          <p:nvPr/>
        </p:nvSpPr>
        <p:spPr>
          <a:xfrm>
            <a:off x="1615694" y="5107797"/>
            <a:ext cx="594885" cy="41857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>
                <a:solidFill>
                  <a:srgbClr val="000000"/>
                </a:solidFill>
                <a:latin typeface="Calibri"/>
              </a:rPr>
              <a:t>The </a:t>
            </a:r>
          </a:p>
        </p:txBody>
      </p:sp>
      <p:sp>
        <p:nvSpPr>
          <p:cNvPr id="19" name="New shape"/>
          <p:cNvSpPr/>
          <p:nvPr/>
        </p:nvSpPr>
        <p:spPr>
          <a:xfrm>
            <a:off x="2210054" y="5107797"/>
            <a:ext cx="1939193" cy="41857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 i="1">
                <a:solidFill>
                  <a:srgbClr val="000000"/>
                </a:solidFill>
                <a:latin typeface="Calibri"/>
              </a:rPr>
              <a:t>recursive case</a:t>
            </a:r>
          </a:p>
        </p:txBody>
      </p:sp>
      <p:sp>
        <p:nvSpPr>
          <p:cNvPr id="20" name="New shape"/>
          <p:cNvSpPr/>
          <p:nvPr/>
        </p:nvSpPr>
        <p:spPr>
          <a:xfrm>
            <a:off x="4148963" y="5086254"/>
            <a:ext cx="5757217" cy="46166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00" dirty="0">
                <a:solidFill>
                  <a:srgbClr val="000000"/>
                </a:solidFill>
                <a:latin typeface="Calibri"/>
              </a:rPr>
              <a:t>, which is where the recursion will occur.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Times New Roman"/>
        <a:font script="Hebr" typeface="Times New Roman"/>
        <a:font script="Deva" typeface="Mangal"/>
        <a:font script="Uigh" typeface="Microsoft Uighur"/>
        <a:font script="Ethi" typeface="Nyala"/>
        <a:font script="Yiii" typeface="Microsoft Yi Baiti"/>
        <a:font script="Khmr" typeface="MoolBoran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Angsana New"/>
        <a:font script="Guru" typeface="Raavi"/>
        <a:font script="Viet" typeface="Times New Roman"/>
        <a:font script="Hang" typeface="맑은 고딕"/>
        <a:font script="Hant" typeface="新細明體"/>
        <a:font script="Gujr" typeface="Shruti"/>
      </a:majorFont>
      <a:min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Arial"/>
        <a:font script="Hebr" typeface="Arial"/>
        <a:font script="Deva" typeface="Mangal"/>
        <a:font script="Uigh" typeface="Microsoft Uighur"/>
        <a:font script="Ethi" typeface="Nyala"/>
        <a:font script="Yiii" typeface="Microsoft Yi Baiti"/>
        <a:font script="Khmr" typeface="DaunPenh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Cordia New"/>
        <a:font script="Guru" typeface="Raavi"/>
        <a:font script="Viet" typeface="Arial"/>
        <a:font script="Hang" typeface="맑은 고딕"/>
        <a:font script="Hant" typeface="新細明體"/>
        <a:font script="Gujr" typeface="Shruti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464</Words>
  <Application>Microsoft Office PowerPoint</Application>
  <PresentationFormat>Widescreen</PresentationFormat>
  <Paragraphs>92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Ed Harris</cp:lastModifiedBy>
  <cp:revision>2</cp:revision>
  <dcterms:created xsi:type="dcterms:W3CDTF">2025-07-22T13:59:23Z</dcterms:created>
  <dcterms:modified xsi:type="dcterms:W3CDTF">2025-10-16T15:32:39Z</dcterms:modified>
</cp:coreProperties>
</file>